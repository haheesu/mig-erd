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9" r:id="rId10"/>
    <p:sldId id="270" r:id="rId11"/>
    <p:sldId id="271" r:id="rId12"/>
    <p:sldId id="272" r:id="rId13"/>
    <p:sldId id="276" r:id="rId14"/>
    <p:sldId id="277" r:id="rId15"/>
    <p:sldId id="278" r:id="rId16"/>
    <p:sldId id="281" r:id="rId17"/>
    <p:sldId id="282" r:id="rId18"/>
    <p:sldId id="283" r:id="rId19"/>
    <p:sldId id="284" r:id="rId20"/>
    <p:sldId id="292" r:id="rId21"/>
    <p:sldId id="285" r:id="rId22"/>
    <p:sldId id="286" r:id="rId23"/>
    <p:sldId id="287" r:id="rId24"/>
    <p:sldId id="288" r:id="rId25"/>
    <p:sldId id="289" r:id="rId26"/>
    <p:sldId id="290" r:id="rId27"/>
    <p:sldId id="291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73" autoAdjust="0"/>
    <p:restoredTop sz="95332" autoAdjust="0"/>
  </p:normalViewPr>
  <p:slideViewPr>
    <p:cSldViewPr snapToGrid="0" snapToObjects="1">
      <p:cViewPr varScale="1">
        <p:scale>
          <a:sx n="82" d="100"/>
          <a:sy n="82" d="100"/>
        </p:scale>
        <p:origin x="58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0713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4559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9361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2733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5296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8129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3587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6720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5495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2763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3264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00682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86514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4873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30111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9014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19425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60892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32358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3945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18" Type="http://schemas.openxmlformats.org/officeDocument/2006/relationships/image" Target="../media/image25.png"/><Relationship Id="rId26" Type="http://schemas.openxmlformats.org/officeDocument/2006/relationships/image" Target="../media/image33.png"/><Relationship Id="rId3" Type="http://schemas.openxmlformats.org/officeDocument/2006/relationships/image" Target="../media/image10.png"/><Relationship Id="rId21" Type="http://schemas.openxmlformats.org/officeDocument/2006/relationships/image" Target="../media/image28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17" Type="http://schemas.openxmlformats.org/officeDocument/2006/relationships/image" Target="../media/image24.png"/><Relationship Id="rId25" Type="http://schemas.openxmlformats.org/officeDocument/2006/relationships/image" Target="../media/image32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3.png"/><Relationship Id="rId20" Type="http://schemas.openxmlformats.org/officeDocument/2006/relationships/image" Target="../media/image27.png"/><Relationship Id="rId29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24" Type="http://schemas.openxmlformats.org/officeDocument/2006/relationships/image" Target="../media/image31.png"/><Relationship Id="rId32" Type="http://schemas.openxmlformats.org/officeDocument/2006/relationships/image" Target="../media/image39.png"/><Relationship Id="rId5" Type="http://schemas.openxmlformats.org/officeDocument/2006/relationships/image" Target="../media/image12.png"/><Relationship Id="rId15" Type="http://schemas.openxmlformats.org/officeDocument/2006/relationships/image" Target="../media/image22.png"/><Relationship Id="rId23" Type="http://schemas.openxmlformats.org/officeDocument/2006/relationships/image" Target="../media/image30.png"/><Relationship Id="rId28" Type="http://schemas.openxmlformats.org/officeDocument/2006/relationships/image" Target="../media/image35.png"/><Relationship Id="rId10" Type="http://schemas.openxmlformats.org/officeDocument/2006/relationships/image" Target="../media/image17.png"/><Relationship Id="rId19" Type="http://schemas.openxmlformats.org/officeDocument/2006/relationships/image" Target="../media/image26.png"/><Relationship Id="rId31" Type="http://schemas.openxmlformats.org/officeDocument/2006/relationships/image" Target="../media/image38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Relationship Id="rId22" Type="http://schemas.openxmlformats.org/officeDocument/2006/relationships/image" Target="../media/image29.png"/><Relationship Id="rId27" Type="http://schemas.openxmlformats.org/officeDocument/2006/relationships/image" Target="../media/image34.png"/><Relationship Id="rId30" Type="http://schemas.openxmlformats.org/officeDocument/2006/relationships/image" Target="../media/image3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7.png"/><Relationship Id="rId18" Type="http://schemas.openxmlformats.org/officeDocument/2006/relationships/image" Target="../media/image52.png"/><Relationship Id="rId3" Type="http://schemas.openxmlformats.org/officeDocument/2006/relationships/image" Target="../media/image10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17" Type="http://schemas.openxmlformats.org/officeDocument/2006/relationships/image" Target="../media/image51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50.png"/><Relationship Id="rId20" Type="http://schemas.openxmlformats.org/officeDocument/2006/relationships/image" Target="../media/image5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12.png"/><Relationship Id="rId15" Type="http://schemas.openxmlformats.org/officeDocument/2006/relationships/image" Target="../media/image49.png"/><Relationship Id="rId10" Type="http://schemas.openxmlformats.org/officeDocument/2006/relationships/image" Target="../media/image44.png"/><Relationship Id="rId19" Type="http://schemas.openxmlformats.org/officeDocument/2006/relationships/image" Target="../media/image53.png"/><Relationship Id="rId4" Type="http://schemas.openxmlformats.org/officeDocument/2006/relationships/image" Target="../media/image11.png"/><Relationship Id="rId9" Type="http://schemas.openxmlformats.org/officeDocument/2006/relationships/image" Target="../media/image43.png"/><Relationship Id="rId14" Type="http://schemas.openxmlformats.org/officeDocument/2006/relationships/image" Target="../media/image4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13" Type="http://schemas.openxmlformats.org/officeDocument/2006/relationships/image" Target="../media/image62.png"/><Relationship Id="rId18" Type="http://schemas.openxmlformats.org/officeDocument/2006/relationships/image" Target="../media/image67.png"/><Relationship Id="rId3" Type="http://schemas.openxmlformats.org/officeDocument/2006/relationships/image" Target="../media/image10.png"/><Relationship Id="rId21" Type="http://schemas.openxmlformats.org/officeDocument/2006/relationships/image" Target="../media/image69.png"/><Relationship Id="rId7" Type="http://schemas.openxmlformats.org/officeDocument/2006/relationships/image" Target="../media/image57.png"/><Relationship Id="rId12" Type="http://schemas.openxmlformats.org/officeDocument/2006/relationships/image" Target="../media/image61.png"/><Relationship Id="rId17" Type="http://schemas.openxmlformats.org/officeDocument/2006/relationships/image" Target="../media/image66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65.png"/><Relationship Id="rId20" Type="http://schemas.openxmlformats.org/officeDocument/2006/relationships/image" Target="../media/image6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11" Type="http://schemas.openxmlformats.org/officeDocument/2006/relationships/image" Target="../media/image60.png"/><Relationship Id="rId5" Type="http://schemas.openxmlformats.org/officeDocument/2006/relationships/image" Target="../media/image12.png"/><Relationship Id="rId15" Type="http://schemas.openxmlformats.org/officeDocument/2006/relationships/image" Target="../media/image64.png"/><Relationship Id="rId23" Type="http://schemas.openxmlformats.org/officeDocument/2006/relationships/image" Target="../media/image71.png"/><Relationship Id="rId10" Type="http://schemas.openxmlformats.org/officeDocument/2006/relationships/image" Target="../media/image8.png"/><Relationship Id="rId19" Type="http://schemas.microsoft.com/office/2007/relationships/hdphoto" Target="../media/hdphoto1.wdp"/><Relationship Id="rId4" Type="http://schemas.openxmlformats.org/officeDocument/2006/relationships/image" Target="../media/image55.png"/><Relationship Id="rId9" Type="http://schemas.openxmlformats.org/officeDocument/2006/relationships/image" Target="../media/image59.png"/><Relationship Id="rId14" Type="http://schemas.openxmlformats.org/officeDocument/2006/relationships/image" Target="../media/image63.png"/><Relationship Id="rId22" Type="http://schemas.openxmlformats.org/officeDocument/2006/relationships/image" Target="../media/image7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13" Type="http://schemas.openxmlformats.org/officeDocument/2006/relationships/image" Target="../media/image78.png"/><Relationship Id="rId3" Type="http://schemas.openxmlformats.org/officeDocument/2006/relationships/image" Target="../media/image10.png"/><Relationship Id="rId7" Type="http://schemas.openxmlformats.org/officeDocument/2006/relationships/image" Target="../media/image73.png"/><Relationship Id="rId12" Type="http://schemas.openxmlformats.org/officeDocument/2006/relationships/image" Target="../media/image77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8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2.png"/><Relationship Id="rId11" Type="http://schemas.openxmlformats.org/officeDocument/2006/relationships/image" Target="../media/image76.png"/><Relationship Id="rId5" Type="http://schemas.openxmlformats.org/officeDocument/2006/relationships/image" Target="../media/image12.png"/><Relationship Id="rId15" Type="http://schemas.openxmlformats.org/officeDocument/2006/relationships/image" Target="../media/image80.png"/><Relationship Id="rId10" Type="http://schemas.openxmlformats.org/officeDocument/2006/relationships/image" Target="../media/image75.png"/><Relationship Id="rId4" Type="http://schemas.openxmlformats.org/officeDocument/2006/relationships/image" Target="../media/image11.png"/><Relationship Id="rId9" Type="http://schemas.openxmlformats.org/officeDocument/2006/relationships/image" Target="../media/image66.png"/><Relationship Id="rId14" Type="http://schemas.openxmlformats.org/officeDocument/2006/relationships/image" Target="../media/image7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13" Type="http://schemas.openxmlformats.org/officeDocument/2006/relationships/image" Target="../media/image89.png"/><Relationship Id="rId18" Type="http://schemas.openxmlformats.org/officeDocument/2006/relationships/image" Target="../media/image94.png"/><Relationship Id="rId26" Type="http://schemas.openxmlformats.org/officeDocument/2006/relationships/image" Target="../media/image101.png"/><Relationship Id="rId3" Type="http://schemas.openxmlformats.org/officeDocument/2006/relationships/image" Target="../media/image10.png"/><Relationship Id="rId21" Type="http://schemas.openxmlformats.org/officeDocument/2006/relationships/image" Target="../media/image29.png"/><Relationship Id="rId7" Type="http://schemas.openxmlformats.org/officeDocument/2006/relationships/image" Target="../media/image83.png"/><Relationship Id="rId12" Type="http://schemas.openxmlformats.org/officeDocument/2006/relationships/image" Target="../media/image88.png"/><Relationship Id="rId17" Type="http://schemas.openxmlformats.org/officeDocument/2006/relationships/image" Target="../media/image93.png"/><Relationship Id="rId25" Type="http://schemas.openxmlformats.org/officeDocument/2006/relationships/image" Target="../media/image100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92.png"/><Relationship Id="rId20" Type="http://schemas.openxmlformats.org/officeDocument/2006/relationships/image" Target="../media/image96.png"/><Relationship Id="rId29" Type="http://schemas.openxmlformats.org/officeDocument/2006/relationships/image" Target="../media/image10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2.png"/><Relationship Id="rId11" Type="http://schemas.openxmlformats.org/officeDocument/2006/relationships/image" Target="../media/image87.png"/><Relationship Id="rId24" Type="http://schemas.openxmlformats.org/officeDocument/2006/relationships/image" Target="../media/image99.png"/><Relationship Id="rId5" Type="http://schemas.openxmlformats.org/officeDocument/2006/relationships/image" Target="../media/image12.png"/><Relationship Id="rId15" Type="http://schemas.openxmlformats.org/officeDocument/2006/relationships/image" Target="../media/image91.png"/><Relationship Id="rId23" Type="http://schemas.openxmlformats.org/officeDocument/2006/relationships/image" Target="../media/image98.png"/><Relationship Id="rId28" Type="http://schemas.openxmlformats.org/officeDocument/2006/relationships/image" Target="../media/image103.png"/><Relationship Id="rId10" Type="http://schemas.openxmlformats.org/officeDocument/2006/relationships/image" Target="../media/image86.png"/><Relationship Id="rId19" Type="http://schemas.openxmlformats.org/officeDocument/2006/relationships/image" Target="../media/image95.png"/><Relationship Id="rId4" Type="http://schemas.openxmlformats.org/officeDocument/2006/relationships/image" Target="../media/image11.png"/><Relationship Id="rId9" Type="http://schemas.openxmlformats.org/officeDocument/2006/relationships/image" Target="../media/image85.png"/><Relationship Id="rId14" Type="http://schemas.openxmlformats.org/officeDocument/2006/relationships/image" Target="../media/image90.png"/><Relationship Id="rId22" Type="http://schemas.openxmlformats.org/officeDocument/2006/relationships/image" Target="../media/image97.png"/><Relationship Id="rId27" Type="http://schemas.openxmlformats.org/officeDocument/2006/relationships/image" Target="../media/image102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2.png"/><Relationship Id="rId18" Type="http://schemas.openxmlformats.org/officeDocument/2006/relationships/image" Target="../media/image71.png"/><Relationship Id="rId26" Type="http://schemas.openxmlformats.org/officeDocument/2006/relationships/image" Target="../media/image124.png"/><Relationship Id="rId3" Type="http://schemas.openxmlformats.org/officeDocument/2006/relationships/image" Target="../media/image10.png"/><Relationship Id="rId21" Type="http://schemas.openxmlformats.org/officeDocument/2006/relationships/image" Target="../media/image119.png"/><Relationship Id="rId7" Type="http://schemas.openxmlformats.org/officeDocument/2006/relationships/image" Target="../media/image106.png"/><Relationship Id="rId12" Type="http://schemas.openxmlformats.org/officeDocument/2006/relationships/image" Target="../media/image111.png"/><Relationship Id="rId17" Type="http://schemas.openxmlformats.org/officeDocument/2006/relationships/image" Target="../media/image116.png"/><Relationship Id="rId25" Type="http://schemas.openxmlformats.org/officeDocument/2006/relationships/image" Target="../media/image123.png"/><Relationship Id="rId33" Type="http://schemas.openxmlformats.org/officeDocument/2006/relationships/image" Target="../media/image66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15.png"/><Relationship Id="rId20" Type="http://schemas.openxmlformats.org/officeDocument/2006/relationships/image" Target="../media/image118.png"/><Relationship Id="rId29" Type="http://schemas.openxmlformats.org/officeDocument/2006/relationships/image" Target="../media/image1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5.png"/><Relationship Id="rId11" Type="http://schemas.openxmlformats.org/officeDocument/2006/relationships/image" Target="../media/image110.png"/><Relationship Id="rId24" Type="http://schemas.openxmlformats.org/officeDocument/2006/relationships/image" Target="../media/image122.png"/><Relationship Id="rId32" Type="http://schemas.openxmlformats.org/officeDocument/2006/relationships/image" Target="../media/image130.png"/><Relationship Id="rId5" Type="http://schemas.openxmlformats.org/officeDocument/2006/relationships/image" Target="../media/image12.png"/><Relationship Id="rId15" Type="http://schemas.openxmlformats.org/officeDocument/2006/relationships/image" Target="../media/image114.png"/><Relationship Id="rId23" Type="http://schemas.openxmlformats.org/officeDocument/2006/relationships/image" Target="../media/image121.png"/><Relationship Id="rId28" Type="http://schemas.openxmlformats.org/officeDocument/2006/relationships/image" Target="../media/image126.png"/><Relationship Id="rId10" Type="http://schemas.openxmlformats.org/officeDocument/2006/relationships/image" Target="../media/image109.png"/><Relationship Id="rId19" Type="http://schemas.openxmlformats.org/officeDocument/2006/relationships/image" Target="../media/image117.png"/><Relationship Id="rId31" Type="http://schemas.openxmlformats.org/officeDocument/2006/relationships/image" Target="../media/image129.png"/><Relationship Id="rId4" Type="http://schemas.openxmlformats.org/officeDocument/2006/relationships/image" Target="../media/image11.png"/><Relationship Id="rId9" Type="http://schemas.openxmlformats.org/officeDocument/2006/relationships/image" Target="../media/image108.png"/><Relationship Id="rId14" Type="http://schemas.openxmlformats.org/officeDocument/2006/relationships/image" Target="../media/image113.png"/><Relationship Id="rId22" Type="http://schemas.openxmlformats.org/officeDocument/2006/relationships/image" Target="../media/image120.png"/><Relationship Id="rId27" Type="http://schemas.openxmlformats.org/officeDocument/2006/relationships/image" Target="../media/image125.png"/><Relationship Id="rId30" Type="http://schemas.openxmlformats.org/officeDocument/2006/relationships/image" Target="../media/image128.png"/><Relationship Id="rId8" Type="http://schemas.openxmlformats.org/officeDocument/2006/relationships/image" Target="../media/image10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png"/><Relationship Id="rId13" Type="http://schemas.openxmlformats.org/officeDocument/2006/relationships/image" Target="../media/image138.png"/><Relationship Id="rId18" Type="http://schemas.openxmlformats.org/officeDocument/2006/relationships/image" Target="../media/image143.png"/><Relationship Id="rId26" Type="http://schemas.openxmlformats.org/officeDocument/2006/relationships/image" Target="../media/image151.png"/><Relationship Id="rId3" Type="http://schemas.openxmlformats.org/officeDocument/2006/relationships/image" Target="../media/image10.png"/><Relationship Id="rId21" Type="http://schemas.openxmlformats.org/officeDocument/2006/relationships/image" Target="../media/image146.png"/><Relationship Id="rId7" Type="http://schemas.openxmlformats.org/officeDocument/2006/relationships/image" Target="../media/image132.png"/><Relationship Id="rId12" Type="http://schemas.openxmlformats.org/officeDocument/2006/relationships/image" Target="../media/image137.png"/><Relationship Id="rId17" Type="http://schemas.openxmlformats.org/officeDocument/2006/relationships/image" Target="../media/image142.png"/><Relationship Id="rId25" Type="http://schemas.openxmlformats.org/officeDocument/2006/relationships/image" Target="../media/image150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41.png"/><Relationship Id="rId20" Type="http://schemas.openxmlformats.org/officeDocument/2006/relationships/image" Target="../media/image145.png"/><Relationship Id="rId29" Type="http://schemas.openxmlformats.org/officeDocument/2006/relationships/image" Target="../media/image15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1.png"/><Relationship Id="rId11" Type="http://schemas.openxmlformats.org/officeDocument/2006/relationships/image" Target="../media/image136.png"/><Relationship Id="rId24" Type="http://schemas.openxmlformats.org/officeDocument/2006/relationships/image" Target="../media/image149.png"/><Relationship Id="rId5" Type="http://schemas.openxmlformats.org/officeDocument/2006/relationships/image" Target="../media/image12.png"/><Relationship Id="rId15" Type="http://schemas.openxmlformats.org/officeDocument/2006/relationships/image" Target="../media/image140.png"/><Relationship Id="rId23" Type="http://schemas.openxmlformats.org/officeDocument/2006/relationships/image" Target="../media/image148.png"/><Relationship Id="rId28" Type="http://schemas.openxmlformats.org/officeDocument/2006/relationships/image" Target="../media/image153.png"/><Relationship Id="rId10" Type="http://schemas.openxmlformats.org/officeDocument/2006/relationships/image" Target="../media/image135.png"/><Relationship Id="rId19" Type="http://schemas.openxmlformats.org/officeDocument/2006/relationships/image" Target="../media/image144.png"/><Relationship Id="rId4" Type="http://schemas.openxmlformats.org/officeDocument/2006/relationships/image" Target="../media/image11.png"/><Relationship Id="rId9" Type="http://schemas.openxmlformats.org/officeDocument/2006/relationships/image" Target="../media/image134.png"/><Relationship Id="rId14" Type="http://schemas.openxmlformats.org/officeDocument/2006/relationships/image" Target="../media/image139.png"/><Relationship Id="rId22" Type="http://schemas.openxmlformats.org/officeDocument/2006/relationships/image" Target="../media/image147.png"/><Relationship Id="rId27" Type="http://schemas.openxmlformats.org/officeDocument/2006/relationships/image" Target="../media/image152.png"/><Relationship Id="rId30" Type="http://schemas.openxmlformats.org/officeDocument/2006/relationships/image" Target="../media/image15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1.png"/><Relationship Id="rId13" Type="http://schemas.openxmlformats.org/officeDocument/2006/relationships/image" Target="../media/image166.png"/><Relationship Id="rId18" Type="http://schemas.openxmlformats.org/officeDocument/2006/relationships/image" Target="../media/image171.png"/><Relationship Id="rId26" Type="http://schemas.openxmlformats.org/officeDocument/2006/relationships/image" Target="../media/image12.png"/><Relationship Id="rId3" Type="http://schemas.openxmlformats.org/officeDocument/2006/relationships/image" Target="../media/image156.png"/><Relationship Id="rId21" Type="http://schemas.openxmlformats.org/officeDocument/2006/relationships/image" Target="../media/image174.png"/><Relationship Id="rId7" Type="http://schemas.openxmlformats.org/officeDocument/2006/relationships/image" Target="../media/image160.png"/><Relationship Id="rId12" Type="http://schemas.openxmlformats.org/officeDocument/2006/relationships/image" Target="../media/image165.png"/><Relationship Id="rId17" Type="http://schemas.openxmlformats.org/officeDocument/2006/relationships/image" Target="../media/image170.png"/><Relationship Id="rId25" Type="http://schemas.openxmlformats.org/officeDocument/2006/relationships/image" Target="../media/image178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69.png"/><Relationship Id="rId20" Type="http://schemas.openxmlformats.org/officeDocument/2006/relationships/image" Target="../media/image17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9.png"/><Relationship Id="rId11" Type="http://schemas.openxmlformats.org/officeDocument/2006/relationships/image" Target="../media/image164.png"/><Relationship Id="rId24" Type="http://schemas.openxmlformats.org/officeDocument/2006/relationships/image" Target="../media/image177.png"/><Relationship Id="rId5" Type="http://schemas.openxmlformats.org/officeDocument/2006/relationships/image" Target="../media/image158.png"/><Relationship Id="rId15" Type="http://schemas.openxmlformats.org/officeDocument/2006/relationships/image" Target="../media/image168.png"/><Relationship Id="rId23" Type="http://schemas.openxmlformats.org/officeDocument/2006/relationships/image" Target="../media/image176.png"/><Relationship Id="rId10" Type="http://schemas.openxmlformats.org/officeDocument/2006/relationships/image" Target="../media/image163.png"/><Relationship Id="rId19" Type="http://schemas.openxmlformats.org/officeDocument/2006/relationships/image" Target="../media/image172.png"/><Relationship Id="rId4" Type="http://schemas.openxmlformats.org/officeDocument/2006/relationships/image" Target="../media/image157.png"/><Relationship Id="rId9" Type="http://schemas.openxmlformats.org/officeDocument/2006/relationships/image" Target="../media/image162.png"/><Relationship Id="rId14" Type="http://schemas.openxmlformats.org/officeDocument/2006/relationships/image" Target="../media/image167.png"/><Relationship Id="rId22" Type="http://schemas.openxmlformats.org/officeDocument/2006/relationships/image" Target="../media/image175.png"/><Relationship Id="rId27" Type="http://schemas.openxmlformats.org/officeDocument/2006/relationships/image" Target="../media/image179.png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86.png"/><Relationship Id="rId18" Type="http://schemas.openxmlformats.org/officeDocument/2006/relationships/image" Target="../media/image191.png"/><Relationship Id="rId26" Type="http://schemas.openxmlformats.org/officeDocument/2006/relationships/image" Target="../media/image199.png"/><Relationship Id="rId3" Type="http://schemas.openxmlformats.org/officeDocument/2006/relationships/image" Target="../media/image10.png"/><Relationship Id="rId21" Type="http://schemas.openxmlformats.org/officeDocument/2006/relationships/image" Target="../media/image194.png"/><Relationship Id="rId34" Type="http://schemas.openxmlformats.org/officeDocument/2006/relationships/image" Target="../media/image207.png"/><Relationship Id="rId7" Type="http://schemas.openxmlformats.org/officeDocument/2006/relationships/image" Target="../media/image180.png"/><Relationship Id="rId12" Type="http://schemas.openxmlformats.org/officeDocument/2006/relationships/image" Target="../media/image185.png"/><Relationship Id="rId17" Type="http://schemas.openxmlformats.org/officeDocument/2006/relationships/image" Target="../media/image190.png"/><Relationship Id="rId25" Type="http://schemas.openxmlformats.org/officeDocument/2006/relationships/image" Target="../media/image198.png"/><Relationship Id="rId33" Type="http://schemas.openxmlformats.org/officeDocument/2006/relationships/image" Target="../media/image206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189.png"/><Relationship Id="rId20" Type="http://schemas.openxmlformats.org/officeDocument/2006/relationships/image" Target="../media/image193.png"/><Relationship Id="rId29" Type="http://schemas.openxmlformats.org/officeDocument/2006/relationships/image" Target="../media/image20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9.png"/><Relationship Id="rId11" Type="http://schemas.openxmlformats.org/officeDocument/2006/relationships/image" Target="../media/image184.png"/><Relationship Id="rId24" Type="http://schemas.openxmlformats.org/officeDocument/2006/relationships/image" Target="../media/image197.png"/><Relationship Id="rId32" Type="http://schemas.openxmlformats.org/officeDocument/2006/relationships/image" Target="../media/image205.png"/><Relationship Id="rId5" Type="http://schemas.openxmlformats.org/officeDocument/2006/relationships/image" Target="../media/image12.png"/><Relationship Id="rId15" Type="http://schemas.openxmlformats.org/officeDocument/2006/relationships/image" Target="../media/image188.png"/><Relationship Id="rId23" Type="http://schemas.openxmlformats.org/officeDocument/2006/relationships/image" Target="../media/image196.png"/><Relationship Id="rId28" Type="http://schemas.openxmlformats.org/officeDocument/2006/relationships/image" Target="../media/image201.png"/><Relationship Id="rId36" Type="http://schemas.openxmlformats.org/officeDocument/2006/relationships/image" Target="../media/image209.png"/><Relationship Id="rId10" Type="http://schemas.openxmlformats.org/officeDocument/2006/relationships/image" Target="../media/image183.png"/><Relationship Id="rId19" Type="http://schemas.openxmlformats.org/officeDocument/2006/relationships/image" Target="../media/image192.png"/><Relationship Id="rId31" Type="http://schemas.openxmlformats.org/officeDocument/2006/relationships/image" Target="../media/image204.png"/><Relationship Id="rId4" Type="http://schemas.openxmlformats.org/officeDocument/2006/relationships/image" Target="../media/image11.png"/><Relationship Id="rId9" Type="http://schemas.openxmlformats.org/officeDocument/2006/relationships/image" Target="../media/image182.png"/><Relationship Id="rId14" Type="http://schemas.openxmlformats.org/officeDocument/2006/relationships/image" Target="../media/image187.png"/><Relationship Id="rId22" Type="http://schemas.openxmlformats.org/officeDocument/2006/relationships/image" Target="../media/image195.png"/><Relationship Id="rId27" Type="http://schemas.openxmlformats.org/officeDocument/2006/relationships/image" Target="../media/image200.png"/><Relationship Id="rId30" Type="http://schemas.openxmlformats.org/officeDocument/2006/relationships/image" Target="../media/image203.png"/><Relationship Id="rId35" Type="http://schemas.openxmlformats.org/officeDocument/2006/relationships/image" Target="../media/image208.png"/><Relationship Id="rId8" Type="http://schemas.openxmlformats.org/officeDocument/2006/relationships/image" Target="../media/image18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3.png"/><Relationship Id="rId13" Type="http://schemas.openxmlformats.org/officeDocument/2006/relationships/image" Target="../media/image218.png"/><Relationship Id="rId18" Type="http://schemas.openxmlformats.org/officeDocument/2006/relationships/image" Target="../media/image223.png"/><Relationship Id="rId3" Type="http://schemas.openxmlformats.org/officeDocument/2006/relationships/image" Target="../media/image10.png"/><Relationship Id="rId21" Type="http://schemas.openxmlformats.org/officeDocument/2006/relationships/image" Target="../media/image226.png"/><Relationship Id="rId7" Type="http://schemas.openxmlformats.org/officeDocument/2006/relationships/image" Target="../media/image212.png"/><Relationship Id="rId12" Type="http://schemas.openxmlformats.org/officeDocument/2006/relationships/image" Target="../media/image217.png"/><Relationship Id="rId17" Type="http://schemas.openxmlformats.org/officeDocument/2006/relationships/image" Target="../media/image222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221.png"/><Relationship Id="rId20" Type="http://schemas.openxmlformats.org/officeDocument/2006/relationships/image" Target="../media/image2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1.png"/><Relationship Id="rId11" Type="http://schemas.openxmlformats.org/officeDocument/2006/relationships/image" Target="../media/image216.png"/><Relationship Id="rId5" Type="http://schemas.openxmlformats.org/officeDocument/2006/relationships/image" Target="../media/image210.png"/><Relationship Id="rId15" Type="http://schemas.openxmlformats.org/officeDocument/2006/relationships/image" Target="../media/image220.png"/><Relationship Id="rId23" Type="http://schemas.openxmlformats.org/officeDocument/2006/relationships/image" Target="../media/image179.png"/><Relationship Id="rId10" Type="http://schemas.openxmlformats.org/officeDocument/2006/relationships/image" Target="../media/image215.png"/><Relationship Id="rId19" Type="http://schemas.openxmlformats.org/officeDocument/2006/relationships/image" Target="../media/image224.png"/><Relationship Id="rId4" Type="http://schemas.openxmlformats.org/officeDocument/2006/relationships/image" Target="../media/image11.png"/><Relationship Id="rId9" Type="http://schemas.openxmlformats.org/officeDocument/2006/relationships/image" Target="../media/image214.png"/><Relationship Id="rId14" Type="http://schemas.openxmlformats.org/officeDocument/2006/relationships/image" Target="../media/image219.png"/><Relationship Id="rId22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9.png"/><Relationship Id="rId13" Type="http://schemas.openxmlformats.org/officeDocument/2006/relationships/image" Target="../media/image234.png"/><Relationship Id="rId18" Type="http://schemas.openxmlformats.org/officeDocument/2006/relationships/image" Target="../media/image239.png"/><Relationship Id="rId26" Type="http://schemas.openxmlformats.org/officeDocument/2006/relationships/image" Target="../media/image245.png"/><Relationship Id="rId3" Type="http://schemas.openxmlformats.org/officeDocument/2006/relationships/image" Target="../media/image10.png"/><Relationship Id="rId21" Type="http://schemas.openxmlformats.org/officeDocument/2006/relationships/image" Target="../media/image241.png"/><Relationship Id="rId7" Type="http://schemas.openxmlformats.org/officeDocument/2006/relationships/image" Target="../media/image228.png"/><Relationship Id="rId12" Type="http://schemas.openxmlformats.org/officeDocument/2006/relationships/image" Target="../media/image233.png"/><Relationship Id="rId17" Type="http://schemas.openxmlformats.org/officeDocument/2006/relationships/image" Target="../media/image238.png"/><Relationship Id="rId25" Type="http://schemas.microsoft.com/office/2007/relationships/hdphoto" Target="../media/hdphoto2.wdp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237.png"/><Relationship Id="rId20" Type="http://schemas.openxmlformats.org/officeDocument/2006/relationships/image" Target="../media/image17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232.png"/><Relationship Id="rId24" Type="http://schemas.openxmlformats.org/officeDocument/2006/relationships/image" Target="../media/image244.png"/><Relationship Id="rId5" Type="http://schemas.openxmlformats.org/officeDocument/2006/relationships/image" Target="../media/image227.png"/><Relationship Id="rId15" Type="http://schemas.openxmlformats.org/officeDocument/2006/relationships/image" Target="../media/image236.png"/><Relationship Id="rId23" Type="http://schemas.openxmlformats.org/officeDocument/2006/relationships/image" Target="../media/image243.png"/><Relationship Id="rId28" Type="http://schemas.openxmlformats.org/officeDocument/2006/relationships/image" Target="../media/image247.png"/><Relationship Id="rId10" Type="http://schemas.openxmlformats.org/officeDocument/2006/relationships/image" Target="../media/image231.png"/><Relationship Id="rId19" Type="http://schemas.openxmlformats.org/officeDocument/2006/relationships/image" Target="../media/image240.png"/><Relationship Id="rId4" Type="http://schemas.openxmlformats.org/officeDocument/2006/relationships/image" Target="../media/image11.png"/><Relationship Id="rId9" Type="http://schemas.openxmlformats.org/officeDocument/2006/relationships/image" Target="../media/image230.png"/><Relationship Id="rId14" Type="http://schemas.openxmlformats.org/officeDocument/2006/relationships/image" Target="../media/image235.png"/><Relationship Id="rId22" Type="http://schemas.openxmlformats.org/officeDocument/2006/relationships/image" Target="../media/image242.png"/><Relationship Id="rId27" Type="http://schemas.openxmlformats.org/officeDocument/2006/relationships/image" Target="../media/image24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2.png"/><Relationship Id="rId13" Type="http://schemas.openxmlformats.org/officeDocument/2006/relationships/image" Target="../media/image237.png"/><Relationship Id="rId18" Type="http://schemas.openxmlformats.org/officeDocument/2006/relationships/image" Target="../media/image231.png"/><Relationship Id="rId3" Type="http://schemas.openxmlformats.org/officeDocument/2006/relationships/image" Target="../media/image10.png"/><Relationship Id="rId21" Type="http://schemas.openxmlformats.org/officeDocument/2006/relationships/image" Target="../media/image249.png"/><Relationship Id="rId7" Type="http://schemas.openxmlformats.org/officeDocument/2006/relationships/image" Target="../media/image228.png"/><Relationship Id="rId12" Type="http://schemas.openxmlformats.org/officeDocument/2006/relationships/image" Target="../media/image236.png"/><Relationship Id="rId17" Type="http://schemas.openxmlformats.org/officeDocument/2006/relationships/image" Target="../media/image229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242.png"/><Relationship Id="rId20" Type="http://schemas.openxmlformats.org/officeDocument/2006/relationships/image" Target="../media/image24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235.png"/><Relationship Id="rId24" Type="http://schemas.openxmlformats.org/officeDocument/2006/relationships/image" Target="../media/image247.png"/><Relationship Id="rId5" Type="http://schemas.openxmlformats.org/officeDocument/2006/relationships/image" Target="../media/image227.png"/><Relationship Id="rId15" Type="http://schemas.openxmlformats.org/officeDocument/2006/relationships/image" Target="../media/image241.png"/><Relationship Id="rId23" Type="http://schemas.openxmlformats.org/officeDocument/2006/relationships/image" Target="../media/image246.png"/><Relationship Id="rId10" Type="http://schemas.openxmlformats.org/officeDocument/2006/relationships/image" Target="../media/image234.png"/><Relationship Id="rId19" Type="http://schemas.openxmlformats.org/officeDocument/2006/relationships/image" Target="../media/image230.png"/><Relationship Id="rId4" Type="http://schemas.openxmlformats.org/officeDocument/2006/relationships/image" Target="../media/image11.png"/><Relationship Id="rId9" Type="http://schemas.openxmlformats.org/officeDocument/2006/relationships/image" Target="../media/image233.png"/><Relationship Id="rId14" Type="http://schemas.openxmlformats.org/officeDocument/2006/relationships/image" Target="../media/image179.png"/><Relationship Id="rId22" Type="http://schemas.openxmlformats.org/officeDocument/2006/relationships/image" Target="../media/image24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3.png"/><Relationship Id="rId13" Type="http://schemas.openxmlformats.org/officeDocument/2006/relationships/image" Target="../media/image230.png"/><Relationship Id="rId18" Type="http://schemas.openxmlformats.org/officeDocument/2006/relationships/image" Target="../media/image242.png"/><Relationship Id="rId3" Type="http://schemas.openxmlformats.org/officeDocument/2006/relationships/image" Target="../media/image10.png"/><Relationship Id="rId21" Type="http://schemas.openxmlformats.org/officeDocument/2006/relationships/image" Target="../media/image247.png"/><Relationship Id="rId7" Type="http://schemas.openxmlformats.org/officeDocument/2006/relationships/image" Target="../media/image228.png"/><Relationship Id="rId12" Type="http://schemas.openxmlformats.org/officeDocument/2006/relationships/image" Target="../media/image231.png"/><Relationship Id="rId17" Type="http://schemas.openxmlformats.org/officeDocument/2006/relationships/image" Target="../media/image241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236.png"/><Relationship Id="rId20" Type="http://schemas.openxmlformats.org/officeDocument/2006/relationships/image" Target="../media/image24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229.png"/><Relationship Id="rId5" Type="http://schemas.openxmlformats.org/officeDocument/2006/relationships/image" Target="../media/image227.png"/><Relationship Id="rId15" Type="http://schemas.openxmlformats.org/officeDocument/2006/relationships/image" Target="../media/image235.png"/><Relationship Id="rId10" Type="http://schemas.openxmlformats.org/officeDocument/2006/relationships/image" Target="../media/image179.png"/><Relationship Id="rId19" Type="http://schemas.openxmlformats.org/officeDocument/2006/relationships/image" Target="../media/image248.png"/><Relationship Id="rId4" Type="http://schemas.openxmlformats.org/officeDocument/2006/relationships/image" Target="../media/image11.png"/><Relationship Id="rId9" Type="http://schemas.openxmlformats.org/officeDocument/2006/relationships/image" Target="../media/image234.png"/><Relationship Id="rId14" Type="http://schemas.openxmlformats.org/officeDocument/2006/relationships/image" Target="../media/image23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4.png"/><Relationship Id="rId13" Type="http://schemas.openxmlformats.org/officeDocument/2006/relationships/image" Target="../media/image232.png"/><Relationship Id="rId18" Type="http://schemas.openxmlformats.org/officeDocument/2006/relationships/image" Target="../media/image242.png"/><Relationship Id="rId3" Type="http://schemas.openxmlformats.org/officeDocument/2006/relationships/image" Target="../media/image10.png"/><Relationship Id="rId7" Type="http://schemas.openxmlformats.org/officeDocument/2006/relationships/image" Target="../media/image228.png"/><Relationship Id="rId12" Type="http://schemas.openxmlformats.org/officeDocument/2006/relationships/image" Target="../media/image230.png"/><Relationship Id="rId17" Type="http://schemas.openxmlformats.org/officeDocument/2006/relationships/image" Target="../media/image241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236.png"/><Relationship Id="rId20" Type="http://schemas.openxmlformats.org/officeDocument/2006/relationships/image" Target="../media/image24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231.png"/><Relationship Id="rId5" Type="http://schemas.openxmlformats.org/officeDocument/2006/relationships/image" Target="../media/image227.png"/><Relationship Id="rId15" Type="http://schemas.openxmlformats.org/officeDocument/2006/relationships/image" Target="../media/image235.png"/><Relationship Id="rId10" Type="http://schemas.openxmlformats.org/officeDocument/2006/relationships/image" Target="../media/image229.png"/><Relationship Id="rId19" Type="http://schemas.openxmlformats.org/officeDocument/2006/relationships/image" Target="../media/image246.png"/><Relationship Id="rId4" Type="http://schemas.openxmlformats.org/officeDocument/2006/relationships/image" Target="../media/image11.png"/><Relationship Id="rId9" Type="http://schemas.openxmlformats.org/officeDocument/2006/relationships/image" Target="../media/image179.png"/><Relationship Id="rId14" Type="http://schemas.openxmlformats.org/officeDocument/2006/relationships/image" Target="../media/image23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5.png"/><Relationship Id="rId13" Type="http://schemas.openxmlformats.org/officeDocument/2006/relationships/image" Target="../media/image260.png"/><Relationship Id="rId18" Type="http://schemas.openxmlformats.org/officeDocument/2006/relationships/image" Target="../media/image246.png"/><Relationship Id="rId3" Type="http://schemas.openxmlformats.org/officeDocument/2006/relationships/image" Target="../media/image250.png"/><Relationship Id="rId21" Type="http://schemas.openxmlformats.org/officeDocument/2006/relationships/image" Target="../media/image265.png"/><Relationship Id="rId7" Type="http://schemas.openxmlformats.org/officeDocument/2006/relationships/image" Target="../media/image254.png"/><Relationship Id="rId12" Type="http://schemas.openxmlformats.org/officeDocument/2006/relationships/image" Target="../media/image259.png"/><Relationship Id="rId17" Type="http://schemas.openxmlformats.org/officeDocument/2006/relationships/image" Target="../media/image264.pn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263.png"/><Relationship Id="rId20" Type="http://schemas.openxmlformats.org/officeDocument/2006/relationships/image" Target="../media/image17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3.png"/><Relationship Id="rId11" Type="http://schemas.openxmlformats.org/officeDocument/2006/relationships/image" Target="../media/image258.png"/><Relationship Id="rId5" Type="http://schemas.openxmlformats.org/officeDocument/2006/relationships/image" Target="../media/image252.png"/><Relationship Id="rId15" Type="http://schemas.openxmlformats.org/officeDocument/2006/relationships/image" Target="../media/image262.png"/><Relationship Id="rId10" Type="http://schemas.openxmlformats.org/officeDocument/2006/relationships/image" Target="../media/image257.png"/><Relationship Id="rId19" Type="http://schemas.openxmlformats.org/officeDocument/2006/relationships/image" Target="../media/image247.png"/><Relationship Id="rId4" Type="http://schemas.openxmlformats.org/officeDocument/2006/relationships/image" Target="../media/image251.png"/><Relationship Id="rId9" Type="http://schemas.openxmlformats.org/officeDocument/2006/relationships/image" Target="../media/image256.png"/><Relationship Id="rId14" Type="http://schemas.openxmlformats.org/officeDocument/2006/relationships/image" Target="../media/image261.png"/><Relationship Id="rId22" Type="http://schemas.openxmlformats.org/officeDocument/2006/relationships/image" Target="../media/image23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9.png"/><Relationship Id="rId13" Type="http://schemas.openxmlformats.org/officeDocument/2006/relationships/image" Target="../media/image274.png"/><Relationship Id="rId18" Type="http://schemas.openxmlformats.org/officeDocument/2006/relationships/image" Target="../media/image279.png"/><Relationship Id="rId26" Type="http://schemas.openxmlformats.org/officeDocument/2006/relationships/image" Target="../media/image287.png"/><Relationship Id="rId3" Type="http://schemas.openxmlformats.org/officeDocument/2006/relationships/image" Target="../media/image250.png"/><Relationship Id="rId21" Type="http://schemas.openxmlformats.org/officeDocument/2006/relationships/image" Target="../media/image282.png"/><Relationship Id="rId7" Type="http://schemas.openxmlformats.org/officeDocument/2006/relationships/image" Target="../media/image268.png"/><Relationship Id="rId12" Type="http://schemas.openxmlformats.org/officeDocument/2006/relationships/image" Target="../media/image273.png"/><Relationship Id="rId17" Type="http://schemas.openxmlformats.org/officeDocument/2006/relationships/image" Target="../media/image278.png"/><Relationship Id="rId25" Type="http://schemas.openxmlformats.org/officeDocument/2006/relationships/image" Target="../media/image286.pn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277.png"/><Relationship Id="rId20" Type="http://schemas.openxmlformats.org/officeDocument/2006/relationships/image" Target="../media/image281.png"/><Relationship Id="rId29" Type="http://schemas.openxmlformats.org/officeDocument/2006/relationships/image" Target="../media/image17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7.png"/><Relationship Id="rId11" Type="http://schemas.openxmlformats.org/officeDocument/2006/relationships/image" Target="../media/image272.png"/><Relationship Id="rId24" Type="http://schemas.openxmlformats.org/officeDocument/2006/relationships/image" Target="../media/image285.png"/><Relationship Id="rId5" Type="http://schemas.openxmlformats.org/officeDocument/2006/relationships/image" Target="../media/image266.png"/><Relationship Id="rId15" Type="http://schemas.openxmlformats.org/officeDocument/2006/relationships/image" Target="../media/image276.png"/><Relationship Id="rId23" Type="http://schemas.openxmlformats.org/officeDocument/2006/relationships/image" Target="../media/image284.png"/><Relationship Id="rId28" Type="http://schemas.openxmlformats.org/officeDocument/2006/relationships/image" Target="../media/image289.png"/><Relationship Id="rId10" Type="http://schemas.openxmlformats.org/officeDocument/2006/relationships/image" Target="../media/image271.png"/><Relationship Id="rId19" Type="http://schemas.openxmlformats.org/officeDocument/2006/relationships/image" Target="../media/image280.png"/><Relationship Id="rId4" Type="http://schemas.openxmlformats.org/officeDocument/2006/relationships/image" Target="../media/image251.png"/><Relationship Id="rId9" Type="http://schemas.openxmlformats.org/officeDocument/2006/relationships/image" Target="../media/image270.png"/><Relationship Id="rId14" Type="http://schemas.openxmlformats.org/officeDocument/2006/relationships/image" Target="../media/image275.png"/><Relationship Id="rId22" Type="http://schemas.openxmlformats.org/officeDocument/2006/relationships/image" Target="../media/image283.png"/><Relationship Id="rId27" Type="http://schemas.openxmlformats.org/officeDocument/2006/relationships/image" Target="../media/image288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2.png"/><Relationship Id="rId13" Type="http://schemas.openxmlformats.org/officeDocument/2006/relationships/image" Target="../media/image296.png"/><Relationship Id="rId18" Type="http://schemas.openxmlformats.org/officeDocument/2006/relationships/image" Target="../media/image301.png"/><Relationship Id="rId26" Type="http://schemas.openxmlformats.org/officeDocument/2006/relationships/image" Target="../media/image236.png"/><Relationship Id="rId3" Type="http://schemas.openxmlformats.org/officeDocument/2006/relationships/image" Target="../media/image250.png"/><Relationship Id="rId21" Type="http://schemas.openxmlformats.org/officeDocument/2006/relationships/image" Target="../media/image288.png"/><Relationship Id="rId7" Type="http://schemas.openxmlformats.org/officeDocument/2006/relationships/image" Target="../media/image291.png"/><Relationship Id="rId12" Type="http://schemas.openxmlformats.org/officeDocument/2006/relationships/image" Target="../media/image270.png"/><Relationship Id="rId17" Type="http://schemas.openxmlformats.org/officeDocument/2006/relationships/image" Target="../media/image300.png"/><Relationship Id="rId25" Type="http://schemas.openxmlformats.org/officeDocument/2006/relationships/image" Target="../media/image179.png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299.png"/><Relationship Id="rId20" Type="http://schemas.openxmlformats.org/officeDocument/2006/relationships/image" Target="../media/image303.png"/><Relationship Id="rId29" Type="http://schemas.openxmlformats.org/officeDocument/2006/relationships/image" Target="../media/image1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0.png"/><Relationship Id="rId11" Type="http://schemas.openxmlformats.org/officeDocument/2006/relationships/image" Target="../media/image295.png"/><Relationship Id="rId24" Type="http://schemas.openxmlformats.org/officeDocument/2006/relationships/image" Target="../media/image305.png"/><Relationship Id="rId5" Type="http://schemas.openxmlformats.org/officeDocument/2006/relationships/image" Target="../media/image271.png"/><Relationship Id="rId15" Type="http://schemas.openxmlformats.org/officeDocument/2006/relationships/image" Target="../media/image298.png"/><Relationship Id="rId23" Type="http://schemas.openxmlformats.org/officeDocument/2006/relationships/image" Target="../media/image304.png"/><Relationship Id="rId28" Type="http://schemas.openxmlformats.org/officeDocument/2006/relationships/image" Target="../media/image307.png"/><Relationship Id="rId10" Type="http://schemas.openxmlformats.org/officeDocument/2006/relationships/image" Target="../media/image294.png"/><Relationship Id="rId19" Type="http://schemas.openxmlformats.org/officeDocument/2006/relationships/image" Target="../media/image302.png"/><Relationship Id="rId4" Type="http://schemas.openxmlformats.org/officeDocument/2006/relationships/image" Target="../media/image251.png"/><Relationship Id="rId9" Type="http://schemas.openxmlformats.org/officeDocument/2006/relationships/image" Target="../media/image293.png"/><Relationship Id="rId14" Type="http://schemas.openxmlformats.org/officeDocument/2006/relationships/image" Target="../media/image297.png"/><Relationship Id="rId22" Type="http://schemas.openxmlformats.org/officeDocument/2006/relationships/image" Target="../media/image289.png"/><Relationship Id="rId27" Type="http://schemas.openxmlformats.org/officeDocument/2006/relationships/image" Target="../media/image30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0.png"/><Relationship Id="rId13" Type="http://schemas.openxmlformats.org/officeDocument/2006/relationships/image" Target="../media/image236.png"/><Relationship Id="rId3" Type="http://schemas.openxmlformats.org/officeDocument/2006/relationships/image" Target="../media/image250.png"/><Relationship Id="rId7" Type="http://schemas.openxmlformats.org/officeDocument/2006/relationships/image" Target="../media/image179.png"/><Relationship Id="rId12" Type="http://schemas.openxmlformats.org/officeDocument/2006/relationships/image" Target="../media/image313.png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28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9.png"/><Relationship Id="rId11" Type="http://schemas.openxmlformats.org/officeDocument/2006/relationships/image" Target="../media/image278.png"/><Relationship Id="rId5" Type="http://schemas.openxmlformats.org/officeDocument/2006/relationships/image" Target="../media/image308.png"/><Relationship Id="rId15" Type="http://schemas.openxmlformats.org/officeDocument/2006/relationships/image" Target="../media/image288.png"/><Relationship Id="rId10" Type="http://schemas.openxmlformats.org/officeDocument/2006/relationships/image" Target="../media/image312.png"/><Relationship Id="rId4" Type="http://schemas.openxmlformats.org/officeDocument/2006/relationships/image" Target="../media/image251.png"/><Relationship Id="rId9" Type="http://schemas.openxmlformats.org/officeDocument/2006/relationships/image" Target="../media/image311.png"/><Relationship Id="rId14" Type="http://schemas.openxmlformats.org/officeDocument/2006/relationships/image" Target="../media/image242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8.png"/><Relationship Id="rId3" Type="http://schemas.openxmlformats.org/officeDocument/2006/relationships/image" Target="../media/image250.png"/><Relationship Id="rId7" Type="http://schemas.openxmlformats.org/officeDocument/2006/relationships/image" Target="../media/image179.png"/><Relationship Id="rId12" Type="http://schemas.openxmlformats.org/officeDocument/2006/relationships/image" Target="../media/image24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9.png"/><Relationship Id="rId11" Type="http://schemas.openxmlformats.org/officeDocument/2006/relationships/image" Target="../media/image311.png"/><Relationship Id="rId5" Type="http://schemas.openxmlformats.org/officeDocument/2006/relationships/image" Target="../media/image308.png"/><Relationship Id="rId10" Type="http://schemas.openxmlformats.org/officeDocument/2006/relationships/image" Target="../media/image310.png"/><Relationship Id="rId4" Type="http://schemas.openxmlformats.org/officeDocument/2006/relationships/image" Target="../media/image251.png"/><Relationship Id="rId9" Type="http://schemas.openxmlformats.org/officeDocument/2006/relationships/image" Target="../media/image236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7.png"/><Relationship Id="rId13" Type="http://schemas.openxmlformats.org/officeDocument/2006/relationships/image" Target="../media/image322.png"/><Relationship Id="rId18" Type="http://schemas.openxmlformats.org/officeDocument/2006/relationships/image" Target="../media/image179.png"/><Relationship Id="rId3" Type="http://schemas.openxmlformats.org/officeDocument/2006/relationships/image" Target="../media/image250.png"/><Relationship Id="rId7" Type="http://schemas.openxmlformats.org/officeDocument/2006/relationships/image" Target="../media/image316.png"/><Relationship Id="rId12" Type="http://schemas.openxmlformats.org/officeDocument/2006/relationships/image" Target="../media/image321.png"/><Relationship Id="rId17" Type="http://schemas.openxmlformats.org/officeDocument/2006/relationships/image" Target="../media/image326.png"/><Relationship Id="rId2" Type="http://schemas.openxmlformats.org/officeDocument/2006/relationships/notesSlide" Target="../notesSlides/notesSlide21.xml"/><Relationship Id="rId16" Type="http://schemas.openxmlformats.org/officeDocument/2006/relationships/image" Target="../media/image325.png"/><Relationship Id="rId20" Type="http://schemas.openxmlformats.org/officeDocument/2006/relationships/image" Target="../media/image3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5.png"/><Relationship Id="rId11" Type="http://schemas.openxmlformats.org/officeDocument/2006/relationships/image" Target="../media/image320.png"/><Relationship Id="rId5" Type="http://schemas.openxmlformats.org/officeDocument/2006/relationships/image" Target="../media/image314.png"/><Relationship Id="rId15" Type="http://schemas.openxmlformats.org/officeDocument/2006/relationships/image" Target="../media/image324.png"/><Relationship Id="rId10" Type="http://schemas.openxmlformats.org/officeDocument/2006/relationships/image" Target="../media/image319.png"/><Relationship Id="rId19" Type="http://schemas.openxmlformats.org/officeDocument/2006/relationships/image" Target="../media/image327.png"/><Relationship Id="rId4" Type="http://schemas.openxmlformats.org/officeDocument/2006/relationships/image" Target="../media/image251.png"/><Relationship Id="rId9" Type="http://schemas.openxmlformats.org/officeDocument/2006/relationships/image" Target="../media/image318.png"/><Relationship Id="rId14" Type="http://schemas.openxmlformats.org/officeDocument/2006/relationships/image" Target="../media/image323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1.png"/><Relationship Id="rId13" Type="http://schemas.openxmlformats.org/officeDocument/2006/relationships/image" Target="../media/image336.png"/><Relationship Id="rId18" Type="http://schemas.openxmlformats.org/officeDocument/2006/relationships/image" Target="../media/image341.png"/><Relationship Id="rId26" Type="http://schemas.openxmlformats.org/officeDocument/2006/relationships/image" Target="../media/image349.png"/><Relationship Id="rId3" Type="http://schemas.openxmlformats.org/officeDocument/2006/relationships/image" Target="../media/image10.png"/><Relationship Id="rId21" Type="http://schemas.openxmlformats.org/officeDocument/2006/relationships/image" Target="../media/image344.png"/><Relationship Id="rId7" Type="http://schemas.openxmlformats.org/officeDocument/2006/relationships/image" Target="../media/image330.png"/><Relationship Id="rId12" Type="http://schemas.openxmlformats.org/officeDocument/2006/relationships/image" Target="../media/image335.png"/><Relationship Id="rId17" Type="http://schemas.openxmlformats.org/officeDocument/2006/relationships/image" Target="../media/image340.png"/><Relationship Id="rId25" Type="http://schemas.openxmlformats.org/officeDocument/2006/relationships/image" Target="../media/image348.png"/><Relationship Id="rId2" Type="http://schemas.openxmlformats.org/officeDocument/2006/relationships/notesSlide" Target="../notesSlides/notesSlide22.xml"/><Relationship Id="rId16" Type="http://schemas.openxmlformats.org/officeDocument/2006/relationships/image" Target="../media/image339.png"/><Relationship Id="rId20" Type="http://schemas.openxmlformats.org/officeDocument/2006/relationships/image" Target="../media/image343.png"/><Relationship Id="rId29" Type="http://schemas.openxmlformats.org/officeDocument/2006/relationships/image" Target="../media/image35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9.png"/><Relationship Id="rId11" Type="http://schemas.openxmlformats.org/officeDocument/2006/relationships/image" Target="../media/image334.png"/><Relationship Id="rId24" Type="http://schemas.openxmlformats.org/officeDocument/2006/relationships/image" Target="../media/image347.png"/><Relationship Id="rId32" Type="http://schemas.openxmlformats.org/officeDocument/2006/relationships/image" Target="../media/image179.png"/><Relationship Id="rId5" Type="http://schemas.openxmlformats.org/officeDocument/2006/relationships/image" Target="../media/image12.png"/><Relationship Id="rId15" Type="http://schemas.openxmlformats.org/officeDocument/2006/relationships/image" Target="../media/image338.png"/><Relationship Id="rId23" Type="http://schemas.openxmlformats.org/officeDocument/2006/relationships/image" Target="../media/image346.png"/><Relationship Id="rId28" Type="http://schemas.openxmlformats.org/officeDocument/2006/relationships/image" Target="../media/image351.png"/><Relationship Id="rId10" Type="http://schemas.openxmlformats.org/officeDocument/2006/relationships/image" Target="../media/image333.png"/><Relationship Id="rId19" Type="http://schemas.openxmlformats.org/officeDocument/2006/relationships/image" Target="../media/image342.png"/><Relationship Id="rId31" Type="http://schemas.openxmlformats.org/officeDocument/2006/relationships/image" Target="../media/image354.png"/><Relationship Id="rId4" Type="http://schemas.openxmlformats.org/officeDocument/2006/relationships/image" Target="../media/image11.png"/><Relationship Id="rId9" Type="http://schemas.openxmlformats.org/officeDocument/2006/relationships/image" Target="../media/image332.png"/><Relationship Id="rId14" Type="http://schemas.openxmlformats.org/officeDocument/2006/relationships/image" Target="../media/image337.png"/><Relationship Id="rId22" Type="http://schemas.openxmlformats.org/officeDocument/2006/relationships/image" Target="../media/image345.png"/><Relationship Id="rId27" Type="http://schemas.openxmlformats.org/officeDocument/2006/relationships/image" Target="../media/image350.png"/><Relationship Id="rId30" Type="http://schemas.openxmlformats.org/officeDocument/2006/relationships/image" Target="../media/image353.png"/></Relationships>
</file>

<file path=ppt/slides/_rels/slide2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36.png"/><Relationship Id="rId18" Type="http://schemas.openxmlformats.org/officeDocument/2006/relationships/image" Target="../media/image344.png"/><Relationship Id="rId26" Type="http://schemas.openxmlformats.org/officeDocument/2006/relationships/image" Target="../media/image359.png"/><Relationship Id="rId3" Type="http://schemas.openxmlformats.org/officeDocument/2006/relationships/image" Target="../media/image10.png"/><Relationship Id="rId21" Type="http://schemas.openxmlformats.org/officeDocument/2006/relationships/image" Target="../media/image179.png"/><Relationship Id="rId34" Type="http://schemas.openxmlformats.org/officeDocument/2006/relationships/image" Target="../media/image350.png"/><Relationship Id="rId7" Type="http://schemas.openxmlformats.org/officeDocument/2006/relationships/image" Target="../media/image330.png"/><Relationship Id="rId12" Type="http://schemas.openxmlformats.org/officeDocument/2006/relationships/image" Target="../media/image335.png"/><Relationship Id="rId17" Type="http://schemas.openxmlformats.org/officeDocument/2006/relationships/image" Target="../media/image343.png"/><Relationship Id="rId25" Type="http://schemas.openxmlformats.org/officeDocument/2006/relationships/image" Target="../media/image358.png"/><Relationship Id="rId33" Type="http://schemas.openxmlformats.org/officeDocument/2006/relationships/image" Target="../media/image348.png"/><Relationship Id="rId2" Type="http://schemas.openxmlformats.org/officeDocument/2006/relationships/notesSlide" Target="../notesSlides/notesSlide23.xml"/><Relationship Id="rId16" Type="http://schemas.openxmlformats.org/officeDocument/2006/relationships/image" Target="../media/image342.png"/><Relationship Id="rId20" Type="http://schemas.openxmlformats.org/officeDocument/2006/relationships/image" Target="../media/image346.png"/><Relationship Id="rId29" Type="http://schemas.openxmlformats.org/officeDocument/2006/relationships/image" Target="../media/image36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9.png"/><Relationship Id="rId11" Type="http://schemas.openxmlformats.org/officeDocument/2006/relationships/image" Target="../media/image334.png"/><Relationship Id="rId24" Type="http://schemas.openxmlformats.org/officeDocument/2006/relationships/image" Target="../media/image357.png"/><Relationship Id="rId32" Type="http://schemas.openxmlformats.org/officeDocument/2006/relationships/image" Target="../media/image364.png"/><Relationship Id="rId5" Type="http://schemas.openxmlformats.org/officeDocument/2006/relationships/image" Target="../media/image12.png"/><Relationship Id="rId15" Type="http://schemas.openxmlformats.org/officeDocument/2006/relationships/image" Target="../media/image341.png"/><Relationship Id="rId23" Type="http://schemas.openxmlformats.org/officeDocument/2006/relationships/image" Target="../media/image356.png"/><Relationship Id="rId28" Type="http://schemas.openxmlformats.org/officeDocument/2006/relationships/image" Target="../media/image361.png"/><Relationship Id="rId36" Type="http://schemas.openxmlformats.org/officeDocument/2006/relationships/image" Target="../media/image236.png"/><Relationship Id="rId10" Type="http://schemas.openxmlformats.org/officeDocument/2006/relationships/image" Target="../media/image333.png"/><Relationship Id="rId19" Type="http://schemas.openxmlformats.org/officeDocument/2006/relationships/image" Target="../media/image345.png"/><Relationship Id="rId31" Type="http://schemas.openxmlformats.org/officeDocument/2006/relationships/image" Target="../media/image363.png"/><Relationship Id="rId4" Type="http://schemas.openxmlformats.org/officeDocument/2006/relationships/image" Target="../media/image11.png"/><Relationship Id="rId9" Type="http://schemas.openxmlformats.org/officeDocument/2006/relationships/image" Target="../media/image332.png"/><Relationship Id="rId14" Type="http://schemas.openxmlformats.org/officeDocument/2006/relationships/image" Target="../media/image339.png"/><Relationship Id="rId22" Type="http://schemas.openxmlformats.org/officeDocument/2006/relationships/image" Target="../media/image355.png"/><Relationship Id="rId27" Type="http://schemas.openxmlformats.org/officeDocument/2006/relationships/image" Target="../media/image360.png"/><Relationship Id="rId30" Type="http://schemas.openxmlformats.org/officeDocument/2006/relationships/image" Target="../media/image265.png"/><Relationship Id="rId35" Type="http://schemas.openxmlformats.org/officeDocument/2006/relationships/image" Target="../media/image352.png"/><Relationship Id="rId8" Type="http://schemas.openxmlformats.org/officeDocument/2006/relationships/image" Target="../media/image331.png"/></Relationships>
</file>

<file path=ppt/slides/_rels/slide2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36.png"/><Relationship Id="rId18" Type="http://schemas.openxmlformats.org/officeDocument/2006/relationships/image" Target="../media/image346.png"/><Relationship Id="rId26" Type="http://schemas.openxmlformats.org/officeDocument/2006/relationships/image" Target="../media/image367.png"/><Relationship Id="rId39" Type="http://schemas.openxmlformats.org/officeDocument/2006/relationships/image" Target="../media/image380.png"/><Relationship Id="rId21" Type="http://schemas.openxmlformats.org/officeDocument/2006/relationships/image" Target="../media/image340.png"/><Relationship Id="rId34" Type="http://schemas.openxmlformats.org/officeDocument/2006/relationships/image" Target="../media/image375.png"/><Relationship Id="rId42" Type="http://schemas.openxmlformats.org/officeDocument/2006/relationships/image" Target="../media/image383.png"/><Relationship Id="rId7" Type="http://schemas.openxmlformats.org/officeDocument/2006/relationships/image" Target="../media/image330.png"/><Relationship Id="rId2" Type="http://schemas.openxmlformats.org/officeDocument/2006/relationships/notesSlide" Target="../notesSlides/notesSlide24.xml"/><Relationship Id="rId16" Type="http://schemas.openxmlformats.org/officeDocument/2006/relationships/image" Target="../media/image343.png"/><Relationship Id="rId29" Type="http://schemas.openxmlformats.org/officeDocument/2006/relationships/image" Target="../media/image37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9.png"/><Relationship Id="rId11" Type="http://schemas.openxmlformats.org/officeDocument/2006/relationships/image" Target="../media/image334.png"/><Relationship Id="rId24" Type="http://schemas.openxmlformats.org/officeDocument/2006/relationships/image" Target="../media/image356.png"/><Relationship Id="rId32" Type="http://schemas.openxmlformats.org/officeDocument/2006/relationships/image" Target="../media/image373.png"/><Relationship Id="rId37" Type="http://schemas.openxmlformats.org/officeDocument/2006/relationships/image" Target="../media/image378.png"/><Relationship Id="rId40" Type="http://schemas.openxmlformats.org/officeDocument/2006/relationships/image" Target="../media/image381.png"/><Relationship Id="rId45" Type="http://schemas.openxmlformats.org/officeDocument/2006/relationships/image" Target="../media/image311.png"/><Relationship Id="rId5" Type="http://schemas.openxmlformats.org/officeDocument/2006/relationships/image" Target="../media/image12.png"/><Relationship Id="rId15" Type="http://schemas.openxmlformats.org/officeDocument/2006/relationships/image" Target="../media/image341.png"/><Relationship Id="rId23" Type="http://schemas.openxmlformats.org/officeDocument/2006/relationships/image" Target="../media/image365.png"/><Relationship Id="rId28" Type="http://schemas.openxmlformats.org/officeDocument/2006/relationships/image" Target="../media/image369.png"/><Relationship Id="rId36" Type="http://schemas.openxmlformats.org/officeDocument/2006/relationships/image" Target="../media/image377.png"/><Relationship Id="rId10" Type="http://schemas.openxmlformats.org/officeDocument/2006/relationships/image" Target="../media/image333.png"/><Relationship Id="rId19" Type="http://schemas.openxmlformats.org/officeDocument/2006/relationships/image" Target="../media/image179.png"/><Relationship Id="rId31" Type="http://schemas.openxmlformats.org/officeDocument/2006/relationships/image" Target="../media/image372.png"/><Relationship Id="rId44" Type="http://schemas.openxmlformats.org/officeDocument/2006/relationships/image" Target="../media/image310.png"/><Relationship Id="rId4" Type="http://schemas.openxmlformats.org/officeDocument/2006/relationships/image" Target="../media/image11.png"/><Relationship Id="rId9" Type="http://schemas.openxmlformats.org/officeDocument/2006/relationships/image" Target="../media/image332.png"/><Relationship Id="rId14" Type="http://schemas.openxmlformats.org/officeDocument/2006/relationships/image" Target="../media/image339.png"/><Relationship Id="rId22" Type="http://schemas.openxmlformats.org/officeDocument/2006/relationships/image" Target="../media/image344.png"/><Relationship Id="rId27" Type="http://schemas.openxmlformats.org/officeDocument/2006/relationships/image" Target="../media/image368.png"/><Relationship Id="rId30" Type="http://schemas.openxmlformats.org/officeDocument/2006/relationships/image" Target="../media/image371.png"/><Relationship Id="rId35" Type="http://schemas.openxmlformats.org/officeDocument/2006/relationships/image" Target="../media/image376.png"/><Relationship Id="rId43" Type="http://schemas.openxmlformats.org/officeDocument/2006/relationships/image" Target="../media/image384.png"/><Relationship Id="rId8" Type="http://schemas.openxmlformats.org/officeDocument/2006/relationships/image" Target="../media/image331.png"/><Relationship Id="rId3" Type="http://schemas.openxmlformats.org/officeDocument/2006/relationships/image" Target="../media/image10.png"/><Relationship Id="rId12" Type="http://schemas.openxmlformats.org/officeDocument/2006/relationships/image" Target="../media/image335.png"/><Relationship Id="rId17" Type="http://schemas.openxmlformats.org/officeDocument/2006/relationships/image" Target="../media/image345.png"/><Relationship Id="rId25" Type="http://schemas.openxmlformats.org/officeDocument/2006/relationships/image" Target="../media/image366.png"/><Relationship Id="rId33" Type="http://schemas.openxmlformats.org/officeDocument/2006/relationships/image" Target="../media/image374.png"/><Relationship Id="rId38" Type="http://schemas.openxmlformats.org/officeDocument/2006/relationships/image" Target="../media/image379.png"/><Relationship Id="rId20" Type="http://schemas.openxmlformats.org/officeDocument/2006/relationships/image" Target="../media/image355.png"/><Relationship Id="rId41" Type="http://schemas.openxmlformats.org/officeDocument/2006/relationships/image" Target="../media/image382.png"/></Relationships>
</file>

<file path=ppt/slides/_rels/slide2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36.png"/><Relationship Id="rId18" Type="http://schemas.openxmlformats.org/officeDocument/2006/relationships/image" Target="../media/image345.png"/><Relationship Id="rId26" Type="http://schemas.openxmlformats.org/officeDocument/2006/relationships/image" Target="../media/image388.png"/><Relationship Id="rId39" Type="http://schemas.openxmlformats.org/officeDocument/2006/relationships/image" Target="../media/image400.png"/><Relationship Id="rId21" Type="http://schemas.openxmlformats.org/officeDocument/2006/relationships/image" Target="../media/image355.png"/><Relationship Id="rId34" Type="http://schemas.openxmlformats.org/officeDocument/2006/relationships/image" Target="../media/image395.png"/><Relationship Id="rId42" Type="http://schemas.openxmlformats.org/officeDocument/2006/relationships/image" Target="../media/image403.png"/><Relationship Id="rId7" Type="http://schemas.openxmlformats.org/officeDocument/2006/relationships/image" Target="../media/image330.png"/><Relationship Id="rId2" Type="http://schemas.openxmlformats.org/officeDocument/2006/relationships/notesSlide" Target="../notesSlides/notesSlide25.xml"/><Relationship Id="rId16" Type="http://schemas.openxmlformats.org/officeDocument/2006/relationships/image" Target="../media/image342.png"/><Relationship Id="rId29" Type="http://schemas.openxmlformats.org/officeDocument/2006/relationships/image" Target="../media/image39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9.png"/><Relationship Id="rId11" Type="http://schemas.openxmlformats.org/officeDocument/2006/relationships/image" Target="../media/image334.png"/><Relationship Id="rId24" Type="http://schemas.openxmlformats.org/officeDocument/2006/relationships/image" Target="../media/image386.png"/><Relationship Id="rId32" Type="http://schemas.openxmlformats.org/officeDocument/2006/relationships/image" Target="../media/image394.png"/><Relationship Id="rId37" Type="http://schemas.openxmlformats.org/officeDocument/2006/relationships/image" Target="../media/image398.png"/><Relationship Id="rId40" Type="http://schemas.openxmlformats.org/officeDocument/2006/relationships/image" Target="../media/image401.png"/><Relationship Id="rId45" Type="http://schemas.openxmlformats.org/officeDocument/2006/relationships/image" Target="../media/image406.png"/><Relationship Id="rId5" Type="http://schemas.openxmlformats.org/officeDocument/2006/relationships/image" Target="../media/image12.png"/><Relationship Id="rId15" Type="http://schemas.openxmlformats.org/officeDocument/2006/relationships/image" Target="../media/image341.png"/><Relationship Id="rId23" Type="http://schemas.openxmlformats.org/officeDocument/2006/relationships/image" Target="../media/image385.png"/><Relationship Id="rId28" Type="http://schemas.openxmlformats.org/officeDocument/2006/relationships/image" Target="../media/image390.png"/><Relationship Id="rId36" Type="http://schemas.openxmlformats.org/officeDocument/2006/relationships/image" Target="../media/image397.png"/><Relationship Id="rId10" Type="http://schemas.openxmlformats.org/officeDocument/2006/relationships/image" Target="../media/image333.png"/><Relationship Id="rId19" Type="http://schemas.openxmlformats.org/officeDocument/2006/relationships/image" Target="../media/image346.png"/><Relationship Id="rId31" Type="http://schemas.openxmlformats.org/officeDocument/2006/relationships/image" Target="../media/image393.png"/><Relationship Id="rId44" Type="http://schemas.openxmlformats.org/officeDocument/2006/relationships/image" Target="../media/image405.png"/><Relationship Id="rId4" Type="http://schemas.openxmlformats.org/officeDocument/2006/relationships/image" Target="../media/image11.png"/><Relationship Id="rId9" Type="http://schemas.openxmlformats.org/officeDocument/2006/relationships/image" Target="../media/image332.png"/><Relationship Id="rId14" Type="http://schemas.openxmlformats.org/officeDocument/2006/relationships/image" Target="../media/image339.png"/><Relationship Id="rId22" Type="http://schemas.openxmlformats.org/officeDocument/2006/relationships/image" Target="../media/image340.png"/><Relationship Id="rId27" Type="http://schemas.openxmlformats.org/officeDocument/2006/relationships/image" Target="../media/image389.png"/><Relationship Id="rId30" Type="http://schemas.openxmlformats.org/officeDocument/2006/relationships/image" Target="../media/image392.png"/><Relationship Id="rId35" Type="http://schemas.openxmlformats.org/officeDocument/2006/relationships/image" Target="../media/image396.png"/><Relationship Id="rId43" Type="http://schemas.openxmlformats.org/officeDocument/2006/relationships/image" Target="../media/image404.png"/><Relationship Id="rId8" Type="http://schemas.openxmlformats.org/officeDocument/2006/relationships/image" Target="../media/image331.png"/><Relationship Id="rId3" Type="http://schemas.openxmlformats.org/officeDocument/2006/relationships/image" Target="../media/image10.png"/><Relationship Id="rId12" Type="http://schemas.openxmlformats.org/officeDocument/2006/relationships/image" Target="../media/image335.png"/><Relationship Id="rId17" Type="http://schemas.openxmlformats.org/officeDocument/2006/relationships/image" Target="../media/image343.png"/><Relationship Id="rId25" Type="http://schemas.openxmlformats.org/officeDocument/2006/relationships/image" Target="../media/image387.png"/><Relationship Id="rId33" Type="http://schemas.openxmlformats.org/officeDocument/2006/relationships/image" Target="../media/image124.png"/><Relationship Id="rId38" Type="http://schemas.openxmlformats.org/officeDocument/2006/relationships/image" Target="../media/image399.png"/><Relationship Id="rId20" Type="http://schemas.openxmlformats.org/officeDocument/2006/relationships/image" Target="../media/image179.png"/><Relationship Id="rId41" Type="http://schemas.openxmlformats.org/officeDocument/2006/relationships/image" Target="../media/image402.png"/></Relationships>
</file>

<file path=ppt/slides/_rels/slide2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35.png"/><Relationship Id="rId18" Type="http://schemas.openxmlformats.org/officeDocument/2006/relationships/image" Target="../media/image345.png"/><Relationship Id="rId26" Type="http://schemas.openxmlformats.org/officeDocument/2006/relationships/image" Target="../media/image408.png"/><Relationship Id="rId39" Type="http://schemas.openxmlformats.org/officeDocument/2006/relationships/image" Target="../media/image419.png"/><Relationship Id="rId21" Type="http://schemas.openxmlformats.org/officeDocument/2006/relationships/image" Target="../media/image340.png"/><Relationship Id="rId34" Type="http://schemas.openxmlformats.org/officeDocument/2006/relationships/image" Target="../media/image414.png"/><Relationship Id="rId42" Type="http://schemas.openxmlformats.org/officeDocument/2006/relationships/image" Target="../media/image422.png"/><Relationship Id="rId7" Type="http://schemas.openxmlformats.org/officeDocument/2006/relationships/image" Target="../media/image329.png"/><Relationship Id="rId2" Type="http://schemas.openxmlformats.org/officeDocument/2006/relationships/notesSlide" Target="../notesSlides/notesSlide26.xml"/><Relationship Id="rId16" Type="http://schemas.openxmlformats.org/officeDocument/2006/relationships/image" Target="../media/image341.png"/><Relationship Id="rId20" Type="http://schemas.openxmlformats.org/officeDocument/2006/relationships/image" Target="../media/image355.png"/><Relationship Id="rId29" Type="http://schemas.openxmlformats.org/officeDocument/2006/relationships/image" Target="../media/image409.png"/><Relationship Id="rId41" Type="http://schemas.openxmlformats.org/officeDocument/2006/relationships/image" Target="../media/image4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333.png"/><Relationship Id="rId24" Type="http://schemas.openxmlformats.org/officeDocument/2006/relationships/image" Target="../media/image407.png"/><Relationship Id="rId32" Type="http://schemas.openxmlformats.org/officeDocument/2006/relationships/image" Target="../media/image412.png"/><Relationship Id="rId37" Type="http://schemas.openxmlformats.org/officeDocument/2006/relationships/image" Target="../media/image417.png"/><Relationship Id="rId40" Type="http://schemas.openxmlformats.org/officeDocument/2006/relationships/image" Target="../media/image420.png"/><Relationship Id="rId5" Type="http://schemas.openxmlformats.org/officeDocument/2006/relationships/image" Target="../media/image11.png"/><Relationship Id="rId15" Type="http://schemas.openxmlformats.org/officeDocument/2006/relationships/image" Target="../media/image339.png"/><Relationship Id="rId23" Type="http://schemas.openxmlformats.org/officeDocument/2006/relationships/image" Target="../media/image356.png"/><Relationship Id="rId28" Type="http://schemas.openxmlformats.org/officeDocument/2006/relationships/image" Target="../media/image311.png"/><Relationship Id="rId36" Type="http://schemas.openxmlformats.org/officeDocument/2006/relationships/image" Target="../media/image416.png"/><Relationship Id="rId10" Type="http://schemas.openxmlformats.org/officeDocument/2006/relationships/image" Target="../media/image332.png"/><Relationship Id="rId19" Type="http://schemas.openxmlformats.org/officeDocument/2006/relationships/image" Target="../media/image179.png"/><Relationship Id="rId31" Type="http://schemas.openxmlformats.org/officeDocument/2006/relationships/image" Target="../media/image411.png"/><Relationship Id="rId44" Type="http://schemas.openxmlformats.org/officeDocument/2006/relationships/image" Target="../media/image424.png"/><Relationship Id="rId4" Type="http://schemas.openxmlformats.org/officeDocument/2006/relationships/image" Target="../media/image10.png"/><Relationship Id="rId9" Type="http://schemas.openxmlformats.org/officeDocument/2006/relationships/image" Target="../media/image331.png"/><Relationship Id="rId14" Type="http://schemas.openxmlformats.org/officeDocument/2006/relationships/image" Target="../media/image336.png"/><Relationship Id="rId22" Type="http://schemas.openxmlformats.org/officeDocument/2006/relationships/image" Target="../media/image344.png"/><Relationship Id="rId27" Type="http://schemas.openxmlformats.org/officeDocument/2006/relationships/image" Target="../media/image310.png"/><Relationship Id="rId30" Type="http://schemas.openxmlformats.org/officeDocument/2006/relationships/image" Target="../media/image410.png"/><Relationship Id="rId35" Type="http://schemas.openxmlformats.org/officeDocument/2006/relationships/image" Target="../media/image415.png"/><Relationship Id="rId43" Type="http://schemas.openxmlformats.org/officeDocument/2006/relationships/image" Target="../media/image423.png"/><Relationship Id="rId8" Type="http://schemas.openxmlformats.org/officeDocument/2006/relationships/image" Target="../media/image330.png"/><Relationship Id="rId3" Type="http://schemas.openxmlformats.org/officeDocument/2006/relationships/image" Target="../media/image385.png"/><Relationship Id="rId12" Type="http://schemas.openxmlformats.org/officeDocument/2006/relationships/image" Target="../media/image334.png"/><Relationship Id="rId17" Type="http://schemas.openxmlformats.org/officeDocument/2006/relationships/image" Target="../media/image343.png"/><Relationship Id="rId25" Type="http://schemas.openxmlformats.org/officeDocument/2006/relationships/image" Target="../media/image342.png"/><Relationship Id="rId33" Type="http://schemas.openxmlformats.org/officeDocument/2006/relationships/image" Target="../media/image413.png"/><Relationship Id="rId38" Type="http://schemas.openxmlformats.org/officeDocument/2006/relationships/image" Target="../media/image418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8.png"/><Relationship Id="rId3" Type="http://schemas.openxmlformats.org/officeDocument/2006/relationships/image" Target="../media/image10.png"/><Relationship Id="rId7" Type="http://schemas.openxmlformats.org/officeDocument/2006/relationships/image" Target="../media/image42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6.png"/><Relationship Id="rId11" Type="http://schemas.openxmlformats.org/officeDocument/2006/relationships/image" Target="../media/image431.png"/><Relationship Id="rId5" Type="http://schemas.openxmlformats.org/officeDocument/2006/relationships/image" Target="../media/image425.png"/><Relationship Id="rId10" Type="http://schemas.openxmlformats.org/officeDocument/2006/relationships/image" Target="../media/image430.png"/><Relationship Id="rId4" Type="http://schemas.openxmlformats.org/officeDocument/2006/relationships/image" Target="../media/image11.png"/><Relationship Id="rId9" Type="http://schemas.openxmlformats.org/officeDocument/2006/relationships/image" Target="../media/image4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1500" y="2933700"/>
            <a:ext cx="247650" cy="3429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9663" y="2933700"/>
            <a:ext cx="219075" cy="3429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00675" y="2933700"/>
            <a:ext cx="361950" cy="3429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48375" y="2933700"/>
            <a:ext cx="285750" cy="3429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19875" y="3048000"/>
            <a:ext cx="247650" cy="3429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43775" y="2933700"/>
            <a:ext cx="247650" cy="3429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6781800"/>
            <a:ext cx="12192000" cy="76200"/>
          </a:xfrm>
          <a:prstGeom prst="rect">
            <a:avLst/>
          </a:prstGeom>
        </p:spPr>
      </p:pic>
      <p:sp>
        <p:nvSpPr>
          <p:cNvPr id="11" name="Text 0"/>
          <p:cNvSpPr/>
          <p:nvPr/>
        </p:nvSpPr>
        <p:spPr>
          <a:xfrm>
            <a:off x="2224980" y="2247900"/>
            <a:ext cx="7742039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F2937"/>
                </a:solidFill>
                <a:latin typeface="Nanum Square" pitchFamily="34" charset="0"/>
                <a:ea typeface="Nanum Square" pitchFamily="34" charset="-122"/>
                <a:cs typeface="Nanum Square" pitchFamily="34" charset="-120"/>
              </a:rPr>
              <a:t>데이터 통합 솔루션 개발 기획서</a:t>
            </a:r>
            <a:endParaRPr lang="en-US" sz="3600" dirty="0"/>
          </a:p>
        </p:txBody>
      </p:sp>
      <p:sp>
        <p:nvSpPr>
          <p:cNvPr id="12" name="Text 1"/>
          <p:cNvSpPr/>
          <p:nvPr/>
        </p:nvSpPr>
        <p:spPr>
          <a:xfrm>
            <a:off x="4322445" y="3352800"/>
            <a:ext cx="3657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RDB</a:t>
            </a:r>
            <a:endParaRPr lang="en-US" sz="1200" dirty="0"/>
          </a:p>
        </p:txBody>
      </p:sp>
      <p:sp>
        <p:nvSpPr>
          <p:cNvPr id="13" name="Text 2"/>
          <p:cNvSpPr/>
          <p:nvPr/>
        </p:nvSpPr>
        <p:spPr>
          <a:xfrm>
            <a:off x="4857750" y="3352800"/>
            <a:ext cx="3429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파일</a:t>
            </a:r>
            <a:endParaRPr lang="en-US" sz="1200" dirty="0"/>
          </a:p>
        </p:txBody>
      </p:sp>
      <p:sp>
        <p:nvSpPr>
          <p:cNvPr id="14" name="Text 3"/>
          <p:cNvSpPr/>
          <p:nvPr/>
        </p:nvSpPr>
        <p:spPr>
          <a:xfrm>
            <a:off x="5364480" y="3352800"/>
            <a:ext cx="4343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API</a:t>
            </a:r>
            <a:endParaRPr lang="en-US" sz="1200" dirty="0"/>
          </a:p>
        </p:txBody>
      </p:sp>
      <p:sp>
        <p:nvSpPr>
          <p:cNvPr id="15" name="Text 4"/>
          <p:cNvSpPr/>
          <p:nvPr/>
        </p:nvSpPr>
        <p:spPr>
          <a:xfrm>
            <a:off x="5951220" y="3352800"/>
            <a:ext cx="4800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Kafka</a:t>
            </a:r>
            <a:endParaRPr lang="en-US" sz="1200" dirty="0"/>
          </a:p>
        </p:txBody>
      </p:sp>
      <p:sp>
        <p:nvSpPr>
          <p:cNvPr id="16" name="Text 5"/>
          <p:cNvSpPr/>
          <p:nvPr/>
        </p:nvSpPr>
        <p:spPr>
          <a:xfrm>
            <a:off x="7021830" y="3352800"/>
            <a:ext cx="8915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16A34A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MongoDB</a:t>
            </a:r>
            <a:endParaRPr lang="en-US" sz="1200" dirty="0"/>
          </a:p>
        </p:txBody>
      </p:sp>
      <p:sp>
        <p:nvSpPr>
          <p:cNvPr id="17" name="Text 6"/>
          <p:cNvSpPr/>
          <p:nvPr/>
        </p:nvSpPr>
        <p:spPr>
          <a:xfrm>
            <a:off x="2224980" y="3886200"/>
            <a:ext cx="774203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Apache NiFi, Airbyte, Fivetran을 참고한 차세대 데이터 통합 솔루션</a:t>
            </a:r>
            <a:endParaRPr lang="en-US" sz="1500" dirty="0"/>
          </a:p>
        </p:txBody>
      </p:sp>
      <p:sp>
        <p:nvSpPr>
          <p:cNvPr id="18" name="Text 7"/>
          <p:cNvSpPr/>
          <p:nvPr/>
        </p:nvSpPr>
        <p:spPr>
          <a:xfrm>
            <a:off x="2870150" y="4762500"/>
            <a:ext cx="645169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기획일: 2025년 12월 </a:t>
            </a:r>
            <a:r>
              <a:rPr lang="en-US" sz="12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29일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800100"/>
            <a:ext cx="7620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1143000"/>
            <a:ext cx="5600700" cy="26479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400175"/>
            <a:ext cx="219075" cy="190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3086100"/>
            <a:ext cx="476250" cy="4762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1050" y="3248025"/>
            <a:ext cx="13335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00150" y="3086100"/>
            <a:ext cx="476250" cy="4762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81125" y="3248025"/>
            <a:ext cx="1143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90700" y="3086100"/>
            <a:ext cx="476250" cy="4762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33575" y="3248025"/>
            <a:ext cx="19050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381250" y="3086100"/>
            <a:ext cx="476250" cy="4762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543175" y="3248025"/>
            <a:ext cx="15240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0300" y="1143000"/>
            <a:ext cx="5600700" cy="26479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38900" y="1400175"/>
            <a:ext cx="190500" cy="1905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38900" y="1828800"/>
            <a:ext cx="304800" cy="3810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15100" y="1924050"/>
            <a:ext cx="1524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38900" y="2362200"/>
            <a:ext cx="323850" cy="3810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515100" y="2457450"/>
            <a:ext cx="17145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438900" y="2895600"/>
            <a:ext cx="266700" cy="3810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515100" y="2990850"/>
            <a:ext cx="11430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81000" y="4019550"/>
            <a:ext cx="11430000" cy="196215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09600" y="4276725"/>
            <a:ext cx="190500" cy="1905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685925" y="4667250"/>
            <a:ext cx="476250" cy="47625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847850" y="4829175"/>
            <a:ext cx="152400" cy="1524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467225" y="4667250"/>
            <a:ext cx="476250" cy="47625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629150" y="4829175"/>
            <a:ext cx="152400" cy="1524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248525" y="4667250"/>
            <a:ext cx="476250" cy="47625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410450" y="4829175"/>
            <a:ext cx="152400" cy="1524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0029825" y="4667250"/>
            <a:ext cx="476250" cy="47625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0191750" y="4829175"/>
            <a:ext cx="152400" cy="152400"/>
          </a:xfrm>
          <a:prstGeom prst="rect">
            <a:avLst/>
          </a:prstGeom>
        </p:spPr>
      </p:pic>
      <p:sp>
        <p:nvSpPr>
          <p:cNvPr id="33" name="Text 0"/>
          <p:cNvSpPr/>
          <p:nvPr/>
        </p:nvSpPr>
        <p:spPr>
          <a:xfrm>
            <a:off x="381000" y="381000"/>
            <a:ext cx="114300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프로젝트 개요 및 필요성</a:t>
            </a:r>
            <a:endParaRPr lang="en-US" sz="2250" dirty="0"/>
          </a:p>
        </p:txBody>
      </p:sp>
      <p:sp>
        <p:nvSpPr>
          <p:cNvPr id="34" name="Text 1"/>
          <p:cNvSpPr/>
          <p:nvPr/>
        </p:nvSpPr>
        <p:spPr>
          <a:xfrm>
            <a:off x="904875" y="1371600"/>
            <a:ext cx="51435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프로젝트 개요</a:t>
            </a:r>
            <a:endParaRPr lang="en-US" sz="1500" dirty="0"/>
          </a:p>
        </p:txBody>
      </p:sp>
      <p:sp>
        <p:nvSpPr>
          <p:cNvPr id="35" name="Text 2"/>
          <p:cNvSpPr/>
          <p:nvPr/>
        </p:nvSpPr>
        <p:spPr>
          <a:xfrm>
            <a:off x="609600" y="1790700"/>
            <a:ext cx="51435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다양한 소스 시스템(RDB, 파일, API, </a:t>
            </a:r>
            <a:r>
              <a:rPr lang="en-US" sz="1200" dirty="0" smtClean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Kafka </a:t>
            </a:r>
            <a:r>
              <a:rPr lang="ko-KR" altLang="en-US" sz="1200" dirty="0" smtClean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등</a:t>
            </a:r>
            <a:r>
              <a:rPr lang="en-US" sz="1200" dirty="0" smtClean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)</a:t>
            </a:r>
            <a:r>
              <a:rPr lang="en-US" sz="120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의 데이터를 MongoDB로 효율적이고 안정적으로 통합하는 솔루션을 개발합니다.</a:t>
            </a:r>
            <a:endParaRPr lang="en-US" sz="1200" dirty="0"/>
          </a:p>
        </p:txBody>
      </p:sp>
      <p:sp>
        <p:nvSpPr>
          <p:cNvPr id="36" name="Text 3"/>
          <p:cNvSpPr/>
          <p:nvPr/>
        </p:nvSpPr>
        <p:spPr>
          <a:xfrm>
            <a:off x="609600" y="2400300"/>
            <a:ext cx="51435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데이터 사일로를 해소하고, 실시간에 가까운 데이터 접근성을 제공하여 비즈니스 의사결정 및 서비스 개발을 지원합니다.</a:t>
            </a:r>
            <a:endParaRPr lang="en-US" sz="1200" dirty="0"/>
          </a:p>
        </p:txBody>
      </p:sp>
      <p:sp>
        <p:nvSpPr>
          <p:cNvPr id="37" name="Text 4"/>
          <p:cNvSpPr/>
          <p:nvPr/>
        </p:nvSpPr>
        <p:spPr>
          <a:xfrm>
            <a:off x="6705600" y="1371600"/>
            <a:ext cx="51435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필요성</a:t>
            </a:r>
            <a:endParaRPr lang="en-US" sz="1500" dirty="0"/>
          </a:p>
        </p:txBody>
      </p:sp>
      <p:sp>
        <p:nvSpPr>
          <p:cNvPr id="38" name="Text 5"/>
          <p:cNvSpPr/>
          <p:nvPr/>
        </p:nvSpPr>
        <p:spPr>
          <a:xfrm>
            <a:off x="6858000" y="1790700"/>
            <a:ext cx="389691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데이터 사일로 해소</a:t>
            </a:r>
            <a:endParaRPr lang="en-US" sz="1200" dirty="0"/>
          </a:p>
        </p:txBody>
      </p:sp>
      <p:sp>
        <p:nvSpPr>
          <p:cNvPr id="39" name="Text 6"/>
          <p:cNvSpPr/>
          <p:nvPr/>
        </p:nvSpPr>
        <p:spPr>
          <a:xfrm>
            <a:off x="6858000" y="2019300"/>
            <a:ext cx="467629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여러 시스템에 분산된 데이터를 통합하여 일관된 데이터 뷰를 제공</a:t>
            </a:r>
            <a:endParaRPr lang="en-US" sz="1050" dirty="0"/>
          </a:p>
        </p:txBody>
      </p:sp>
      <p:sp>
        <p:nvSpPr>
          <p:cNvPr id="40" name="Text 7"/>
          <p:cNvSpPr/>
          <p:nvPr/>
        </p:nvSpPr>
        <p:spPr>
          <a:xfrm>
            <a:off x="6877050" y="2324100"/>
            <a:ext cx="328939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운영 효율성 증대</a:t>
            </a:r>
            <a:endParaRPr lang="en-US" sz="1200" dirty="0"/>
          </a:p>
        </p:txBody>
      </p:sp>
      <p:sp>
        <p:nvSpPr>
          <p:cNvPr id="41" name="Text 8"/>
          <p:cNvSpPr/>
          <p:nvPr/>
        </p:nvSpPr>
        <p:spPr>
          <a:xfrm>
            <a:off x="6877050" y="2552700"/>
            <a:ext cx="394727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수동 데이터 통합 작업을 자동화된 파이프라인으로 개선</a:t>
            </a:r>
            <a:endParaRPr lang="en-US" sz="1050" dirty="0"/>
          </a:p>
        </p:txBody>
      </p:sp>
      <p:sp>
        <p:nvSpPr>
          <p:cNvPr id="42" name="Text 9"/>
          <p:cNvSpPr/>
          <p:nvPr/>
        </p:nvSpPr>
        <p:spPr>
          <a:xfrm>
            <a:off x="6819900" y="2857500"/>
            <a:ext cx="336351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실시간 데이터 활용</a:t>
            </a:r>
            <a:endParaRPr lang="en-US" sz="1200" dirty="0"/>
          </a:p>
        </p:txBody>
      </p:sp>
      <p:sp>
        <p:nvSpPr>
          <p:cNvPr id="43" name="Text 10"/>
          <p:cNvSpPr/>
          <p:nvPr/>
        </p:nvSpPr>
        <p:spPr>
          <a:xfrm>
            <a:off x="6819900" y="3086100"/>
            <a:ext cx="403621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최신 데이터를 기반으로 한 의사결정 및 서비스 제공 가능</a:t>
            </a:r>
            <a:endParaRPr lang="en-US" sz="1050" dirty="0"/>
          </a:p>
        </p:txBody>
      </p:sp>
      <p:sp>
        <p:nvSpPr>
          <p:cNvPr id="44" name="Text 11"/>
          <p:cNvSpPr/>
          <p:nvPr/>
        </p:nvSpPr>
        <p:spPr>
          <a:xfrm>
            <a:off x="876300" y="4248150"/>
            <a:ext cx="10972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기대 효과</a:t>
            </a:r>
            <a:endParaRPr lang="en-US" sz="1500" dirty="0"/>
          </a:p>
        </p:txBody>
      </p:sp>
      <p:sp>
        <p:nvSpPr>
          <p:cNvPr id="45" name="Text 12"/>
          <p:cNvSpPr/>
          <p:nvPr/>
        </p:nvSpPr>
        <p:spPr>
          <a:xfrm>
            <a:off x="609600" y="5219700"/>
            <a:ext cx="26289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데이터 활용도 증대</a:t>
            </a:r>
            <a:endParaRPr lang="en-US" sz="1200" dirty="0"/>
          </a:p>
        </p:txBody>
      </p:sp>
      <p:sp>
        <p:nvSpPr>
          <p:cNvPr id="46" name="Text 13"/>
          <p:cNvSpPr/>
          <p:nvPr/>
        </p:nvSpPr>
        <p:spPr>
          <a:xfrm>
            <a:off x="609600" y="5448300"/>
            <a:ext cx="26289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비즈니스 인텔리전스, 분석, 머신러닝 등 다양한 분야에서 활용</a:t>
            </a:r>
            <a:endParaRPr lang="en-US" sz="900" dirty="0"/>
          </a:p>
        </p:txBody>
      </p:sp>
      <p:sp>
        <p:nvSpPr>
          <p:cNvPr id="47" name="Text 14"/>
          <p:cNvSpPr/>
          <p:nvPr/>
        </p:nvSpPr>
        <p:spPr>
          <a:xfrm>
            <a:off x="3390900" y="5219700"/>
            <a:ext cx="26289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개발 및 운영 비용 절감</a:t>
            </a:r>
            <a:endParaRPr lang="en-US" sz="1200" dirty="0"/>
          </a:p>
        </p:txBody>
      </p:sp>
      <p:sp>
        <p:nvSpPr>
          <p:cNvPr id="48" name="Text 15"/>
          <p:cNvSpPr/>
          <p:nvPr/>
        </p:nvSpPr>
        <p:spPr>
          <a:xfrm>
            <a:off x="3390900" y="5448300"/>
            <a:ext cx="26289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자동화된 파이프라인으로 인한 개발 및 운영 비용 감소</a:t>
            </a:r>
            <a:endParaRPr lang="en-US" sz="900" dirty="0"/>
          </a:p>
        </p:txBody>
      </p:sp>
      <p:sp>
        <p:nvSpPr>
          <p:cNvPr id="49" name="Text 16"/>
          <p:cNvSpPr/>
          <p:nvPr/>
        </p:nvSpPr>
        <p:spPr>
          <a:xfrm>
            <a:off x="5909310" y="5219700"/>
            <a:ext cx="31546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시장 변화에 대한 빠른 대응</a:t>
            </a:r>
            <a:endParaRPr lang="en-US" sz="1200" dirty="0"/>
          </a:p>
        </p:txBody>
      </p:sp>
      <p:sp>
        <p:nvSpPr>
          <p:cNvPr id="50" name="Text 17"/>
          <p:cNvSpPr/>
          <p:nvPr/>
        </p:nvSpPr>
        <p:spPr>
          <a:xfrm>
            <a:off x="5909310" y="5448300"/>
            <a:ext cx="315468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실시간 데이터 통합으로 시장 변화에 신속하게 대응</a:t>
            </a:r>
            <a:endParaRPr lang="en-US" sz="900" dirty="0"/>
          </a:p>
        </p:txBody>
      </p:sp>
      <p:sp>
        <p:nvSpPr>
          <p:cNvPr id="51" name="Text 18"/>
          <p:cNvSpPr/>
          <p:nvPr/>
        </p:nvSpPr>
        <p:spPr>
          <a:xfrm>
            <a:off x="8953500" y="5219700"/>
            <a:ext cx="26289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데이터 품질 향상</a:t>
            </a:r>
            <a:endParaRPr lang="en-US" sz="1200" dirty="0"/>
          </a:p>
        </p:txBody>
      </p:sp>
      <p:sp>
        <p:nvSpPr>
          <p:cNvPr id="52" name="Text 19"/>
          <p:cNvSpPr/>
          <p:nvPr/>
        </p:nvSpPr>
        <p:spPr>
          <a:xfrm>
            <a:off x="8690610" y="5448300"/>
            <a:ext cx="315468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검증 및 변환 과정으로 데이터 정확성과 신뢰성 확보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800100"/>
            <a:ext cx="7620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1066800"/>
            <a:ext cx="3682901" cy="4762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257300"/>
            <a:ext cx="381000" cy="381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275" y="1371600"/>
            <a:ext cx="17145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2085975"/>
            <a:ext cx="133350" cy="1333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2314575"/>
            <a:ext cx="133350" cy="1333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2543175"/>
            <a:ext cx="133350" cy="1333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2771775"/>
            <a:ext cx="133350" cy="1333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3390900"/>
            <a:ext cx="133350" cy="1333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3619500"/>
            <a:ext cx="133350" cy="1333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3848100"/>
            <a:ext cx="133350" cy="1333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1500" y="4419600"/>
            <a:ext cx="133350" cy="1333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1500" y="4648200"/>
            <a:ext cx="133350" cy="13335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54401" y="1066800"/>
            <a:ext cx="3683050" cy="47625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44901" y="1257300"/>
            <a:ext cx="381000" cy="3810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40151" y="1371600"/>
            <a:ext cx="19050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444901" y="2085975"/>
            <a:ext cx="133350" cy="13335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444901" y="2314575"/>
            <a:ext cx="133350" cy="13335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444901" y="2543175"/>
            <a:ext cx="133350" cy="13335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444901" y="2771775"/>
            <a:ext cx="133350" cy="13335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44901" y="3390900"/>
            <a:ext cx="133350" cy="13335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44901" y="3619500"/>
            <a:ext cx="133350" cy="13335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44901" y="3848100"/>
            <a:ext cx="133350" cy="13335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44901" y="4419600"/>
            <a:ext cx="133350" cy="13335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44901" y="4648200"/>
            <a:ext cx="133350" cy="13335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127950" y="1066800"/>
            <a:ext cx="3682901" cy="47625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18450" y="1257300"/>
            <a:ext cx="381000" cy="3810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423225" y="1371600"/>
            <a:ext cx="171450" cy="1524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318450" y="2085975"/>
            <a:ext cx="133350" cy="13335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318450" y="2314575"/>
            <a:ext cx="133350" cy="13335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318450" y="2543175"/>
            <a:ext cx="133350" cy="13335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318450" y="2771775"/>
            <a:ext cx="133350" cy="133350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18450" y="3390900"/>
            <a:ext cx="133350" cy="133350"/>
          </a:xfrm>
          <a:prstGeom prst="rect">
            <a:avLst/>
          </a:prstGeom>
        </p:spPr>
      </p:pic>
      <p:pic>
        <p:nvPicPr>
          <p:cNvPr id="37" name="Image 3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18450" y="3619500"/>
            <a:ext cx="133350" cy="133350"/>
          </a:xfrm>
          <a:prstGeom prst="rect">
            <a:avLst/>
          </a:prstGeom>
        </p:spPr>
      </p:pic>
      <p:pic>
        <p:nvPicPr>
          <p:cNvPr id="38" name="Image 3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18450" y="3848100"/>
            <a:ext cx="133350" cy="133350"/>
          </a:xfrm>
          <a:prstGeom prst="rect">
            <a:avLst/>
          </a:prstGeom>
        </p:spPr>
      </p:pic>
      <p:pic>
        <p:nvPicPr>
          <p:cNvPr id="39" name="Image 3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18450" y="4419600"/>
            <a:ext cx="133350" cy="133350"/>
          </a:xfrm>
          <a:prstGeom prst="rect">
            <a:avLst/>
          </a:prstGeom>
        </p:spPr>
      </p:pic>
      <p:pic>
        <p:nvPicPr>
          <p:cNvPr id="40" name="Image 3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18450" y="4648200"/>
            <a:ext cx="133350" cy="133350"/>
          </a:xfrm>
          <a:prstGeom prst="rect">
            <a:avLst/>
          </a:prstGeom>
        </p:spPr>
      </p:pic>
      <p:pic>
        <p:nvPicPr>
          <p:cNvPr id="41" name="Image 3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220343" y="6162675"/>
            <a:ext cx="104775" cy="133350"/>
          </a:xfrm>
          <a:prstGeom prst="rect">
            <a:avLst/>
          </a:prstGeom>
        </p:spPr>
      </p:pic>
      <p:sp>
        <p:nvSpPr>
          <p:cNvPr id="42" name="Text 0"/>
          <p:cNvSpPr/>
          <p:nvPr/>
        </p:nvSpPr>
        <p:spPr>
          <a:xfrm>
            <a:off x="381000" y="381000"/>
            <a:ext cx="114300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참고 솔루션 분석</a:t>
            </a:r>
            <a:endParaRPr lang="en-US" sz="2250" dirty="0"/>
          </a:p>
        </p:txBody>
      </p:sp>
      <p:sp>
        <p:nvSpPr>
          <p:cNvPr id="43" name="Text 1"/>
          <p:cNvSpPr/>
          <p:nvPr/>
        </p:nvSpPr>
        <p:spPr>
          <a:xfrm>
            <a:off x="1066800" y="1314450"/>
            <a:ext cx="132105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Apache NiFi</a:t>
            </a:r>
            <a:endParaRPr lang="en-US" sz="1500" dirty="0"/>
          </a:p>
        </p:txBody>
      </p:sp>
      <p:sp>
        <p:nvSpPr>
          <p:cNvPr id="44" name="Text 2"/>
          <p:cNvSpPr/>
          <p:nvPr/>
        </p:nvSpPr>
        <p:spPr>
          <a:xfrm>
            <a:off x="571500" y="1790700"/>
            <a:ext cx="330190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주요 특징</a:t>
            </a:r>
            <a:endParaRPr lang="en-US" sz="1050" dirty="0"/>
          </a:p>
        </p:txBody>
      </p:sp>
      <p:sp>
        <p:nvSpPr>
          <p:cNvPr id="45" name="Text 3"/>
          <p:cNvSpPr/>
          <p:nvPr/>
        </p:nvSpPr>
        <p:spPr>
          <a:xfrm>
            <a:off x="728004" y="2057400"/>
            <a:ext cx="294545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l">
              <a:lnSpc>
                <a:spcPts val="1500"/>
              </a:lnSpc>
              <a:buSzPct val="100000"/>
            </a:pPr>
            <a:r>
              <a:rPr lang="en-US" sz="1050" dirty="0" err="1" smtClean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시각적</a:t>
            </a:r>
            <a:r>
              <a:rPr lang="en-US" sz="105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en-US" sz="1050" dirty="0" err="1" smtClean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인터페이스를</a:t>
            </a:r>
            <a:r>
              <a:rPr lang="en-US" sz="1050" dirty="0" smtClean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en-US" sz="105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통한 데이터 흐름 자동화</a:t>
            </a:r>
            <a:endParaRPr lang="en-US" sz="1050" dirty="0"/>
          </a:p>
        </p:txBody>
      </p:sp>
      <p:sp>
        <p:nvSpPr>
          <p:cNvPr id="46" name="Text 4"/>
          <p:cNvSpPr/>
          <p:nvPr/>
        </p:nvSpPr>
        <p:spPr>
          <a:xfrm>
            <a:off x="746858" y="2286000"/>
            <a:ext cx="294545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l">
              <a:lnSpc>
                <a:spcPts val="1500"/>
              </a:lnSpc>
              <a:buSzPct val="100000"/>
            </a:pPr>
            <a:r>
              <a:rPr lang="en-US" sz="1050" dirty="0" err="1" smtClean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오픈소스</a:t>
            </a:r>
            <a:r>
              <a:rPr lang="en-US" sz="1050" dirty="0" smtClean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en-US" sz="105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데이터 통합 도구</a:t>
            </a:r>
            <a:endParaRPr lang="en-US" sz="1050" dirty="0"/>
          </a:p>
        </p:txBody>
      </p:sp>
      <p:sp>
        <p:nvSpPr>
          <p:cNvPr id="47" name="Text 5"/>
          <p:cNvSpPr/>
          <p:nvPr/>
        </p:nvSpPr>
        <p:spPr>
          <a:xfrm>
            <a:off x="728004" y="2514600"/>
            <a:ext cx="294545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l">
              <a:lnSpc>
                <a:spcPts val="1500"/>
              </a:lnSpc>
              <a:buSzPct val="100000"/>
            </a:pPr>
            <a:r>
              <a:rPr lang="en-US" sz="1050" dirty="0" err="1" smtClean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배치</a:t>
            </a:r>
            <a:r>
              <a:rPr lang="en-US" sz="1050" dirty="0" smtClean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en-US" sz="105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및 실시간 데이터 처리 모두 지원</a:t>
            </a:r>
            <a:endParaRPr lang="en-US" sz="1050" dirty="0"/>
          </a:p>
        </p:txBody>
      </p:sp>
      <p:sp>
        <p:nvSpPr>
          <p:cNvPr id="48" name="Text 6"/>
          <p:cNvSpPr/>
          <p:nvPr/>
        </p:nvSpPr>
        <p:spPr>
          <a:xfrm>
            <a:off x="746858" y="2743200"/>
            <a:ext cx="294545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l">
              <a:lnSpc>
                <a:spcPts val="1500"/>
              </a:lnSpc>
              <a:buSzPct val="100000"/>
            </a:pPr>
            <a:r>
              <a:rPr lang="en-US" sz="1050" dirty="0" err="1" smtClean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광범위한</a:t>
            </a:r>
            <a:r>
              <a:rPr lang="en-US" sz="1050" dirty="0" smtClean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en-US" sz="105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커넥터 제공</a:t>
            </a:r>
            <a:endParaRPr lang="en-US" sz="1050" dirty="0"/>
          </a:p>
        </p:txBody>
      </p:sp>
      <p:sp>
        <p:nvSpPr>
          <p:cNvPr id="49" name="Text 7"/>
          <p:cNvSpPr/>
          <p:nvPr/>
        </p:nvSpPr>
        <p:spPr>
          <a:xfrm>
            <a:off x="571500" y="3086100"/>
            <a:ext cx="330190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장점</a:t>
            </a:r>
            <a:endParaRPr lang="en-US" sz="1050" dirty="0"/>
          </a:p>
        </p:txBody>
      </p:sp>
      <p:sp>
        <p:nvSpPr>
          <p:cNvPr id="50" name="Text 8"/>
          <p:cNvSpPr/>
          <p:nvPr/>
        </p:nvSpPr>
        <p:spPr>
          <a:xfrm>
            <a:off x="742950" y="3352800"/>
            <a:ext cx="225813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높은 유연성과 세밀한 제어 능력</a:t>
            </a:r>
            <a:endParaRPr lang="en-US" sz="1050" dirty="0"/>
          </a:p>
        </p:txBody>
      </p:sp>
      <p:sp>
        <p:nvSpPr>
          <p:cNvPr id="51" name="Text 9"/>
          <p:cNvSpPr/>
          <p:nvPr/>
        </p:nvSpPr>
        <p:spPr>
          <a:xfrm>
            <a:off x="742950" y="3581400"/>
            <a:ext cx="225813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복잡한 데이터 흐름 구축에 강점</a:t>
            </a:r>
            <a:endParaRPr lang="en-US" sz="1050" dirty="0"/>
          </a:p>
        </p:txBody>
      </p:sp>
      <p:sp>
        <p:nvSpPr>
          <p:cNvPr id="52" name="Text 10"/>
          <p:cNvSpPr/>
          <p:nvPr/>
        </p:nvSpPr>
        <p:spPr>
          <a:xfrm>
            <a:off x="742950" y="3810000"/>
            <a:ext cx="20091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오픈소스이므로 비용 효율적</a:t>
            </a:r>
            <a:endParaRPr lang="en-US" sz="1050" dirty="0"/>
          </a:p>
        </p:txBody>
      </p:sp>
      <p:sp>
        <p:nvSpPr>
          <p:cNvPr id="53" name="Text 11"/>
          <p:cNvSpPr/>
          <p:nvPr/>
        </p:nvSpPr>
        <p:spPr>
          <a:xfrm>
            <a:off x="571500" y="4114800"/>
            <a:ext cx="330190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단점</a:t>
            </a:r>
            <a:endParaRPr lang="en-US" sz="1050" dirty="0"/>
          </a:p>
        </p:txBody>
      </p:sp>
      <p:sp>
        <p:nvSpPr>
          <p:cNvPr id="54" name="Text 12"/>
          <p:cNvSpPr/>
          <p:nvPr/>
        </p:nvSpPr>
        <p:spPr>
          <a:xfrm>
            <a:off x="742950" y="4381500"/>
            <a:ext cx="157359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높은 기술 전문성 요구</a:t>
            </a:r>
            <a:endParaRPr lang="en-US" sz="1050" dirty="0"/>
          </a:p>
        </p:txBody>
      </p:sp>
      <p:sp>
        <p:nvSpPr>
          <p:cNvPr id="55" name="Text 13"/>
          <p:cNvSpPr/>
          <p:nvPr/>
        </p:nvSpPr>
        <p:spPr>
          <a:xfrm>
            <a:off x="742950" y="4610100"/>
            <a:ext cx="3334167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SaaS 애플리케이션과의 연동에 수동 작업 필요</a:t>
            </a:r>
            <a:endParaRPr lang="en-US" sz="1050" dirty="0"/>
          </a:p>
        </p:txBody>
      </p:sp>
      <p:sp>
        <p:nvSpPr>
          <p:cNvPr id="56" name="Text 14"/>
          <p:cNvSpPr/>
          <p:nvPr/>
        </p:nvSpPr>
        <p:spPr>
          <a:xfrm>
            <a:off x="4940201" y="1314450"/>
            <a:ext cx="88939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Fivetran</a:t>
            </a:r>
            <a:endParaRPr lang="en-US" sz="1500" dirty="0"/>
          </a:p>
        </p:txBody>
      </p:sp>
      <p:sp>
        <p:nvSpPr>
          <p:cNvPr id="57" name="Text 15"/>
          <p:cNvSpPr/>
          <p:nvPr/>
        </p:nvSpPr>
        <p:spPr>
          <a:xfrm>
            <a:off x="4444901" y="1790700"/>
            <a:ext cx="33020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주요 특징</a:t>
            </a:r>
            <a:endParaRPr lang="en-US" sz="1050" dirty="0"/>
          </a:p>
        </p:txBody>
      </p:sp>
      <p:sp>
        <p:nvSpPr>
          <p:cNvPr id="58" name="Text 16"/>
          <p:cNvSpPr/>
          <p:nvPr/>
        </p:nvSpPr>
        <p:spPr>
          <a:xfrm>
            <a:off x="4629686" y="2057400"/>
            <a:ext cx="294545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l">
              <a:lnSpc>
                <a:spcPts val="1500"/>
              </a:lnSpc>
              <a:buSzPct val="100000"/>
            </a:pPr>
            <a:r>
              <a:rPr lang="en-US" sz="1050" dirty="0" err="1" smtClean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클라우드</a:t>
            </a:r>
            <a:r>
              <a:rPr lang="en-US" sz="1050" dirty="0" smtClean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en-US" sz="105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기반 완전 관리형 ELT 플랫폼</a:t>
            </a:r>
            <a:endParaRPr lang="en-US" sz="1050" dirty="0"/>
          </a:p>
        </p:txBody>
      </p:sp>
      <p:sp>
        <p:nvSpPr>
          <p:cNvPr id="59" name="Text 17"/>
          <p:cNvSpPr/>
          <p:nvPr/>
        </p:nvSpPr>
        <p:spPr>
          <a:xfrm>
            <a:off x="4629686" y="2286000"/>
            <a:ext cx="294545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l">
              <a:lnSpc>
                <a:spcPts val="1500"/>
              </a:lnSpc>
              <a:buSzPct val="100000"/>
            </a:pPr>
            <a:r>
              <a:rPr lang="en-US" sz="1050" dirty="0" err="1" smtClean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최소한의</a:t>
            </a:r>
            <a:r>
              <a:rPr lang="en-US" sz="1050" dirty="0" smtClean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en-US" sz="105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설정으로 간편함</a:t>
            </a:r>
            <a:endParaRPr lang="en-US" sz="1050" dirty="0"/>
          </a:p>
        </p:txBody>
      </p:sp>
      <p:sp>
        <p:nvSpPr>
          <p:cNvPr id="60" name="Text 18"/>
          <p:cNvSpPr/>
          <p:nvPr/>
        </p:nvSpPr>
        <p:spPr>
          <a:xfrm>
            <a:off x="4629686" y="2514600"/>
            <a:ext cx="294545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l">
              <a:lnSpc>
                <a:spcPts val="1500"/>
              </a:lnSpc>
              <a:buSzPct val="100000"/>
            </a:pPr>
            <a:r>
              <a:rPr lang="en-US" sz="1050" dirty="0" smtClean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300</a:t>
            </a:r>
            <a:r>
              <a:rPr lang="en-US" sz="105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개 이상의 사전 구축된 커넥터</a:t>
            </a:r>
            <a:endParaRPr lang="en-US" sz="1050" dirty="0"/>
          </a:p>
        </p:txBody>
      </p:sp>
      <p:sp>
        <p:nvSpPr>
          <p:cNvPr id="61" name="Text 19"/>
          <p:cNvSpPr/>
          <p:nvPr/>
        </p:nvSpPr>
        <p:spPr>
          <a:xfrm>
            <a:off x="4629686" y="2743200"/>
            <a:ext cx="294545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l">
              <a:lnSpc>
                <a:spcPts val="1500"/>
              </a:lnSpc>
              <a:buSzPct val="100000"/>
            </a:pPr>
            <a:r>
              <a:rPr lang="en-US" sz="1050" dirty="0" err="1" smtClean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로드</a:t>
            </a:r>
            <a:r>
              <a:rPr lang="en-US" sz="1050" dirty="0" smtClean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en-US" sz="105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후 변환(ELT)에 중점</a:t>
            </a:r>
            <a:endParaRPr lang="en-US" sz="1050" dirty="0"/>
          </a:p>
        </p:txBody>
      </p:sp>
      <p:sp>
        <p:nvSpPr>
          <p:cNvPr id="62" name="Text 20"/>
          <p:cNvSpPr/>
          <p:nvPr/>
        </p:nvSpPr>
        <p:spPr>
          <a:xfrm>
            <a:off x="4444901" y="3086100"/>
            <a:ext cx="33020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장점</a:t>
            </a:r>
            <a:endParaRPr lang="en-US" sz="1050" dirty="0"/>
          </a:p>
        </p:txBody>
      </p:sp>
      <p:sp>
        <p:nvSpPr>
          <p:cNvPr id="63" name="Text 21"/>
          <p:cNvSpPr/>
          <p:nvPr/>
        </p:nvSpPr>
        <p:spPr>
          <a:xfrm>
            <a:off x="4616351" y="3352800"/>
            <a:ext cx="225813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쉬운 설정과 완전 관리형 서비스</a:t>
            </a:r>
            <a:endParaRPr lang="en-US" sz="1050" dirty="0"/>
          </a:p>
        </p:txBody>
      </p:sp>
      <p:sp>
        <p:nvSpPr>
          <p:cNvPr id="64" name="Text 22"/>
          <p:cNvSpPr/>
          <p:nvPr/>
        </p:nvSpPr>
        <p:spPr>
          <a:xfrm>
            <a:off x="4616351" y="3581400"/>
            <a:ext cx="266711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빠른 데이터 복제 및 자동 스키마 변경</a:t>
            </a:r>
            <a:endParaRPr lang="en-US" sz="1050" dirty="0"/>
          </a:p>
        </p:txBody>
      </p:sp>
      <p:sp>
        <p:nvSpPr>
          <p:cNvPr id="65" name="Text 23"/>
          <p:cNvSpPr/>
          <p:nvPr/>
        </p:nvSpPr>
        <p:spPr>
          <a:xfrm>
            <a:off x="4616351" y="3810000"/>
            <a:ext cx="189363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광범위한 사전 구축 커넥터</a:t>
            </a:r>
            <a:endParaRPr lang="en-US" sz="1050" dirty="0"/>
          </a:p>
        </p:txBody>
      </p:sp>
      <p:sp>
        <p:nvSpPr>
          <p:cNvPr id="66" name="Text 24"/>
          <p:cNvSpPr/>
          <p:nvPr/>
        </p:nvSpPr>
        <p:spPr>
          <a:xfrm>
            <a:off x="4444901" y="4114800"/>
            <a:ext cx="33020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단점</a:t>
            </a:r>
            <a:endParaRPr lang="en-US" sz="1050" dirty="0"/>
          </a:p>
        </p:txBody>
      </p:sp>
      <p:sp>
        <p:nvSpPr>
          <p:cNvPr id="67" name="Text 25"/>
          <p:cNvSpPr/>
          <p:nvPr/>
        </p:nvSpPr>
        <p:spPr>
          <a:xfrm>
            <a:off x="4616351" y="4381500"/>
            <a:ext cx="212490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로드 전 변환 기능이 제 limited</a:t>
            </a:r>
            <a:endParaRPr lang="en-US" sz="1050" dirty="0"/>
          </a:p>
        </p:txBody>
      </p:sp>
      <p:sp>
        <p:nvSpPr>
          <p:cNvPr id="68" name="Text 26"/>
          <p:cNvSpPr/>
          <p:nvPr/>
        </p:nvSpPr>
        <p:spPr>
          <a:xfrm>
            <a:off x="4616351" y="4610100"/>
            <a:ext cx="257817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커스텀 요구사항에 </a:t>
            </a:r>
            <a:r>
              <a:rPr lang="en-US" sz="1050" dirty="0" err="1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대한</a:t>
            </a:r>
            <a:r>
              <a:rPr lang="en-US" sz="105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en-US" sz="1050" dirty="0" err="1" smtClean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유연</a:t>
            </a:r>
            <a:r>
              <a:rPr lang="ko-KR" altLang="en-US" sz="1050" dirty="0" smtClean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성</a:t>
            </a:r>
            <a:r>
              <a:rPr lang="en-US" sz="1050" dirty="0" smtClean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en-US" sz="105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낮음</a:t>
            </a:r>
            <a:endParaRPr lang="en-US" sz="1050" dirty="0"/>
          </a:p>
        </p:txBody>
      </p:sp>
      <p:sp>
        <p:nvSpPr>
          <p:cNvPr id="69" name="Text 27"/>
          <p:cNvSpPr/>
          <p:nvPr/>
        </p:nvSpPr>
        <p:spPr>
          <a:xfrm>
            <a:off x="8813750" y="1314450"/>
            <a:ext cx="78759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Airbyte</a:t>
            </a:r>
            <a:endParaRPr lang="en-US" sz="1500" dirty="0"/>
          </a:p>
        </p:txBody>
      </p:sp>
      <p:sp>
        <p:nvSpPr>
          <p:cNvPr id="70" name="Text 28"/>
          <p:cNvSpPr/>
          <p:nvPr/>
        </p:nvSpPr>
        <p:spPr>
          <a:xfrm>
            <a:off x="8318450" y="1790700"/>
            <a:ext cx="330190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주요 특징</a:t>
            </a:r>
            <a:endParaRPr lang="en-US" sz="1050" dirty="0"/>
          </a:p>
        </p:txBody>
      </p:sp>
      <p:sp>
        <p:nvSpPr>
          <p:cNvPr id="71" name="Text 29"/>
          <p:cNvSpPr/>
          <p:nvPr/>
        </p:nvSpPr>
        <p:spPr>
          <a:xfrm>
            <a:off x="8512662" y="2057400"/>
            <a:ext cx="294545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l">
              <a:lnSpc>
                <a:spcPts val="1500"/>
              </a:lnSpc>
              <a:buSzPct val="100000"/>
            </a:pPr>
            <a:r>
              <a:rPr lang="en-US" sz="1050" dirty="0" err="1" smtClean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오픈소스</a:t>
            </a:r>
            <a:r>
              <a:rPr lang="en-US" sz="1050" dirty="0" smtClean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en-US" sz="105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데이터 이동 플랫폼</a:t>
            </a:r>
            <a:endParaRPr lang="en-US" sz="1050" dirty="0"/>
          </a:p>
        </p:txBody>
      </p:sp>
      <p:sp>
        <p:nvSpPr>
          <p:cNvPr id="72" name="Text 30"/>
          <p:cNvSpPr/>
          <p:nvPr/>
        </p:nvSpPr>
        <p:spPr>
          <a:xfrm>
            <a:off x="8512662" y="2286000"/>
            <a:ext cx="294545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l">
              <a:lnSpc>
                <a:spcPts val="1500"/>
              </a:lnSpc>
              <a:buSzPct val="100000"/>
            </a:pPr>
            <a:r>
              <a:rPr lang="en-US" sz="1050" dirty="0" err="1" smtClean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클라우드</a:t>
            </a:r>
            <a:r>
              <a:rPr lang="en-US" sz="1050" dirty="0" smtClean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en-US" sz="105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호스팅 및 온프레미스 옵션</a:t>
            </a:r>
            <a:endParaRPr lang="en-US" sz="1050" dirty="0"/>
          </a:p>
        </p:txBody>
      </p:sp>
      <p:sp>
        <p:nvSpPr>
          <p:cNvPr id="73" name="Text 31"/>
          <p:cNvSpPr/>
          <p:nvPr/>
        </p:nvSpPr>
        <p:spPr>
          <a:xfrm>
            <a:off x="8512662" y="2514600"/>
            <a:ext cx="294545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l">
              <a:lnSpc>
                <a:spcPts val="1500"/>
              </a:lnSpc>
              <a:buSzPct val="100000"/>
            </a:pPr>
            <a:r>
              <a:rPr lang="en-US" sz="1050" dirty="0" err="1" smtClean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배치</a:t>
            </a:r>
            <a:r>
              <a:rPr lang="en-US" sz="1050" dirty="0" smtClean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en-US" sz="105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및 스트리밍 처리 모두 지원</a:t>
            </a:r>
            <a:endParaRPr lang="en-US" sz="1050" dirty="0"/>
          </a:p>
        </p:txBody>
      </p:sp>
      <p:sp>
        <p:nvSpPr>
          <p:cNvPr id="74" name="Text 32"/>
          <p:cNvSpPr/>
          <p:nvPr/>
        </p:nvSpPr>
        <p:spPr>
          <a:xfrm>
            <a:off x="8512662" y="2743200"/>
            <a:ext cx="294545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l">
              <a:lnSpc>
                <a:spcPts val="1500"/>
              </a:lnSpc>
              <a:buSzPct val="100000"/>
            </a:pPr>
            <a:r>
              <a:rPr lang="en-US" sz="1050" dirty="0" smtClean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170</a:t>
            </a:r>
            <a:r>
              <a:rPr lang="en-US" sz="105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개 이상의 오픈소스 커넥터</a:t>
            </a:r>
            <a:endParaRPr lang="en-US" sz="1050" dirty="0"/>
          </a:p>
        </p:txBody>
      </p:sp>
      <p:sp>
        <p:nvSpPr>
          <p:cNvPr id="75" name="Text 33"/>
          <p:cNvSpPr/>
          <p:nvPr/>
        </p:nvSpPr>
        <p:spPr>
          <a:xfrm>
            <a:off x="8318450" y="3086100"/>
            <a:ext cx="330190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장점</a:t>
            </a:r>
            <a:endParaRPr lang="en-US" sz="1050" dirty="0"/>
          </a:p>
        </p:txBody>
      </p:sp>
      <p:sp>
        <p:nvSpPr>
          <p:cNvPr id="76" name="Text 34"/>
          <p:cNvSpPr/>
          <p:nvPr/>
        </p:nvSpPr>
        <p:spPr>
          <a:xfrm>
            <a:off x="8489900" y="3352800"/>
            <a:ext cx="20536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오픈소스, 커스터마이징 용이</a:t>
            </a:r>
            <a:endParaRPr lang="en-US" sz="1050" dirty="0"/>
          </a:p>
        </p:txBody>
      </p:sp>
      <p:sp>
        <p:nvSpPr>
          <p:cNvPr id="77" name="Text 35"/>
          <p:cNvSpPr/>
          <p:nvPr/>
        </p:nvSpPr>
        <p:spPr>
          <a:xfrm>
            <a:off x="8489900" y="3581400"/>
            <a:ext cx="173361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다양한 소스/목적지 지원</a:t>
            </a:r>
            <a:endParaRPr lang="en-US" sz="1050" dirty="0"/>
          </a:p>
        </p:txBody>
      </p:sp>
      <p:sp>
        <p:nvSpPr>
          <p:cNvPr id="78" name="Text 36"/>
          <p:cNvSpPr/>
          <p:nvPr/>
        </p:nvSpPr>
        <p:spPr>
          <a:xfrm>
            <a:off x="8489900" y="3810000"/>
            <a:ext cx="257817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데이터 엔지니어링 팀의 유연한 개발</a:t>
            </a:r>
            <a:endParaRPr lang="en-US" sz="1050" dirty="0"/>
          </a:p>
        </p:txBody>
      </p:sp>
      <p:sp>
        <p:nvSpPr>
          <p:cNvPr id="79" name="Text 37"/>
          <p:cNvSpPr/>
          <p:nvPr/>
        </p:nvSpPr>
        <p:spPr>
          <a:xfrm>
            <a:off x="8318450" y="4114800"/>
            <a:ext cx="330190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단점</a:t>
            </a:r>
            <a:endParaRPr lang="en-US" sz="1050" dirty="0"/>
          </a:p>
        </p:txBody>
      </p:sp>
      <p:sp>
        <p:nvSpPr>
          <p:cNvPr id="80" name="Text 38"/>
          <p:cNvSpPr/>
          <p:nvPr/>
        </p:nvSpPr>
        <p:spPr>
          <a:xfrm>
            <a:off x="8489900" y="4381500"/>
            <a:ext cx="12090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기술 전문성 요구</a:t>
            </a:r>
            <a:endParaRPr lang="en-US" sz="1050" dirty="0"/>
          </a:p>
        </p:txBody>
      </p:sp>
      <p:sp>
        <p:nvSpPr>
          <p:cNvPr id="81" name="Text 39"/>
          <p:cNvSpPr/>
          <p:nvPr/>
        </p:nvSpPr>
        <p:spPr>
          <a:xfrm>
            <a:off x="8489900" y="4610100"/>
            <a:ext cx="173361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일부 커넥터 미완성 상태</a:t>
            </a:r>
            <a:endParaRPr lang="en-US" sz="1050" dirty="0"/>
          </a:p>
        </p:txBody>
      </p:sp>
      <p:sp>
        <p:nvSpPr>
          <p:cNvPr id="82" name="Text 40"/>
          <p:cNvSpPr/>
          <p:nvPr/>
        </p:nvSpPr>
        <p:spPr>
          <a:xfrm>
            <a:off x="381000" y="6134100"/>
            <a:ext cx="114300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각 </a:t>
            </a:r>
            <a:r>
              <a:rPr lang="en-US" sz="1050" dirty="0" err="1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솔루션의</a:t>
            </a:r>
            <a:r>
              <a:rPr lang="en-US" sz="10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en-US" sz="1050" dirty="0" err="1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장점을</a:t>
            </a:r>
            <a:r>
              <a:rPr lang="en-US" sz="105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ko-KR" altLang="en-US" sz="105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취합</a:t>
            </a:r>
            <a:r>
              <a:rPr lang="en-US" sz="1050" dirty="0" err="1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하여</a:t>
            </a:r>
            <a:r>
              <a:rPr lang="en-US" sz="105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en-US" sz="10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사용자 편의성과 유연성을 극대화하는 방향으로 개발 전략을 수립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949549"/>
            <a:ext cx="11275291" cy="2622326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800100"/>
            <a:ext cx="762000" cy="38100"/>
          </a:xfrm>
          <a:prstGeom prst="rect">
            <a:avLst/>
          </a:prstGeom>
        </p:spPr>
      </p:pic>
      <p:sp>
        <p:nvSpPr>
          <p:cNvPr id="49" name="Text 0"/>
          <p:cNvSpPr/>
          <p:nvPr/>
        </p:nvSpPr>
        <p:spPr>
          <a:xfrm>
            <a:off x="381000" y="381000"/>
            <a:ext cx="114300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핵심 아키텍처 및 개발 전략</a:t>
            </a:r>
            <a:endParaRPr lang="en-US" sz="2250" dirty="0"/>
          </a:p>
        </p:txBody>
      </p:sp>
      <p:sp>
        <p:nvSpPr>
          <p:cNvPr id="50" name="Text 1"/>
          <p:cNvSpPr/>
          <p:nvPr/>
        </p:nvSpPr>
        <p:spPr>
          <a:xfrm>
            <a:off x="1190200" y="1305599"/>
            <a:ext cx="1499366" cy="25359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데이터 소스</a:t>
            </a:r>
            <a:endParaRPr lang="en-US" sz="1350" dirty="0"/>
          </a:p>
        </p:txBody>
      </p:sp>
      <p:grpSp>
        <p:nvGrpSpPr>
          <p:cNvPr id="17" name="그룹 16"/>
          <p:cNvGrpSpPr/>
          <p:nvPr/>
        </p:nvGrpSpPr>
        <p:grpSpPr>
          <a:xfrm>
            <a:off x="1635326" y="1559985"/>
            <a:ext cx="466725" cy="455093"/>
            <a:chOff x="1250365" y="1947551"/>
            <a:chExt cx="466725" cy="455093"/>
          </a:xfrm>
        </p:grpSpPr>
        <p:pic>
          <p:nvPicPr>
            <p:cNvPr id="6" name="Image 4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376551" y="1947551"/>
              <a:ext cx="200025" cy="304800"/>
            </a:xfrm>
            <a:prstGeom prst="rect">
              <a:avLst/>
            </a:prstGeom>
          </p:spPr>
        </p:pic>
        <p:sp>
          <p:nvSpPr>
            <p:cNvPr id="51" name="Text 2"/>
            <p:cNvSpPr/>
            <p:nvPr/>
          </p:nvSpPr>
          <p:spPr>
            <a:xfrm>
              <a:off x="1250365" y="2229494"/>
              <a:ext cx="466725" cy="17315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 algn="ctr">
                <a:lnSpc>
                  <a:spcPts val="1500"/>
                </a:lnSpc>
                <a:buNone/>
              </a:pPr>
              <a:r>
                <a:rPr lang="en-US" sz="1050" b="1" dirty="0">
                  <a:solidFill>
                    <a:srgbClr val="333333"/>
                  </a:solidFill>
                  <a:latin typeface="Nanum Gothic" pitchFamily="34" charset="0"/>
                  <a:ea typeface="Nanum Gothic" pitchFamily="34" charset="-122"/>
                  <a:cs typeface="Nanum Gothic" pitchFamily="34" charset="-120"/>
                </a:rPr>
                <a:t>RDB</a:t>
              </a:r>
              <a:endParaRPr lang="en-US" sz="1050" dirty="0"/>
            </a:p>
          </p:txBody>
        </p:sp>
      </p:grpSp>
      <p:grpSp>
        <p:nvGrpSpPr>
          <p:cNvPr id="16" name="그룹 15"/>
          <p:cNvGrpSpPr/>
          <p:nvPr/>
        </p:nvGrpSpPr>
        <p:grpSpPr>
          <a:xfrm>
            <a:off x="1646754" y="2047235"/>
            <a:ext cx="390799" cy="476293"/>
            <a:chOff x="1954389" y="1947551"/>
            <a:chExt cx="390799" cy="476293"/>
          </a:xfrm>
        </p:grpSpPr>
        <p:pic>
          <p:nvPicPr>
            <p:cNvPr id="8" name="Image 6" descr="preencode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076068" y="1947551"/>
              <a:ext cx="171450" cy="304800"/>
            </a:xfrm>
            <a:prstGeom prst="rect">
              <a:avLst/>
            </a:prstGeom>
          </p:spPr>
        </p:pic>
        <p:sp>
          <p:nvSpPr>
            <p:cNvPr id="52" name="Text 3"/>
            <p:cNvSpPr/>
            <p:nvPr/>
          </p:nvSpPr>
          <p:spPr>
            <a:xfrm>
              <a:off x="1954389" y="2250694"/>
              <a:ext cx="390799" cy="17315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 algn="ctr">
                <a:lnSpc>
                  <a:spcPts val="1500"/>
                </a:lnSpc>
                <a:buNone/>
              </a:pPr>
              <a:r>
                <a:rPr lang="en-US" sz="1050" b="1" dirty="0">
                  <a:solidFill>
                    <a:srgbClr val="333333"/>
                  </a:solidFill>
                  <a:latin typeface="Nanum Gothic" pitchFamily="34" charset="0"/>
                  <a:ea typeface="Nanum Gothic" pitchFamily="34" charset="-122"/>
                  <a:cs typeface="Nanum Gothic" pitchFamily="34" charset="-120"/>
                </a:rPr>
                <a:t>파일</a:t>
              </a:r>
              <a:endParaRPr lang="en-US" sz="1050" dirty="0"/>
            </a:p>
          </p:txBody>
        </p:sp>
      </p:grpSp>
      <p:grpSp>
        <p:nvGrpSpPr>
          <p:cNvPr id="15" name="그룹 14"/>
          <p:cNvGrpSpPr/>
          <p:nvPr/>
        </p:nvGrpSpPr>
        <p:grpSpPr>
          <a:xfrm>
            <a:off x="1689000" y="3011112"/>
            <a:ext cx="395874" cy="462171"/>
            <a:chOff x="1278626" y="2593144"/>
            <a:chExt cx="395874" cy="462171"/>
          </a:xfrm>
        </p:grpSpPr>
        <p:pic>
          <p:nvPicPr>
            <p:cNvPr id="10" name="Image 8" descr="preencoded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333688" y="2593144"/>
              <a:ext cx="285750" cy="304800"/>
            </a:xfrm>
            <a:prstGeom prst="rect">
              <a:avLst/>
            </a:prstGeom>
          </p:spPr>
        </p:pic>
        <p:sp>
          <p:nvSpPr>
            <p:cNvPr id="53" name="Text 4"/>
            <p:cNvSpPr/>
            <p:nvPr/>
          </p:nvSpPr>
          <p:spPr>
            <a:xfrm>
              <a:off x="1278626" y="2864815"/>
              <a:ext cx="395874" cy="1905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 algn="ctr">
                <a:lnSpc>
                  <a:spcPts val="1500"/>
                </a:lnSpc>
                <a:buNone/>
              </a:pPr>
              <a:r>
                <a:rPr lang="en-US" sz="1050" b="1" dirty="0">
                  <a:solidFill>
                    <a:srgbClr val="333333"/>
                  </a:solidFill>
                  <a:latin typeface="Nanum Gothic" pitchFamily="34" charset="0"/>
                  <a:ea typeface="Nanum Gothic" pitchFamily="34" charset="-122"/>
                  <a:cs typeface="Nanum Gothic" pitchFamily="34" charset="-120"/>
                </a:rPr>
                <a:t>API</a:t>
              </a:r>
              <a:endParaRPr lang="en-US" sz="1050" dirty="0"/>
            </a:p>
          </p:txBody>
        </p:sp>
      </p:grpSp>
      <p:grpSp>
        <p:nvGrpSpPr>
          <p:cNvPr id="3" name="그룹 2"/>
          <p:cNvGrpSpPr/>
          <p:nvPr/>
        </p:nvGrpSpPr>
        <p:grpSpPr>
          <a:xfrm>
            <a:off x="1596310" y="2536253"/>
            <a:ext cx="530428" cy="423835"/>
            <a:chOff x="1895946" y="2593144"/>
            <a:chExt cx="530428" cy="423835"/>
          </a:xfrm>
        </p:grpSpPr>
        <p:pic>
          <p:nvPicPr>
            <p:cNvPr id="12" name="Image 10" descr="preencoded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047493" y="2593144"/>
              <a:ext cx="228600" cy="304800"/>
            </a:xfrm>
            <a:prstGeom prst="rect">
              <a:avLst/>
            </a:prstGeom>
          </p:spPr>
        </p:pic>
        <p:sp>
          <p:nvSpPr>
            <p:cNvPr id="54" name="Text 5"/>
            <p:cNvSpPr/>
            <p:nvPr/>
          </p:nvSpPr>
          <p:spPr>
            <a:xfrm>
              <a:off x="1895946" y="2865786"/>
              <a:ext cx="530428" cy="151193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 algn="ctr">
                <a:lnSpc>
                  <a:spcPts val="1500"/>
                </a:lnSpc>
                <a:buNone/>
              </a:pPr>
              <a:r>
                <a:rPr lang="en-US" sz="1050" b="1" dirty="0">
                  <a:solidFill>
                    <a:srgbClr val="333333"/>
                  </a:solidFill>
                  <a:latin typeface="Nanum Gothic" pitchFamily="34" charset="0"/>
                  <a:ea typeface="Nanum Gothic" pitchFamily="34" charset="-122"/>
                  <a:cs typeface="Nanum Gothic" pitchFamily="34" charset="-120"/>
                </a:rPr>
                <a:t>Kafka</a:t>
              </a:r>
              <a:endParaRPr lang="en-US" sz="1050" dirty="0"/>
            </a:p>
          </p:txBody>
        </p:sp>
      </p:grpSp>
      <p:sp>
        <p:nvSpPr>
          <p:cNvPr id="55" name="Text 6"/>
          <p:cNvSpPr/>
          <p:nvPr/>
        </p:nvSpPr>
        <p:spPr>
          <a:xfrm>
            <a:off x="9595868" y="1298965"/>
            <a:ext cx="1483015" cy="26686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데이터 타겟</a:t>
            </a:r>
            <a:endParaRPr lang="en-US" sz="1350" dirty="0"/>
          </a:p>
        </p:txBody>
      </p:sp>
      <p:grpSp>
        <p:nvGrpSpPr>
          <p:cNvPr id="2" name="그룹 1"/>
          <p:cNvGrpSpPr/>
          <p:nvPr/>
        </p:nvGrpSpPr>
        <p:grpSpPr>
          <a:xfrm>
            <a:off x="9762994" y="2240315"/>
            <a:ext cx="1190625" cy="628650"/>
            <a:chOff x="8013382" y="2370628"/>
            <a:chExt cx="1190625" cy="628650"/>
          </a:xfrm>
        </p:grpSpPr>
        <p:pic>
          <p:nvPicPr>
            <p:cNvPr id="14" name="Image 12" descr="preencoded.pn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472719" y="2370628"/>
              <a:ext cx="247650" cy="342900"/>
            </a:xfrm>
            <a:prstGeom prst="rect">
              <a:avLst/>
            </a:prstGeom>
          </p:spPr>
        </p:pic>
        <p:sp>
          <p:nvSpPr>
            <p:cNvPr id="56" name="Text 7"/>
            <p:cNvSpPr/>
            <p:nvPr/>
          </p:nvSpPr>
          <p:spPr>
            <a:xfrm>
              <a:off x="8013382" y="2732578"/>
              <a:ext cx="1190625" cy="2667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 algn="ctr">
                <a:lnSpc>
                  <a:spcPts val="2100"/>
                </a:lnSpc>
                <a:buNone/>
              </a:pPr>
              <a:r>
                <a:rPr lang="en-US" sz="1350" b="1" dirty="0">
                  <a:solidFill>
                    <a:srgbClr val="333333"/>
                  </a:solidFill>
                  <a:latin typeface="Nanum Gothic" pitchFamily="34" charset="0"/>
                  <a:ea typeface="Nanum Gothic" pitchFamily="34" charset="-122"/>
                  <a:cs typeface="Nanum Gothic" pitchFamily="34" charset="-120"/>
                </a:rPr>
                <a:t>MongoDB</a:t>
              </a:r>
              <a:endParaRPr lang="en-US" sz="1350" dirty="0"/>
            </a:p>
          </p:txBody>
        </p:sp>
      </p:grpSp>
      <p:pic>
        <p:nvPicPr>
          <p:cNvPr id="7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3733800"/>
            <a:ext cx="5753100" cy="2362200"/>
          </a:xfrm>
          <a:prstGeom prst="rect">
            <a:avLst/>
          </a:prstGeom>
        </p:spPr>
      </p:pic>
      <p:pic>
        <p:nvPicPr>
          <p:cNvPr id="78" name="Image 6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6484" y="4229100"/>
            <a:ext cx="371475" cy="495300"/>
          </a:xfrm>
          <a:prstGeom prst="rect">
            <a:avLst/>
          </a:prstGeom>
        </p:spPr>
      </p:pic>
      <p:pic>
        <p:nvPicPr>
          <p:cNvPr id="79" name="Image 7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0784" y="4343400"/>
            <a:ext cx="142875" cy="266700"/>
          </a:xfrm>
          <a:prstGeom prst="rect">
            <a:avLst/>
          </a:prstGeom>
        </p:spPr>
      </p:pic>
      <p:pic>
        <p:nvPicPr>
          <p:cNvPr id="80" name="Image 8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56484" y="4838700"/>
            <a:ext cx="419100" cy="495300"/>
          </a:xfrm>
          <a:prstGeom prst="rect">
            <a:avLst/>
          </a:prstGeom>
        </p:spPr>
      </p:pic>
      <p:pic>
        <p:nvPicPr>
          <p:cNvPr id="81" name="Image 9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70784" y="4953000"/>
            <a:ext cx="190500" cy="266700"/>
          </a:xfrm>
          <a:prstGeom prst="rect">
            <a:avLst/>
          </a:prstGeom>
        </p:spPr>
      </p:pic>
      <p:pic>
        <p:nvPicPr>
          <p:cNvPr id="82" name="Image 10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56484" y="5448300"/>
            <a:ext cx="400050" cy="495300"/>
          </a:xfrm>
          <a:prstGeom prst="rect">
            <a:avLst/>
          </a:prstGeom>
        </p:spPr>
      </p:pic>
      <p:pic>
        <p:nvPicPr>
          <p:cNvPr id="83" name="Image 11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70784" y="5562600"/>
            <a:ext cx="171450" cy="266700"/>
          </a:xfrm>
          <a:prstGeom prst="rect">
            <a:avLst/>
          </a:prstGeom>
        </p:spPr>
      </p:pic>
      <p:pic>
        <p:nvPicPr>
          <p:cNvPr id="84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9568" y="3733800"/>
            <a:ext cx="5326723" cy="2362200"/>
          </a:xfrm>
          <a:prstGeom prst="rect">
            <a:avLst/>
          </a:prstGeom>
        </p:spPr>
      </p:pic>
      <p:pic>
        <p:nvPicPr>
          <p:cNvPr id="85" name="Image 13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81968" y="4267200"/>
            <a:ext cx="152400" cy="152400"/>
          </a:xfrm>
          <a:prstGeom prst="rect">
            <a:avLst/>
          </a:prstGeom>
        </p:spPr>
      </p:pic>
      <p:pic>
        <p:nvPicPr>
          <p:cNvPr id="8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81968" y="4772025"/>
            <a:ext cx="152400" cy="152400"/>
          </a:xfrm>
          <a:prstGeom prst="rect">
            <a:avLst/>
          </a:prstGeom>
        </p:spPr>
      </p:pic>
      <p:pic>
        <p:nvPicPr>
          <p:cNvPr id="8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81968" y="5276850"/>
            <a:ext cx="152400" cy="152400"/>
          </a:xfrm>
          <a:prstGeom prst="rect">
            <a:avLst/>
          </a:prstGeom>
        </p:spPr>
      </p:pic>
      <p:sp>
        <p:nvSpPr>
          <p:cNvPr id="88" name="Text 2"/>
          <p:cNvSpPr/>
          <p:nvPr/>
        </p:nvSpPr>
        <p:spPr>
          <a:xfrm>
            <a:off x="556484" y="3886200"/>
            <a:ext cx="54483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핵심 모듈 구성</a:t>
            </a:r>
            <a:endParaRPr lang="en-US" sz="1500" dirty="0"/>
          </a:p>
        </p:txBody>
      </p:sp>
      <p:sp>
        <p:nvSpPr>
          <p:cNvPr id="89" name="Text 3"/>
          <p:cNvSpPr/>
          <p:nvPr/>
        </p:nvSpPr>
        <p:spPr>
          <a:xfrm>
            <a:off x="1042259" y="4229100"/>
            <a:ext cx="452437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데이터 수집 모듈</a:t>
            </a:r>
            <a:endParaRPr lang="en-US" sz="1350" dirty="0"/>
          </a:p>
        </p:txBody>
      </p:sp>
      <p:sp>
        <p:nvSpPr>
          <p:cNvPr id="90" name="Text 4"/>
          <p:cNvSpPr/>
          <p:nvPr/>
        </p:nvSpPr>
        <p:spPr>
          <a:xfrm>
            <a:off x="1042259" y="4495800"/>
            <a:ext cx="493944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RDB, 파일, API, Kafka 등 다양한 소스 시스템에서 데이터를 수집하는 인터페이스</a:t>
            </a:r>
            <a:endParaRPr lang="en-US" sz="1050" dirty="0"/>
          </a:p>
        </p:txBody>
      </p:sp>
      <p:sp>
        <p:nvSpPr>
          <p:cNvPr id="91" name="Text 5"/>
          <p:cNvSpPr/>
          <p:nvPr/>
        </p:nvSpPr>
        <p:spPr>
          <a:xfrm>
            <a:off x="1089884" y="4838700"/>
            <a:ext cx="376237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데이터 처리 모듈</a:t>
            </a:r>
            <a:endParaRPr lang="en-US" sz="1350" dirty="0"/>
          </a:p>
        </p:txBody>
      </p:sp>
      <p:sp>
        <p:nvSpPr>
          <p:cNvPr id="92" name="Text 6"/>
          <p:cNvSpPr/>
          <p:nvPr/>
        </p:nvSpPr>
        <p:spPr>
          <a:xfrm>
            <a:off x="1089884" y="5105400"/>
            <a:ext cx="45148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스키마 매핑, 데이터 변환, 유효성 검증을 담당하는 중앙 처리 시스템</a:t>
            </a:r>
            <a:endParaRPr lang="en-US" sz="1050" dirty="0"/>
          </a:p>
        </p:txBody>
      </p:sp>
      <p:sp>
        <p:nvSpPr>
          <p:cNvPr id="93" name="Text 7"/>
          <p:cNvSpPr/>
          <p:nvPr/>
        </p:nvSpPr>
        <p:spPr>
          <a:xfrm>
            <a:off x="1070834" y="5448300"/>
            <a:ext cx="368617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데이터 적재 모듈</a:t>
            </a:r>
            <a:endParaRPr lang="en-US" sz="1350" dirty="0"/>
          </a:p>
        </p:txBody>
      </p:sp>
      <p:sp>
        <p:nvSpPr>
          <p:cNvPr id="94" name="Text 8"/>
          <p:cNvSpPr/>
          <p:nvPr/>
        </p:nvSpPr>
        <p:spPr>
          <a:xfrm>
            <a:off x="1070834" y="5715000"/>
            <a:ext cx="442341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MongoDB 타겟으로 처리된 데이터를 효율적으로 적재하는 시스템</a:t>
            </a:r>
            <a:endParaRPr lang="en-US" sz="1050" dirty="0"/>
          </a:p>
        </p:txBody>
      </p:sp>
      <p:sp>
        <p:nvSpPr>
          <p:cNvPr id="95" name="Text 9"/>
          <p:cNvSpPr/>
          <p:nvPr/>
        </p:nvSpPr>
        <p:spPr>
          <a:xfrm>
            <a:off x="6481967" y="3886200"/>
            <a:ext cx="5047423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개발 전략</a:t>
            </a:r>
            <a:endParaRPr lang="en-US" sz="1500" dirty="0"/>
          </a:p>
        </p:txBody>
      </p:sp>
      <p:sp>
        <p:nvSpPr>
          <p:cNvPr id="96" name="Text 10"/>
          <p:cNvSpPr/>
          <p:nvPr/>
        </p:nvSpPr>
        <p:spPr>
          <a:xfrm>
            <a:off x="6710568" y="4276725"/>
            <a:ext cx="1931670" cy="1428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마이크로서비스 아키텍처</a:t>
            </a:r>
            <a:endParaRPr lang="en-US" sz="1200" dirty="0"/>
          </a:p>
        </p:txBody>
      </p:sp>
      <p:sp>
        <p:nvSpPr>
          <p:cNvPr id="97" name="Text 11"/>
          <p:cNvSpPr/>
          <p:nvPr/>
        </p:nvSpPr>
        <p:spPr>
          <a:xfrm>
            <a:off x="6710568" y="4467225"/>
            <a:ext cx="403479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독립적으로 배포 가능한 모듈형 구조로 개발하여 확장성 확보</a:t>
            </a:r>
            <a:endParaRPr lang="en-US" sz="1050" dirty="0"/>
          </a:p>
        </p:txBody>
      </p:sp>
      <p:sp>
        <p:nvSpPr>
          <p:cNvPr id="98" name="Text 12"/>
          <p:cNvSpPr/>
          <p:nvPr/>
        </p:nvSpPr>
        <p:spPr>
          <a:xfrm>
            <a:off x="6710568" y="4781550"/>
            <a:ext cx="1291590" cy="1428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커넥터 기반 설계</a:t>
            </a:r>
            <a:endParaRPr lang="en-US" sz="1200" dirty="0"/>
          </a:p>
        </p:txBody>
      </p:sp>
      <p:sp>
        <p:nvSpPr>
          <p:cNvPr id="99" name="Text 13"/>
          <p:cNvSpPr/>
          <p:nvPr/>
        </p:nvSpPr>
        <p:spPr>
          <a:xfrm>
            <a:off x="6710568" y="4972050"/>
            <a:ext cx="403479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다양한 데이터 소스에 대한 표준화된 커넥터 인터페이스 구현</a:t>
            </a:r>
            <a:endParaRPr lang="en-US" sz="1050" dirty="0"/>
          </a:p>
        </p:txBody>
      </p:sp>
      <p:sp>
        <p:nvSpPr>
          <p:cNvPr id="100" name="Text 14"/>
          <p:cNvSpPr/>
          <p:nvPr/>
        </p:nvSpPr>
        <p:spPr>
          <a:xfrm>
            <a:off x="6710568" y="5286375"/>
            <a:ext cx="1805940" cy="1428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실시간 동기화 메커니즘</a:t>
            </a:r>
            <a:endParaRPr lang="en-US" sz="1200" dirty="0"/>
          </a:p>
        </p:txBody>
      </p:sp>
      <p:sp>
        <p:nvSpPr>
          <p:cNvPr id="101" name="Text 15"/>
          <p:cNvSpPr/>
          <p:nvPr/>
        </p:nvSpPr>
        <p:spPr>
          <a:xfrm>
            <a:off x="6710568" y="5476875"/>
            <a:ext cx="387477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변경 데이터 캡처(CDC) 기반의 실시간 데이터 동기화 구현</a:t>
            </a:r>
            <a:endParaRPr lang="en-US" sz="1050" dirty="0"/>
          </a:p>
        </p:txBody>
      </p:sp>
      <p:sp>
        <p:nvSpPr>
          <p:cNvPr id="102" name="Text 1"/>
          <p:cNvSpPr/>
          <p:nvPr/>
        </p:nvSpPr>
        <p:spPr>
          <a:xfrm>
            <a:off x="488773" y="1002401"/>
            <a:ext cx="51435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ko-KR" altLang="en-US" sz="1500" b="1" dirty="0" err="1" smtClean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모듈형</a:t>
            </a:r>
            <a:r>
              <a:rPr lang="ko-KR" altLang="en-US" sz="1500" b="1" dirty="0" smtClean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구조 기반 아키텍처</a:t>
            </a:r>
            <a:endParaRPr lang="en-US" sz="1500" dirty="0"/>
          </a:p>
        </p:txBody>
      </p:sp>
      <p:pic>
        <p:nvPicPr>
          <p:cNvPr id="104" name="Image 25" descr="preencoded.png"/>
          <p:cNvPicPr>
            <a:picLocks noChangeAspect="1"/>
          </p:cNvPicPr>
          <p:nvPr/>
        </p:nvPicPr>
        <p:blipFill>
          <a:blip r:embed="rId18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colorTemperature colorTemp="4315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23102" y="2133600"/>
            <a:ext cx="571500" cy="571500"/>
          </a:xfrm>
          <a:prstGeom prst="rect">
            <a:avLst/>
          </a:prstGeom>
          <a:noFill/>
        </p:spPr>
      </p:pic>
      <p:pic>
        <p:nvPicPr>
          <p:cNvPr id="105" name="Image 25" descr="preencoded.png"/>
          <p:cNvPicPr>
            <a:picLocks noChangeAspect="1"/>
          </p:cNvPicPr>
          <p:nvPr/>
        </p:nvPicPr>
        <p:blipFill>
          <a:blip r:embed="rId20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sharpenSoften amount="21000"/>
                    </a14:imgEffect>
                    <a14:imgEffect>
                      <a14:colorTemperature colorTemp="11200"/>
                    </a14:imgEffect>
                    <a14:imgEffect>
                      <a14:saturation sat="400000"/>
                    </a14:imgEffect>
                    <a14:imgEffect>
                      <a14:brightnessContrast contrast="4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654956" y="2142381"/>
            <a:ext cx="693588" cy="69358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</p:pic>
      <p:pic>
        <p:nvPicPr>
          <p:cNvPr id="106" name="Image 25" descr="preencoded.png"/>
          <p:cNvPicPr>
            <a:picLocks noChangeAspect="1"/>
          </p:cNvPicPr>
          <p:nvPr/>
        </p:nvPicPr>
        <p:blipFill>
          <a:blip r:embed="rId21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saturation sat="8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708371" y="1652588"/>
            <a:ext cx="571500" cy="571500"/>
          </a:xfrm>
          <a:prstGeom prst="rect">
            <a:avLst/>
          </a:prstGeom>
        </p:spPr>
      </p:pic>
      <p:pic>
        <p:nvPicPr>
          <p:cNvPr id="108" name="Image 25" descr="preencoded.png"/>
          <p:cNvPicPr>
            <a:picLocks noChangeAspect="1"/>
          </p:cNvPicPr>
          <p:nvPr/>
        </p:nvPicPr>
        <p:blipFill>
          <a:blip r:embed="rId22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085779" y="2154589"/>
            <a:ext cx="571500" cy="571500"/>
          </a:xfrm>
          <a:prstGeom prst="rect">
            <a:avLst/>
          </a:prstGeom>
        </p:spPr>
      </p:pic>
      <p:pic>
        <p:nvPicPr>
          <p:cNvPr id="109" name="Image 25" descr="preencoded.png"/>
          <p:cNvPicPr>
            <a:picLocks noChangeAspect="1"/>
          </p:cNvPicPr>
          <p:nvPr/>
        </p:nvPicPr>
        <p:blipFill>
          <a:blip r:embed="rId21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saturation sat="8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744013" y="2787516"/>
            <a:ext cx="571500" cy="571500"/>
          </a:xfrm>
          <a:prstGeom prst="rect">
            <a:avLst/>
          </a:prstGeom>
        </p:spPr>
      </p:pic>
      <p:sp>
        <p:nvSpPr>
          <p:cNvPr id="110" name="Text 2"/>
          <p:cNvSpPr/>
          <p:nvPr/>
        </p:nvSpPr>
        <p:spPr>
          <a:xfrm>
            <a:off x="5535025" y="2393696"/>
            <a:ext cx="9334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ko-KR" altLang="en-US" sz="1050" b="1" dirty="0" smtClean="0">
                <a:solidFill>
                  <a:srgbClr val="333333"/>
                </a:solidFill>
                <a:latin typeface="Nanum Gothic" pitchFamily="34" charset="0"/>
              </a:rPr>
              <a:t>스키마 변환</a:t>
            </a:r>
            <a:endParaRPr lang="en-US" sz="1050" dirty="0"/>
          </a:p>
        </p:txBody>
      </p:sp>
      <p:sp>
        <p:nvSpPr>
          <p:cNvPr id="111" name="Text 2"/>
          <p:cNvSpPr/>
          <p:nvPr/>
        </p:nvSpPr>
        <p:spPr>
          <a:xfrm>
            <a:off x="7904804" y="2778599"/>
            <a:ext cx="9334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ko-KR" altLang="en-US" sz="1050" b="1" smtClean="0">
                <a:solidFill>
                  <a:srgbClr val="333333"/>
                </a:solidFill>
                <a:latin typeface="Nanum Gothic" pitchFamily="34" charset="0"/>
              </a:rPr>
              <a:t>데이터 적재</a:t>
            </a:r>
            <a:endParaRPr lang="en-US" sz="1050" dirty="0"/>
          </a:p>
        </p:txBody>
      </p:sp>
      <p:sp>
        <p:nvSpPr>
          <p:cNvPr id="112" name="Text 2"/>
          <p:cNvSpPr/>
          <p:nvPr/>
        </p:nvSpPr>
        <p:spPr>
          <a:xfrm>
            <a:off x="3674165" y="2886819"/>
            <a:ext cx="9334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ko-KR" altLang="en-US" sz="1050" b="1" dirty="0" smtClean="0">
                <a:solidFill>
                  <a:srgbClr val="333333"/>
                </a:solidFill>
                <a:latin typeface="Nanum Gothic" pitchFamily="34" charset="0"/>
              </a:rPr>
              <a:t>데이터 수집</a:t>
            </a:r>
            <a:endParaRPr lang="en-US" sz="1050" dirty="0"/>
          </a:p>
        </p:txBody>
      </p:sp>
      <p:pic>
        <p:nvPicPr>
          <p:cNvPr id="113" name="Image 25" descr="preencoded.png"/>
          <p:cNvPicPr preferRelativeResize="0">
            <a:picLocks/>
          </p:cNvPicPr>
          <p:nvPr/>
        </p:nvPicPr>
        <p:blipFill>
          <a:blip r:embed="rId23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1005666">
            <a:off x="2004496" y="2068503"/>
            <a:ext cx="1842711" cy="45719"/>
          </a:xfrm>
          <a:prstGeom prst="rect">
            <a:avLst/>
          </a:prstGeom>
        </p:spPr>
      </p:pic>
      <p:pic>
        <p:nvPicPr>
          <p:cNvPr id="114" name="Image 25" descr="preencoded.png"/>
          <p:cNvPicPr preferRelativeResize="0">
            <a:picLocks/>
          </p:cNvPicPr>
          <p:nvPr/>
        </p:nvPicPr>
        <p:blipFill>
          <a:blip r:embed="rId23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flipV="1">
            <a:off x="4516306" y="2426278"/>
            <a:ext cx="1068550" cy="52566"/>
          </a:xfrm>
          <a:prstGeom prst="rect">
            <a:avLst/>
          </a:prstGeom>
        </p:spPr>
      </p:pic>
      <p:pic>
        <p:nvPicPr>
          <p:cNvPr id="116" name="Image 25" descr="preencoded.png"/>
          <p:cNvPicPr preferRelativeResize="0">
            <a:picLocks/>
          </p:cNvPicPr>
          <p:nvPr/>
        </p:nvPicPr>
        <p:blipFill>
          <a:blip r:embed="rId23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flipV="1">
            <a:off x="6408178" y="2455982"/>
            <a:ext cx="1609151" cy="45719"/>
          </a:xfrm>
          <a:prstGeom prst="rect">
            <a:avLst/>
          </a:prstGeom>
        </p:spPr>
      </p:pic>
      <p:pic>
        <p:nvPicPr>
          <p:cNvPr id="117" name="Image 25" descr="preencoded.png"/>
          <p:cNvPicPr preferRelativeResize="0">
            <a:picLocks/>
          </p:cNvPicPr>
          <p:nvPr/>
        </p:nvPicPr>
        <p:blipFill>
          <a:blip r:embed="rId23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flipV="1">
            <a:off x="8677158" y="2455981"/>
            <a:ext cx="1192398" cy="53129"/>
          </a:xfrm>
          <a:prstGeom prst="rect">
            <a:avLst/>
          </a:prstGeom>
        </p:spPr>
      </p:pic>
      <p:pic>
        <p:nvPicPr>
          <p:cNvPr id="122" name="Image 25" descr="preencoded.png"/>
          <p:cNvPicPr preferRelativeResize="0">
            <a:picLocks/>
          </p:cNvPicPr>
          <p:nvPr/>
        </p:nvPicPr>
        <p:blipFill>
          <a:blip r:embed="rId23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332517">
            <a:off x="1972549" y="2337985"/>
            <a:ext cx="1842711" cy="45719"/>
          </a:xfrm>
          <a:prstGeom prst="rect">
            <a:avLst/>
          </a:prstGeom>
        </p:spPr>
      </p:pic>
      <p:pic>
        <p:nvPicPr>
          <p:cNvPr id="123" name="Image 25" descr="preencoded.png"/>
          <p:cNvPicPr preferRelativeResize="0">
            <a:picLocks/>
          </p:cNvPicPr>
          <p:nvPr/>
        </p:nvPicPr>
        <p:blipFill>
          <a:blip r:embed="rId23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21192549">
            <a:off x="1983677" y="2605828"/>
            <a:ext cx="1842711" cy="45719"/>
          </a:xfrm>
          <a:prstGeom prst="rect">
            <a:avLst/>
          </a:prstGeom>
        </p:spPr>
      </p:pic>
      <p:pic>
        <p:nvPicPr>
          <p:cNvPr id="124" name="Image 25" descr="preencoded.png"/>
          <p:cNvPicPr preferRelativeResize="0">
            <a:picLocks/>
          </p:cNvPicPr>
          <p:nvPr/>
        </p:nvPicPr>
        <p:blipFill>
          <a:blip r:embed="rId23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20502770">
            <a:off x="2062595" y="2850988"/>
            <a:ext cx="1842711" cy="4571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800100"/>
            <a:ext cx="7620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1143000"/>
            <a:ext cx="5600700" cy="1905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333500"/>
            <a:ext cx="571500" cy="571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7238" y="1466850"/>
            <a:ext cx="200025" cy="304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3900" y="2057400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3900" y="2362200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3900" y="2667000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0300" y="1143000"/>
            <a:ext cx="5600700" cy="1905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0800" y="1333500"/>
            <a:ext cx="571500" cy="5715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00825" y="1466850"/>
            <a:ext cx="171450" cy="304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53200" y="2057400"/>
            <a:ext cx="15240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53200" y="2362200"/>
            <a:ext cx="1524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53200" y="2667000"/>
            <a:ext cx="1524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3276600"/>
            <a:ext cx="5600700" cy="19050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3467100"/>
            <a:ext cx="571500" cy="5715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4375" y="3600450"/>
            <a:ext cx="285750" cy="3048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3900" y="4191000"/>
            <a:ext cx="15240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3900" y="4495800"/>
            <a:ext cx="152400" cy="152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3900" y="4800600"/>
            <a:ext cx="15240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0300" y="3276600"/>
            <a:ext cx="5600700" cy="19050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00800" y="3467100"/>
            <a:ext cx="571500" cy="5715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72250" y="3600450"/>
            <a:ext cx="228600" cy="3048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53200" y="4191000"/>
            <a:ext cx="152400" cy="1524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53200" y="4495800"/>
            <a:ext cx="152400" cy="1524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53200" y="4800600"/>
            <a:ext cx="152400" cy="1524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265289" y="5438775"/>
            <a:ext cx="133350" cy="133350"/>
          </a:xfrm>
          <a:prstGeom prst="rect">
            <a:avLst/>
          </a:prstGeom>
        </p:spPr>
      </p:pic>
      <p:sp>
        <p:nvSpPr>
          <p:cNvPr id="30" name="Text 0"/>
          <p:cNvSpPr/>
          <p:nvPr/>
        </p:nvSpPr>
        <p:spPr>
          <a:xfrm>
            <a:off x="381000" y="381000"/>
            <a:ext cx="114300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데이터 소스 연결 방안</a:t>
            </a:r>
            <a:endParaRPr lang="en-US" sz="2250" dirty="0"/>
          </a:p>
        </p:txBody>
      </p:sp>
      <p:sp>
        <p:nvSpPr>
          <p:cNvPr id="31" name="Text 1"/>
          <p:cNvSpPr/>
          <p:nvPr/>
        </p:nvSpPr>
        <p:spPr>
          <a:xfrm>
            <a:off x="1295400" y="1333500"/>
            <a:ext cx="420516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 smtClean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RDB </a:t>
            </a:r>
            <a:r>
              <a:rPr lang="ko-KR" altLang="en-US" sz="1500" b="1" dirty="0" smtClean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커넥터</a:t>
            </a:r>
            <a:endParaRPr lang="en-US" sz="1500" dirty="0"/>
          </a:p>
        </p:txBody>
      </p:sp>
      <p:sp>
        <p:nvSpPr>
          <p:cNvPr id="32" name="Text 2"/>
          <p:cNvSpPr/>
          <p:nvPr/>
        </p:nvSpPr>
        <p:spPr>
          <a:xfrm>
            <a:off x="1295400" y="1600200"/>
            <a:ext cx="420516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JDBC 드라이버를 활용한 다양한 관계형 데이터베이스 연결</a:t>
            </a:r>
            <a:endParaRPr lang="en-US" sz="1050" dirty="0"/>
          </a:p>
        </p:txBody>
      </p:sp>
      <p:sp>
        <p:nvSpPr>
          <p:cNvPr id="33" name="Text 3"/>
          <p:cNvSpPr/>
          <p:nvPr/>
        </p:nvSpPr>
        <p:spPr>
          <a:xfrm>
            <a:off x="952500" y="2019300"/>
            <a:ext cx="403443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MySQL, PostgreSQL, Oracle 등 다양한 RDB 지원</a:t>
            </a:r>
            <a:endParaRPr lang="en-US" sz="1200" dirty="0"/>
          </a:p>
        </p:txBody>
      </p:sp>
      <p:sp>
        <p:nvSpPr>
          <p:cNvPr id="34" name="Text 4"/>
          <p:cNvSpPr/>
          <p:nvPr/>
        </p:nvSpPr>
        <p:spPr>
          <a:xfrm>
            <a:off x="952500" y="2324100"/>
            <a:ext cx="51308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변경 데이터 캡처(CDC) 기능을 통한 효율적인 데이터 변경 감지</a:t>
            </a:r>
            <a:endParaRPr lang="en-US" sz="1200" dirty="0"/>
          </a:p>
        </p:txBody>
      </p:sp>
      <p:sp>
        <p:nvSpPr>
          <p:cNvPr id="35" name="Text 5"/>
          <p:cNvSpPr/>
          <p:nvPr/>
        </p:nvSpPr>
        <p:spPr>
          <a:xfrm>
            <a:off x="952500" y="2628900"/>
            <a:ext cx="376011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 smtClean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Kafka </a:t>
            </a:r>
            <a:r>
              <a:rPr lang="en-US" sz="1200" dirty="0" err="1" smtClean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Connect의</a:t>
            </a:r>
            <a:r>
              <a:rPr lang="en-US" sz="1200" dirty="0" smtClean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JDBC </a:t>
            </a:r>
            <a:r>
              <a:rPr lang="en-US" sz="1200" dirty="0" err="1" smtClean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커넥터</a:t>
            </a:r>
            <a:r>
              <a:rPr lang="en-US" sz="1200" dirty="0" smtClean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en-US" sz="1200" dirty="0" err="1" smtClean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기능</a:t>
            </a:r>
            <a:r>
              <a:rPr lang="en-US" sz="1200" dirty="0" smtClean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en-US" sz="1200" dirty="0" err="1" smtClean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참고</a:t>
            </a:r>
            <a:r>
              <a:rPr lang="en-US" sz="1200" dirty="0" smtClean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en-US" sz="1200" dirty="0" err="1" smtClean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구현</a:t>
            </a:r>
            <a:endParaRPr lang="en-US" sz="1200" dirty="0"/>
          </a:p>
        </p:txBody>
      </p:sp>
      <p:sp>
        <p:nvSpPr>
          <p:cNvPr id="36" name="Text 6"/>
          <p:cNvSpPr/>
          <p:nvPr/>
        </p:nvSpPr>
        <p:spPr>
          <a:xfrm>
            <a:off x="7124700" y="1333500"/>
            <a:ext cx="317599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 err="1" smtClean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파일</a:t>
            </a:r>
            <a:r>
              <a:rPr lang="en-US" sz="1500" b="1" dirty="0" smtClean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ko-KR" altLang="en-US" sz="1500" b="1" dirty="0" smtClean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커넥터</a:t>
            </a:r>
            <a:endParaRPr lang="en-US" sz="1500" dirty="0"/>
          </a:p>
        </p:txBody>
      </p:sp>
      <p:sp>
        <p:nvSpPr>
          <p:cNvPr id="37" name="Text 7"/>
          <p:cNvSpPr/>
          <p:nvPr/>
        </p:nvSpPr>
        <p:spPr>
          <a:xfrm>
            <a:off x="7124700" y="1600200"/>
            <a:ext cx="381119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로컬 파일 시스템, FTP/SFTP, 클라우드 스토리지 연결</a:t>
            </a:r>
            <a:endParaRPr lang="en-US" sz="1050" dirty="0"/>
          </a:p>
        </p:txBody>
      </p:sp>
      <p:sp>
        <p:nvSpPr>
          <p:cNvPr id="38" name="Text 8"/>
          <p:cNvSpPr/>
          <p:nvPr/>
        </p:nvSpPr>
        <p:spPr>
          <a:xfrm>
            <a:off x="6781800" y="2019300"/>
            <a:ext cx="377368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CSV, JSON, Parquet 등 다양한 파일 형식 지원</a:t>
            </a:r>
            <a:endParaRPr lang="en-US" sz="1200" dirty="0"/>
          </a:p>
        </p:txBody>
      </p:sp>
      <p:sp>
        <p:nvSpPr>
          <p:cNvPr id="39" name="Text 9"/>
          <p:cNvSpPr/>
          <p:nvPr/>
        </p:nvSpPr>
        <p:spPr>
          <a:xfrm>
            <a:off x="6781800" y="2324100"/>
            <a:ext cx="309895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파일 변경 감지 및 증분 로드 기능 포함</a:t>
            </a:r>
            <a:endParaRPr lang="en-US" sz="1200" dirty="0"/>
          </a:p>
        </p:txBody>
      </p:sp>
      <p:sp>
        <p:nvSpPr>
          <p:cNvPr id="40" name="Text 10"/>
          <p:cNvSpPr/>
          <p:nvPr/>
        </p:nvSpPr>
        <p:spPr>
          <a:xfrm>
            <a:off x="6781800" y="2628900"/>
            <a:ext cx="479631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로컬, 원격 서버 및 클라우드 스토리지(S3, Azure Blob) 지원</a:t>
            </a:r>
            <a:endParaRPr lang="en-US" sz="1200" dirty="0"/>
          </a:p>
        </p:txBody>
      </p:sp>
      <p:sp>
        <p:nvSpPr>
          <p:cNvPr id="41" name="Text 11"/>
          <p:cNvSpPr/>
          <p:nvPr/>
        </p:nvSpPr>
        <p:spPr>
          <a:xfrm>
            <a:off x="1295400" y="3467100"/>
            <a:ext cx="447216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API </a:t>
            </a:r>
            <a:r>
              <a:rPr lang="ko-KR" altLang="en-US" sz="1500" b="1" dirty="0" smtClean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커넥터</a:t>
            </a:r>
            <a:endParaRPr lang="en-US" sz="1500" dirty="0"/>
          </a:p>
        </p:txBody>
      </p:sp>
      <p:sp>
        <p:nvSpPr>
          <p:cNvPr id="42" name="Text 12"/>
          <p:cNvSpPr/>
          <p:nvPr/>
        </p:nvSpPr>
        <p:spPr>
          <a:xfrm>
            <a:off x="1295400" y="3733800"/>
            <a:ext cx="447216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 err="1" smtClean="0">
                <a:solidFill>
                  <a:srgbClr val="6B728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API</a:t>
            </a:r>
            <a:r>
              <a:rPr lang="en-US" sz="1050" dirty="0" err="1">
                <a:solidFill>
                  <a:srgbClr val="6B728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를</a:t>
            </a:r>
            <a:r>
              <a:rPr lang="en-US" sz="1050" dirty="0">
                <a:solidFill>
                  <a:srgbClr val="6B728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호출하여 데이터를 주기적으로 가져오는 커넥터</a:t>
            </a:r>
            <a:endParaRPr lang="en-US" sz="1050" dirty="0"/>
          </a:p>
        </p:txBody>
      </p:sp>
      <p:sp>
        <p:nvSpPr>
          <p:cNvPr id="43" name="Text 13"/>
          <p:cNvSpPr/>
          <p:nvPr/>
        </p:nvSpPr>
        <p:spPr>
          <a:xfrm>
            <a:off x="952500" y="4152900"/>
            <a:ext cx="48768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altLang="ko-KR" sz="120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REST API, </a:t>
            </a:r>
            <a:r>
              <a:rPr lang="en-US" altLang="ko-KR" sz="1200" dirty="0" smtClean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SOAP, </a:t>
            </a:r>
            <a:r>
              <a:rPr lang="en-US" altLang="ko-KR" sz="1200" dirty="0" err="1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GraphQL</a:t>
            </a:r>
            <a:r>
              <a:rPr lang="en-US" altLang="ko-KR" sz="12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, </a:t>
            </a:r>
            <a:r>
              <a:rPr lang="en-US" altLang="ko-KR" sz="1200" dirty="0" err="1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WebSocket</a:t>
            </a:r>
            <a:r>
              <a:rPr lang="en-US" altLang="ko-KR" sz="1200" dirty="0" smtClean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en-US" altLang="ko-KR" sz="120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등 </a:t>
            </a:r>
            <a:r>
              <a:rPr lang="en-US" altLang="ko-KR" sz="1200" dirty="0" err="1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다양한</a:t>
            </a:r>
            <a:r>
              <a:rPr lang="en-US" altLang="ko-KR" sz="120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en-US" altLang="ko-KR" sz="1200" dirty="0" err="1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프로토콜</a:t>
            </a:r>
            <a:r>
              <a:rPr lang="en-US" altLang="ko-KR" sz="120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en-US" altLang="ko-KR" sz="1200" dirty="0" err="1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지원</a:t>
            </a:r>
            <a:endParaRPr lang="en-US" altLang="ko-KR" sz="1200" dirty="0"/>
          </a:p>
        </p:txBody>
      </p:sp>
      <p:sp>
        <p:nvSpPr>
          <p:cNvPr id="44" name="Text 14"/>
          <p:cNvSpPr/>
          <p:nvPr/>
        </p:nvSpPr>
        <p:spPr>
          <a:xfrm>
            <a:off x="952500" y="4457700"/>
            <a:ext cx="474487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altLang="ko-KR" sz="120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API Key, OAuth 등 </a:t>
            </a:r>
            <a:r>
              <a:rPr lang="en-US" altLang="ko-KR" sz="1200" dirty="0" err="1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다양한</a:t>
            </a:r>
            <a:r>
              <a:rPr lang="en-US" altLang="ko-KR" sz="120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en-US" altLang="ko-KR" sz="1200" dirty="0" err="1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인증</a:t>
            </a:r>
            <a:r>
              <a:rPr lang="en-US" altLang="ko-KR" sz="120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en-US" altLang="ko-KR" sz="1200" dirty="0" err="1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방식</a:t>
            </a:r>
            <a:r>
              <a:rPr lang="en-US" altLang="ko-KR" sz="120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en-US" altLang="ko-KR" sz="1200" dirty="0" err="1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지원</a:t>
            </a:r>
            <a:endParaRPr lang="en-US" altLang="ko-KR" sz="1200" dirty="0"/>
          </a:p>
        </p:txBody>
      </p:sp>
      <p:sp>
        <p:nvSpPr>
          <p:cNvPr id="45" name="Text 15"/>
          <p:cNvSpPr/>
          <p:nvPr/>
        </p:nvSpPr>
        <p:spPr>
          <a:xfrm>
            <a:off x="952500" y="4762500"/>
            <a:ext cx="41453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altLang="ko-KR" sz="1200" dirty="0" err="1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페이징</a:t>
            </a:r>
            <a:r>
              <a:rPr lang="en-US" altLang="ko-KR" sz="120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en-US" altLang="ko-KR" sz="1200" dirty="0" err="1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처리를</a:t>
            </a:r>
            <a:r>
              <a:rPr lang="en-US" altLang="ko-KR" sz="120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en-US" altLang="ko-KR" sz="1200" dirty="0" err="1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유연하게</a:t>
            </a:r>
            <a:r>
              <a:rPr lang="en-US" altLang="ko-KR" sz="120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en-US" altLang="ko-KR" sz="1200" dirty="0" err="1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지원하여</a:t>
            </a:r>
            <a:r>
              <a:rPr lang="en-US" altLang="ko-KR" sz="120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en-US" altLang="ko-KR" sz="1200" dirty="0" err="1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대용량</a:t>
            </a:r>
            <a:r>
              <a:rPr lang="en-US" altLang="ko-KR" sz="120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en-US" altLang="ko-KR" sz="1200" dirty="0" err="1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데이터</a:t>
            </a:r>
            <a:r>
              <a:rPr lang="en-US" altLang="ko-KR" sz="120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en-US" altLang="ko-KR" sz="1200" dirty="0" err="1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처리</a:t>
            </a:r>
            <a:r>
              <a:rPr lang="en-US" altLang="ko-KR" sz="120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en-US" altLang="ko-KR" sz="1200" dirty="0" err="1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가능</a:t>
            </a:r>
            <a:endParaRPr lang="en-US" altLang="ko-KR" sz="1200" dirty="0"/>
          </a:p>
        </p:txBody>
      </p:sp>
      <p:sp>
        <p:nvSpPr>
          <p:cNvPr id="46" name="Text 16"/>
          <p:cNvSpPr/>
          <p:nvPr/>
        </p:nvSpPr>
        <p:spPr>
          <a:xfrm>
            <a:off x="7124700" y="3467100"/>
            <a:ext cx="284544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 smtClean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Kafka </a:t>
            </a:r>
            <a:r>
              <a:rPr lang="ko-KR" altLang="en-US" sz="1500" b="1" dirty="0" smtClean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커넥터</a:t>
            </a:r>
            <a:endParaRPr lang="en-US" sz="1500" dirty="0"/>
          </a:p>
        </p:txBody>
      </p:sp>
      <p:sp>
        <p:nvSpPr>
          <p:cNvPr id="47" name="Text 17"/>
          <p:cNvSpPr/>
          <p:nvPr/>
        </p:nvSpPr>
        <p:spPr>
          <a:xfrm>
            <a:off x="7124700" y="3733800"/>
            <a:ext cx="3414534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Apache Kafka를 데이터 소스로 활용하는 커넥터</a:t>
            </a:r>
            <a:endParaRPr lang="en-US" sz="1050" dirty="0"/>
          </a:p>
        </p:txBody>
      </p:sp>
      <p:sp>
        <p:nvSpPr>
          <p:cNvPr id="48" name="Text 18"/>
          <p:cNvSpPr/>
          <p:nvPr/>
        </p:nvSpPr>
        <p:spPr>
          <a:xfrm>
            <a:off x="6781800" y="4152900"/>
            <a:ext cx="364777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Kafka 토픽에서 데이터를 읽어오는 기능 구현</a:t>
            </a:r>
            <a:endParaRPr lang="en-US" sz="1200" dirty="0"/>
          </a:p>
        </p:txBody>
      </p:sp>
      <p:sp>
        <p:nvSpPr>
          <p:cNvPr id="49" name="Text 19"/>
          <p:cNvSpPr/>
          <p:nvPr/>
        </p:nvSpPr>
        <p:spPr>
          <a:xfrm>
            <a:off x="6781800" y="4457700"/>
            <a:ext cx="489864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altLang="ko-KR" sz="120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Consumer </a:t>
            </a:r>
            <a:r>
              <a:rPr lang="en-US" altLang="ko-KR" sz="1200" dirty="0" err="1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Group를</a:t>
            </a:r>
            <a:r>
              <a:rPr lang="en-US" altLang="ko-KR" sz="120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en-US" altLang="ko-KR" sz="1200" dirty="0" err="1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활용한</a:t>
            </a:r>
            <a:r>
              <a:rPr lang="en-US" altLang="ko-KR" sz="120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en-US" altLang="ko-KR" sz="1200" dirty="0" err="1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병렬</a:t>
            </a:r>
            <a:r>
              <a:rPr lang="en-US" altLang="ko-KR" sz="120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en-US" altLang="ko-KR" sz="1200" dirty="0" err="1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처리</a:t>
            </a:r>
            <a:endParaRPr lang="en-US" altLang="ko-KR" sz="1200" dirty="0"/>
          </a:p>
        </p:txBody>
      </p:sp>
      <p:sp>
        <p:nvSpPr>
          <p:cNvPr id="50" name="Text 20"/>
          <p:cNvSpPr/>
          <p:nvPr/>
        </p:nvSpPr>
        <p:spPr>
          <a:xfrm>
            <a:off x="6781800" y="4762500"/>
            <a:ext cx="318021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실시간 데이터 스트리밍 및 처리에 적합</a:t>
            </a:r>
            <a:endParaRPr lang="en-US" sz="1200" dirty="0"/>
          </a:p>
        </p:txBody>
      </p:sp>
      <p:sp>
        <p:nvSpPr>
          <p:cNvPr id="51" name="Text 21"/>
          <p:cNvSpPr/>
          <p:nvPr/>
        </p:nvSpPr>
        <p:spPr>
          <a:xfrm>
            <a:off x="381000" y="5410200"/>
            <a:ext cx="114300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각 커넥터는 안정성과 성능을 위해 오류 처리, 재시도 메커니즘, 로깅 기능을 </a:t>
            </a:r>
            <a:r>
              <a:rPr lang="en-US" sz="1050" dirty="0" err="1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포함하도록</a:t>
            </a:r>
            <a:r>
              <a:rPr lang="en-US" sz="10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en-US" sz="1050" dirty="0" err="1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설계</a:t>
            </a:r>
            <a:endParaRPr lang="en-US" sz="10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ko-KR" altLang="en-US" sz="105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커넥터는 필요할 경우 추가 가능</a:t>
            </a:r>
            <a:endParaRPr lang="en-US" sz="105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</p:txBody>
      </p:sp>
      <p:pic>
        <p:nvPicPr>
          <p:cNvPr id="52" name="Image 2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984030" y="5620044"/>
            <a:ext cx="133350" cy="1333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715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800100"/>
            <a:ext cx="7620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08609" y="1066800"/>
            <a:ext cx="1887289" cy="6477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91149" y="1381125"/>
            <a:ext cx="762000" cy="190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48399" y="1066800"/>
            <a:ext cx="1924496" cy="647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68145" y="1381125"/>
            <a:ext cx="762000" cy="190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25395" y="1066800"/>
            <a:ext cx="2057846" cy="6477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1000" y="2019300"/>
            <a:ext cx="5600700" cy="27432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" y="2276475"/>
            <a:ext cx="190500" cy="1905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" y="2705100"/>
            <a:ext cx="304800" cy="3810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5800" y="2800350"/>
            <a:ext cx="1524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" y="3429000"/>
            <a:ext cx="304800" cy="3810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5800" y="3524250"/>
            <a:ext cx="1524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9600" y="4152900"/>
            <a:ext cx="285750" cy="3810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5800" y="4248150"/>
            <a:ext cx="13335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10300" y="2019300"/>
            <a:ext cx="5600700" cy="27432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38900" y="2276475"/>
            <a:ext cx="171450" cy="1905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38900" y="2705100"/>
            <a:ext cx="342900" cy="3810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515100" y="2800350"/>
            <a:ext cx="190500" cy="152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38900" y="3238500"/>
            <a:ext cx="266700" cy="3810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515100" y="3333750"/>
            <a:ext cx="114300" cy="152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438900" y="3771900"/>
            <a:ext cx="304800" cy="3810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515100" y="3867150"/>
            <a:ext cx="152400" cy="152400"/>
          </a:xfrm>
          <a:prstGeom prst="rect">
            <a:avLst/>
          </a:prstGeom>
        </p:spPr>
      </p:pic>
      <p:sp>
        <p:nvSpPr>
          <p:cNvPr id="29" name="Text 0"/>
          <p:cNvSpPr/>
          <p:nvPr/>
        </p:nvSpPr>
        <p:spPr>
          <a:xfrm>
            <a:off x="381000" y="381000"/>
            <a:ext cx="114300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MongoDB 적재 및 처리 전략</a:t>
            </a:r>
            <a:endParaRPr lang="en-US" sz="2250" dirty="0"/>
          </a:p>
        </p:txBody>
      </p:sp>
      <p:sp>
        <p:nvSpPr>
          <p:cNvPr id="30" name="Text 1"/>
          <p:cNvSpPr/>
          <p:nvPr/>
        </p:nvSpPr>
        <p:spPr>
          <a:xfrm>
            <a:off x="2437209" y="1209675"/>
            <a:ext cx="620078" cy="1619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Extract</a:t>
            </a:r>
            <a:endParaRPr lang="en-US" sz="1200" dirty="0"/>
          </a:p>
        </p:txBody>
      </p:sp>
      <p:sp>
        <p:nvSpPr>
          <p:cNvPr id="31" name="Text 2"/>
          <p:cNvSpPr/>
          <p:nvPr/>
        </p:nvSpPr>
        <p:spPr>
          <a:xfrm>
            <a:off x="2437209" y="1409700"/>
            <a:ext cx="1716107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Source에서 데이터 추출</a:t>
            </a:r>
            <a:endParaRPr lang="en-US" sz="1050" dirty="0"/>
          </a:p>
        </p:txBody>
      </p:sp>
      <p:sp>
        <p:nvSpPr>
          <p:cNvPr id="32" name="Text 3"/>
          <p:cNvSpPr/>
          <p:nvPr/>
        </p:nvSpPr>
        <p:spPr>
          <a:xfrm>
            <a:off x="5276999" y="1209675"/>
            <a:ext cx="436840" cy="1619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Load</a:t>
            </a:r>
            <a:endParaRPr lang="en-US" sz="1200" dirty="0"/>
          </a:p>
        </p:txBody>
      </p:sp>
      <p:sp>
        <p:nvSpPr>
          <p:cNvPr id="33" name="Text 4"/>
          <p:cNvSpPr/>
          <p:nvPr/>
        </p:nvSpPr>
        <p:spPr>
          <a:xfrm>
            <a:off x="5276999" y="1409700"/>
            <a:ext cx="176075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MongoDB로 데이터 로드</a:t>
            </a:r>
            <a:endParaRPr lang="en-US" sz="1050" dirty="0"/>
          </a:p>
        </p:txBody>
      </p:sp>
      <p:sp>
        <p:nvSpPr>
          <p:cNvPr id="34" name="Text 5"/>
          <p:cNvSpPr/>
          <p:nvPr/>
        </p:nvSpPr>
        <p:spPr>
          <a:xfrm>
            <a:off x="8153995" y="1209675"/>
            <a:ext cx="894398" cy="1619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Transform</a:t>
            </a:r>
            <a:endParaRPr lang="en-US" sz="1200" dirty="0"/>
          </a:p>
        </p:txBody>
      </p:sp>
      <p:sp>
        <p:nvSpPr>
          <p:cNvPr id="35" name="Text 6"/>
          <p:cNvSpPr/>
          <p:nvPr/>
        </p:nvSpPr>
        <p:spPr>
          <a:xfrm>
            <a:off x="8153995" y="1409700"/>
            <a:ext cx="192077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MongoDB에서 데이터 변환</a:t>
            </a:r>
            <a:endParaRPr lang="en-US" sz="1050" dirty="0"/>
          </a:p>
        </p:txBody>
      </p:sp>
      <p:sp>
        <p:nvSpPr>
          <p:cNvPr id="36" name="Text 7"/>
          <p:cNvSpPr/>
          <p:nvPr/>
        </p:nvSpPr>
        <p:spPr>
          <a:xfrm>
            <a:off x="876300" y="2247900"/>
            <a:ext cx="51435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ELT 접근법</a:t>
            </a:r>
            <a:endParaRPr lang="en-US" sz="1500" dirty="0"/>
          </a:p>
        </p:txBody>
      </p:sp>
      <p:sp>
        <p:nvSpPr>
          <p:cNvPr id="37" name="Text 8"/>
          <p:cNvSpPr/>
          <p:nvPr/>
        </p:nvSpPr>
        <p:spPr>
          <a:xfrm>
            <a:off x="1028700" y="2667000"/>
            <a:ext cx="47244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대용량 데이터 처리에 적합</a:t>
            </a:r>
            <a:endParaRPr lang="en-US" sz="1200" dirty="0"/>
          </a:p>
        </p:txBody>
      </p:sp>
      <p:sp>
        <p:nvSpPr>
          <p:cNvPr id="38" name="Text 9"/>
          <p:cNvSpPr/>
          <p:nvPr/>
        </p:nvSpPr>
        <p:spPr>
          <a:xfrm>
            <a:off x="1028700" y="2895600"/>
            <a:ext cx="47244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원본 데이터를 MongoDB에 로드한 후 타겟 시스템의 컴퓨팅 자원을 활용하여 변환</a:t>
            </a:r>
            <a:endParaRPr lang="en-US" sz="1050" dirty="0"/>
          </a:p>
        </p:txBody>
      </p:sp>
      <p:sp>
        <p:nvSpPr>
          <p:cNvPr id="39" name="Text 10"/>
          <p:cNvSpPr/>
          <p:nvPr/>
        </p:nvSpPr>
        <p:spPr>
          <a:xfrm>
            <a:off x="1028700" y="3390900"/>
            <a:ext cx="47244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하이브리드 전략</a:t>
            </a:r>
            <a:endParaRPr lang="en-US" sz="1200" dirty="0"/>
          </a:p>
        </p:txBody>
      </p:sp>
      <p:sp>
        <p:nvSpPr>
          <p:cNvPr id="40" name="Text 11"/>
          <p:cNvSpPr/>
          <p:nvPr/>
        </p:nvSpPr>
        <p:spPr>
          <a:xfrm>
            <a:off x="1028700" y="3619500"/>
            <a:ext cx="47244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간단한 필터링, 필드 매핑은 로드 전에 수행, 복잡한 변환은 MongoDB 집계 파이프라인 활용</a:t>
            </a:r>
            <a:endParaRPr lang="en-US" sz="1050" dirty="0"/>
          </a:p>
        </p:txBody>
      </p:sp>
      <p:sp>
        <p:nvSpPr>
          <p:cNvPr id="41" name="Text 12"/>
          <p:cNvSpPr/>
          <p:nvPr/>
        </p:nvSpPr>
        <p:spPr>
          <a:xfrm>
            <a:off x="1009650" y="4114800"/>
            <a:ext cx="388233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유연한 스키마 변경</a:t>
            </a:r>
            <a:endParaRPr lang="en-US" sz="1200" dirty="0"/>
          </a:p>
        </p:txBody>
      </p:sp>
      <p:sp>
        <p:nvSpPr>
          <p:cNvPr id="42" name="Text 13"/>
          <p:cNvSpPr/>
          <p:nvPr/>
        </p:nvSpPr>
        <p:spPr>
          <a:xfrm>
            <a:off x="1009650" y="4343400"/>
            <a:ext cx="4658797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MongoDB의 </a:t>
            </a:r>
            <a:r>
              <a:rPr lang="en-US" sz="1050" dirty="0" err="1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스키마리스</a:t>
            </a:r>
            <a:r>
              <a:rPr lang="en-US" sz="10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en-US" sz="1050" dirty="0" err="1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특성을</a:t>
            </a:r>
            <a:r>
              <a:rPr lang="en-US" sz="105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ko-KR" altLang="en-US" sz="105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활용</a:t>
            </a:r>
            <a:r>
              <a:rPr lang="en-US" sz="1050" dirty="0" err="1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하여</a:t>
            </a:r>
            <a:r>
              <a:rPr lang="en-US" sz="105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en-US" sz="10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유연한 데이터 구조 처리</a:t>
            </a:r>
            <a:endParaRPr lang="en-US" sz="1050" dirty="0"/>
          </a:p>
        </p:txBody>
      </p:sp>
      <p:sp>
        <p:nvSpPr>
          <p:cNvPr id="43" name="Text 14"/>
          <p:cNvSpPr/>
          <p:nvPr/>
        </p:nvSpPr>
        <p:spPr>
          <a:xfrm>
            <a:off x="6686550" y="2247900"/>
            <a:ext cx="51435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MongoDB 특화 전략</a:t>
            </a:r>
            <a:endParaRPr lang="en-US" sz="1500" dirty="0"/>
          </a:p>
        </p:txBody>
      </p:sp>
      <p:sp>
        <p:nvSpPr>
          <p:cNvPr id="44" name="Text 15"/>
          <p:cNvSpPr/>
          <p:nvPr/>
        </p:nvSpPr>
        <p:spPr>
          <a:xfrm>
            <a:off x="6896100" y="2667000"/>
            <a:ext cx="426803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MongoDB Kafka Sink Connector 활용</a:t>
            </a:r>
            <a:endParaRPr lang="en-US" sz="1200" dirty="0"/>
          </a:p>
        </p:txBody>
      </p:sp>
      <p:sp>
        <p:nvSpPr>
          <p:cNvPr id="45" name="Text 16"/>
          <p:cNvSpPr/>
          <p:nvPr/>
        </p:nvSpPr>
        <p:spPr>
          <a:xfrm>
            <a:off x="6896100" y="2895600"/>
            <a:ext cx="4268033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Kafka 토픽의 데이터를 MongoDB 컬렉션에 지속적으로 기록</a:t>
            </a:r>
            <a:endParaRPr lang="en-US" sz="1050" dirty="0"/>
          </a:p>
        </p:txBody>
      </p:sp>
      <p:sp>
        <p:nvSpPr>
          <p:cNvPr id="46" name="Text 17"/>
          <p:cNvSpPr/>
          <p:nvPr/>
        </p:nvSpPr>
        <p:spPr>
          <a:xfrm>
            <a:off x="6819900" y="3200400"/>
            <a:ext cx="365745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대용량 데이터 안정적 쓰기</a:t>
            </a:r>
            <a:endParaRPr lang="en-US" sz="1200" dirty="0"/>
          </a:p>
        </p:txBody>
      </p:sp>
      <p:sp>
        <p:nvSpPr>
          <p:cNvPr id="47" name="Text 18"/>
          <p:cNvSpPr/>
          <p:nvPr/>
        </p:nvSpPr>
        <p:spPr>
          <a:xfrm>
            <a:off x="6819900" y="3429000"/>
            <a:ext cx="438894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벌크 쓰기(Bulk Write) 및 비동기 처리 방식으로 성능 저하 방지</a:t>
            </a:r>
            <a:endParaRPr lang="en-US" sz="1050" dirty="0"/>
          </a:p>
        </p:txBody>
      </p:sp>
      <p:sp>
        <p:nvSpPr>
          <p:cNvPr id="48" name="Text 19"/>
          <p:cNvSpPr/>
          <p:nvPr/>
        </p:nvSpPr>
        <p:spPr>
          <a:xfrm>
            <a:off x="6858000" y="3733800"/>
            <a:ext cx="47244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변경 데이터 캡처(CDC) 지원</a:t>
            </a:r>
            <a:endParaRPr lang="en-US" sz="1200" dirty="0"/>
          </a:p>
        </p:txBody>
      </p:sp>
      <p:sp>
        <p:nvSpPr>
          <p:cNvPr id="49" name="Text 20"/>
          <p:cNvSpPr/>
          <p:nvPr/>
        </p:nvSpPr>
        <p:spPr>
          <a:xfrm>
            <a:off x="6858000" y="3962400"/>
            <a:ext cx="47244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소스 시스템의 변경 이벤트를 감지하여 MongoDB에 반영, 데이터 동기화 및 실시간 분석에 필수적</a:t>
            </a:r>
            <a:endParaRPr lang="en-US" sz="1050" dirty="0"/>
          </a:p>
        </p:txBody>
      </p:sp>
      <p:pic>
        <p:nvPicPr>
          <p:cNvPr id="53" name="Image 26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19100" y="5362433"/>
            <a:ext cx="2628900" cy="800100"/>
          </a:xfrm>
          <a:prstGeom prst="rect">
            <a:avLst/>
          </a:prstGeom>
        </p:spPr>
      </p:pic>
      <p:pic>
        <p:nvPicPr>
          <p:cNvPr id="54" name="Image 27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733550" y="5438633"/>
            <a:ext cx="190500" cy="266700"/>
          </a:xfrm>
          <a:prstGeom prst="rect">
            <a:avLst/>
          </a:prstGeom>
        </p:spPr>
      </p:pic>
      <p:pic>
        <p:nvPicPr>
          <p:cNvPr id="55" name="Image 28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390900" y="5362433"/>
            <a:ext cx="2590800" cy="800100"/>
          </a:xfrm>
          <a:prstGeom prst="rect">
            <a:avLst/>
          </a:prstGeom>
        </p:spPr>
      </p:pic>
      <p:pic>
        <p:nvPicPr>
          <p:cNvPr id="56" name="Image 29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705350" y="5438633"/>
            <a:ext cx="190500" cy="266700"/>
          </a:xfrm>
          <a:prstGeom prst="rect">
            <a:avLst/>
          </a:prstGeom>
        </p:spPr>
      </p:pic>
      <p:pic>
        <p:nvPicPr>
          <p:cNvPr id="57" name="Image 30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362700" y="5362433"/>
            <a:ext cx="2667000" cy="800100"/>
          </a:xfrm>
          <a:prstGeom prst="rect">
            <a:avLst/>
          </a:prstGeom>
        </p:spPr>
      </p:pic>
      <p:pic>
        <p:nvPicPr>
          <p:cNvPr id="58" name="Image 31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677150" y="5438633"/>
            <a:ext cx="190500" cy="266700"/>
          </a:xfrm>
          <a:prstGeom prst="rect">
            <a:avLst/>
          </a:prstGeom>
        </p:spPr>
      </p:pic>
      <p:pic>
        <p:nvPicPr>
          <p:cNvPr id="59" name="Image 32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334500" y="5362433"/>
            <a:ext cx="2476500" cy="800100"/>
          </a:xfrm>
          <a:prstGeom prst="rect">
            <a:avLst/>
          </a:prstGeom>
        </p:spPr>
      </p:pic>
      <p:pic>
        <p:nvPicPr>
          <p:cNvPr id="60" name="Image 33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458450" y="5448158"/>
            <a:ext cx="190500" cy="266700"/>
          </a:xfrm>
          <a:prstGeom prst="rect">
            <a:avLst/>
          </a:prstGeom>
        </p:spPr>
      </p:pic>
      <p:sp>
        <p:nvSpPr>
          <p:cNvPr id="61" name="Text 15"/>
          <p:cNvSpPr/>
          <p:nvPr/>
        </p:nvSpPr>
        <p:spPr>
          <a:xfrm>
            <a:off x="457200" y="4943333"/>
            <a:ext cx="11353800" cy="32302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MongoDB 최적화 전략</a:t>
            </a:r>
            <a:endParaRPr lang="en-US" sz="1800" dirty="0"/>
          </a:p>
        </p:txBody>
      </p:sp>
      <p:sp>
        <p:nvSpPr>
          <p:cNvPr id="62" name="Text 16"/>
          <p:cNvSpPr/>
          <p:nvPr/>
        </p:nvSpPr>
        <p:spPr>
          <a:xfrm>
            <a:off x="495300" y="5743433"/>
            <a:ext cx="26670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컬렉션 설계</a:t>
            </a:r>
            <a:endParaRPr lang="en-US" sz="1050" dirty="0"/>
          </a:p>
        </p:txBody>
      </p:sp>
      <p:sp>
        <p:nvSpPr>
          <p:cNvPr id="63" name="Text 17"/>
          <p:cNvSpPr/>
          <p:nvPr/>
        </p:nvSpPr>
        <p:spPr>
          <a:xfrm>
            <a:off x="495300" y="5933933"/>
            <a:ext cx="26670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문서 구조에 맞춘 컬렉션 설계</a:t>
            </a:r>
            <a:endParaRPr lang="en-US" sz="900" dirty="0"/>
          </a:p>
        </p:txBody>
      </p:sp>
      <p:sp>
        <p:nvSpPr>
          <p:cNvPr id="64" name="Text 18"/>
          <p:cNvSpPr/>
          <p:nvPr/>
        </p:nvSpPr>
        <p:spPr>
          <a:xfrm>
            <a:off x="3467100" y="5743433"/>
            <a:ext cx="26670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인덱스 최적화</a:t>
            </a:r>
            <a:endParaRPr lang="en-US" sz="1050" dirty="0"/>
          </a:p>
        </p:txBody>
      </p:sp>
      <p:sp>
        <p:nvSpPr>
          <p:cNvPr id="65" name="Text 19"/>
          <p:cNvSpPr/>
          <p:nvPr/>
        </p:nvSpPr>
        <p:spPr>
          <a:xfrm>
            <a:off x="3467100" y="5933933"/>
            <a:ext cx="26670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쿼리 성능을 위한 인덱스 설정</a:t>
            </a:r>
            <a:endParaRPr lang="en-US" sz="900" dirty="0"/>
          </a:p>
        </p:txBody>
      </p:sp>
      <p:sp>
        <p:nvSpPr>
          <p:cNvPr id="66" name="Text 20"/>
          <p:cNvSpPr/>
          <p:nvPr/>
        </p:nvSpPr>
        <p:spPr>
          <a:xfrm>
            <a:off x="6438900" y="5743433"/>
            <a:ext cx="26670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데이터 압축</a:t>
            </a:r>
            <a:endParaRPr lang="en-US" sz="1050" dirty="0"/>
          </a:p>
        </p:txBody>
      </p:sp>
      <p:sp>
        <p:nvSpPr>
          <p:cNvPr id="67" name="Text 21"/>
          <p:cNvSpPr/>
          <p:nvPr/>
        </p:nvSpPr>
        <p:spPr>
          <a:xfrm>
            <a:off x="6438900" y="5933933"/>
            <a:ext cx="26670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저장 공간 및 전송량 감소</a:t>
            </a:r>
            <a:endParaRPr lang="en-US" sz="900" dirty="0"/>
          </a:p>
        </p:txBody>
      </p:sp>
      <p:sp>
        <p:nvSpPr>
          <p:cNvPr id="68" name="Text 22"/>
          <p:cNvSpPr/>
          <p:nvPr/>
        </p:nvSpPr>
        <p:spPr>
          <a:xfrm>
            <a:off x="9410700" y="5743433"/>
            <a:ext cx="2400300" cy="1333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보안 관리</a:t>
            </a:r>
            <a:endParaRPr lang="en-US" sz="1050" dirty="0"/>
          </a:p>
        </p:txBody>
      </p:sp>
      <p:sp>
        <p:nvSpPr>
          <p:cNvPr id="69" name="Text 23"/>
          <p:cNvSpPr/>
          <p:nvPr/>
        </p:nvSpPr>
        <p:spPr>
          <a:xfrm>
            <a:off x="9144000" y="5933933"/>
            <a:ext cx="26670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ko-KR" altLang="en-US" sz="90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민감</a:t>
            </a:r>
            <a:r>
              <a:rPr lang="en-US" sz="9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en-US" sz="9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데이터 보호를 위한 접근 제어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800100"/>
            <a:ext cx="7620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1066800"/>
            <a:ext cx="2163961" cy="5334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1247775"/>
            <a:ext cx="190500" cy="1905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97361" y="1066800"/>
            <a:ext cx="4480620" cy="53340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49761" y="1247775"/>
            <a:ext cx="219075" cy="1905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49761" y="1638300"/>
            <a:ext cx="4175820" cy="26670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02161" y="1790700"/>
            <a:ext cx="3871020" cy="18288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54561" y="1943100"/>
            <a:ext cx="1219200" cy="3429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30761" y="2038350"/>
            <a:ext cx="13335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28071" y="2513424"/>
            <a:ext cx="1219200" cy="3429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404271" y="2608674"/>
            <a:ext cx="190500" cy="1524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501580" y="3124200"/>
            <a:ext cx="1219200" cy="3429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577780" y="3219450"/>
            <a:ext cx="133350" cy="1524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360205" y="2114550"/>
            <a:ext cx="967680" cy="381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526361" y="2676527"/>
            <a:ext cx="967680" cy="381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849761" y="4485694"/>
            <a:ext cx="2030760" cy="34290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994821" y="4485694"/>
            <a:ext cx="1878360" cy="342900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849761" y="4942894"/>
            <a:ext cx="2030760" cy="342900"/>
          </a:xfrm>
          <a:prstGeom prst="rect">
            <a:avLst/>
          </a:prstGeom>
        </p:spPr>
      </p:pic>
      <p:pic>
        <p:nvPicPr>
          <p:cNvPr id="38" name="Image 36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994821" y="4942894"/>
            <a:ext cx="1878360" cy="342900"/>
          </a:xfrm>
          <a:prstGeom prst="rect">
            <a:avLst/>
          </a:prstGeom>
        </p:spPr>
      </p:pic>
      <p:pic>
        <p:nvPicPr>
          <p:cNvPr id="40" name="Image 38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330380" y="1066800"/>
            <a:ext cx="4480471" cy="5334000"/>
          </a:xfrm>
          <a:prstGeom prst="rect">
            <a:avLst/>
          </a:prstGeom>
        </p:spPr>
      </p:pic>
      <p:pic>
        <p:nvPicPr>
          <p:cNvPr id="41" name="Image 39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482780" y="1247775"/>
            <a:ext cx="219075" cy="190500"/>
          </a:xfrm>
          <a:prstGeom prst="rect">
            <a:avLst/>
          </a:prstGeom>
        </p:spPr>
      </p:pic>
      <p:pic>
        <p:nvPicPr>
          <p:cNvPr id="42" name="Image 40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482780" y="1638300"/>
            <a:ext cx="2030611" cy="1219200"/>
          </a:xfrm>
          <a:prstGeom prst="rect">
            <a:avLst/>
          </a:prstGeom>
        </p:spPr>
      </p:pic>
      <p:pic>
        <p:nvPicPr>
          <p:cNvPr id="43" name="Image 41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597080" y="1752600"/>
            <a:ext cx="304800" cy="381000"/>
          </a:xfrm>
          <a:prstGeom prst="rect">
            <a:avLst/>
          </a:prstGeom>
        </p:spPr>
      </p:pic>
      <p:pic>
        <p:nvPicPr>
          <p:cNvPr id="44" name="Image 42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673280" y="1847850"/>
            <a:ext cx="152400" cy="152400"/>
          </a:xfrm>
          <a:prstGeom prst="rect">
            <a:avLst/>
          </a:prstGeom>
        </p:spPr>
      </p:pic>
      <p:pic>
        <p:nvPicPr>
          <p:cNvPr id="45" name="Image 43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627691" y="1638300"/>
            <a:ext cx="2030760" cy="1219200"/>
          </a:xfrm>
          <a:prstGeom prst="rect">
            <a:avLst/>
          </a:prstGeom>
        </p:spPr>
      </p:pic>
      <p:pic>
        <p:nvPicPr>
          <p:cNvPr id="46" name="Image 44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741991" y="1752600"/>
            <a:ext cx="266700" cy="381000"/>
          </a:xfrm>
          <a:prstGeom prst="rect">
            <a:avLst/>
          </a:prstGeom>
        </p:spPr>
      </p:pic>
      <p:pic>
        <p:nvPicPr>
          <p:cNvPr id="47" name="Image 45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818191" y="1847850"/>
            <a:ext cx="114300" cy="152400"/>
          </a:xfrm>
          <a:prstGeom prst="rect">
            <a:avLst/>
          </a:prstGeom>
        </p:spPr>
      </p:pic>
      <p:pic>
        <p:nvPicPr>
          <p:cNvPr id="48" name="Image 46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482780" y="2971800"/>
            <a:ext cx="2030611" cy="1219200"/>
          </a:xfrm>
          <a:prstGeom prst="rect">
            <a:avLst/>
          </a:prstGeom>
        </p:spPr>
      </p:pic>
      <p:pic>
        <p:nvPicPr>
          <p:cNvPr id="49" name="Image 47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597080" y="3086100"/>
            <a:ext cx="323850" cy="381000"/>
          </a:xfrm>
          <a:prstGeom prst="rect">
            <a:avLst/>
          </a:prstGeom>
        </p:spPr>
      </p:pic>
      <p:pic>
        <p:nvPicPr>
          <p:cNvPr id="50" name="Image 48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673280" y="3181350"/>
            <a:ext cx="171450" cy="152400"/>
          </a:xfrm>
          <a:prstGeom prst="rect">
            <a:avLst/>
          </a:prstGeom>
        </p:spPr>
      </p:pic>
      <p:pic>
        <p:nvPicPr>
          <p:cNvPr id="51" name="Image 49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627691" y="2971800"/>
            <a:ext cx="2030760" cy="1219200"/>
          </a:xfrm>
          <a:prstGeom prst="rect">
            <a:avLst/>
          </a:prstGeom>
        </p:spPr>
      </p:pic>
      <p:pic>
        <p:nvPicPr>
          <p:cNvPr id="52" name="Image 50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9741991" y="3086100"/>
            <a:ext cx="304800" cy="381000"/>
          </a:xfrm>
          <a:prstGeom prst="rect">
            <a:avLst/>
          </a:prstGeom>
        </p:spPr>
      </p:pic>
      <p:pic>
        <p:nvPicPr>
          <p:cNvPr id="53" name="Image 51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9818191" y="3181350"/>
            <a:ext cx="152400" cy="152400"/>
          </a:xfrm>
          <a:prstGeom prst="rect">
            <a:avLst/>
          </a:prstGeom>
        </p:spPr>
      </p:pic>
      <p:sp>
        <p:nvSpPr>
          <p:cNvPr id="54" name="Text 0"/>
          <p:cNvSpPr/>
          <p:nvPr/>
        </p:nvSpPr>
        <p:spPr>
          <a:xfrm>
            <a:off x="381000" y="381000"/>
            <a:ext cx="114300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UI/UX 설계 및 화면 구성</a:t>
            </a:r>
            <a:endParaRPr lang="en-US" sz="2250" dirty="0"/>
          </a:p>
        </p:txBody>
      </p:sp>
      <p:sp>
        <p:nvSpPr>
          <p:cNvPr id="55" name="Text 1"/>
          <p:cNvSpPr/>
          <p:nvPr/>
        </p:nvSpPr>
        <p:spPr>
          <a:xfrm>
            <a:off x="800100" y="1219200"/>
            <a:ext cx="185916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디자인 원칙</a:t>
            </a:r>
            <a:endParaRPr lang="en-US" sz="1500" dirty="0"/>
          </a:p>
        </p:txBody>
      </p:sp>
      <p:sp>
        <p:nvSpPr>
          <p:cNvPr id="56" name="Text 2"/>
          <p:cNvSpPr/>
          <p:nvPr/>
        </p:nvSpPr>
        <p:spPr>
          <a:xfrm>
            <a:off x="942975" y="1638300"/>
            <a:ext cx="10922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단순성</a:t>
            </a:r>
            <a:endParaRPr lang="en-US" sz="1200" dirty="0"/>
          </a:p>
        </p:txBody>
      </p:sp>
      <p:sp>
        <p:nvSpPr>
          <p:cNvPr id="57" name="Text 3"/>
          <p:cNvSpPr/>
          <p:nvPr/>
        </p:nvSpPr>
        <p:spPr>
          <a:xfrm>
            <a:off x="942975" y="1866900"/>
            <a:ext cx="13107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복잡한 과정을 단순화</a:t>
            </a:r>
            <a:endParaRPr lang="en-US" sz="900" dirty="0"/>
          </a:p>
        </p:txBody>
      </p:sp>
      <p:sp>
        <p:nvSpPr>
          <p:cNvPr id="58" name="Text 4"/>
          <p:cNvSpPr/>
          <p:nvPr/>
        </p:nvSpPr>
        <p:spPr>
          <a:xfrm>
            <a:off x="971550" y="2171700"/>
            <a:ext cx="11735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시각적 명확성</a:t>
            </a:r>
            <a:endParaRPr lang="en-US" sz="1200" dirty="0"/>
          </a:p>
        </p:txBody>
      </p:sp>
      <p:sp>
        <p:nvSpPr>
          <p:cNvPr id="59" name="Text 5"/>
          <p:cNvSpPr/>
          <p:nvPr/>
        </p:nvSpPr>
        <p:spPr>
          <a:xfrm>
            <a:off x="971550" y="2400300"/>
            <a:ext cx="117354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명확한 시각적 표현</a:t>
            </a:r>
            <a:endParaRPr lang="en-US" sz="900" dirty="0"/>
          </a:p>
        </p:txBody>
      </p:sp>
      <p:sp>
        <p:nvSpPr>
          <p:cNvPr id="60" name="Text 6"/>
          <p:cNvSpPr/>
          <p:nvPr/>
        </p:nvSpPr>
        <p:spPr>
          <a:xfrm>
            <a:off x="952500" y="2705100"/>
            <a:ext cx="9779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일관성</a:t>
            </a:r>
            <a:endParaRPr lang="en-US" sz="1200" dirty="0"/>
          </a:p>
        </p:txBody>
      </p:sp>
      <p:sp>
        <p:nvSpPr>
          <p:cNvPr id="61" name="Text 7"/>
          <p:cNvSpPr/>
          <p:nvPr/>
        </p:nvSpPr>
        <p:spPr>
          <a:xfrm>
            <a:off x="952500" y="2933700"/>
            <a:ext cx="117354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ko-KR" altLang="en-US" sz="9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통일</a:t>
            </a:r>
            <a:r>
              <a:rPr lang="en-US" sz="9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된 </a:t>
            </a:r>
            <a:r>
              <a:rPr lang="en-US" sz="9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디자인 요소</a:t>
            </a:r>
            <a:endParaRPr lang="en-US" sz="900" dirty="0"/>
          </a:p>
        </p:txBody>
      </p:sp>
      <p:sp>
        <p:nvSpPr>
          <p:cNvPr id="63" name="Text 9"/>
          <p:cNvSpPr/>
          <p:nvPr/>
        </p:nvSpPr>
        <p:spPr>
          <a:xfrm>
            <a:off x="3068836" y="3714750"/>
            <a:ext cx="3666828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• </a:t>
            </a:r>
            <a:r>
              <a:rPr lang="en-US" altLang="ko-KR" sz="9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ko-KR" altLang="en-US" sz="9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소스 노드 선택</a:t>
            </a:r>
            <a:endParaRPr lang="en-US" altLang="ko-KR" sz="9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r>
              <a:rPr lang="en-US" altLang="ko-KR" sz="9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•  </a:t>
            </a:r>
            <a:r>
              <a:rPr lang="ko-KR" altLang="en-US" sz="9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데이터 변환 수행</a:t>
            </a:r>
            <a:endParaRPr lang="en-US" altLang="ko-KR" sz="9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r>
              <a:rPr lang="en-US" altLang="ko-KR" sz="9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•  </a:t>
            </a:r>
            <a:r>
              <a:rPr lang="ko-KR" altLang="en-US" sz="9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타겟 노드에 데이터 적재 후 변환 수행</a:t>
            </a:r>
            <a:endParaRPr lang="en-US" sz="900" dirty="0"/>
          </a:p>
        </p:txBody>
      </p:sp>
      <p:sp>
        <p:nvSpPr>
          <p:cNvPr id="66" name="Text 12"/>
          <p:cNvSpPr/>
          <p:nvPr/>
        </p:nvSpPr>
        <p:spPr>
          <a:xfrm>
            <a:off x="3145036" y="1219200"/>
            <a:ext cx="41758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파이프라인 설계 인터페이스</a:t>
            </a:r>
            <a:endParaRPr lang="en-US" sz="1500" dirty="0"/>
          </a:p>
        </p:txBody>
      </p:sp>
      <p:sp>
        <p:nvSpPr>
          <p:cNvPr id="67" name="Text 13"/>
          <p:cNvSpPr/>
          <p:nvPr/>
        </p:nvSpPr>
        <p:spPr>
          <a:xfrm>
            <a:off x="3440311" y="2019300"/>
            <a:ext cx="93404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Source Node</a:t>
            </a:r>
            <a:endParaRPr lang="en-US" sz="1050" dirty="0"/>
          </a:p>
        </p:txBody>
      </p:sp>
      <p:sp>
        <p:nvSpPr>
          <p:cNvPr id="68" name="Text 14"/>
          <p:cNvSpPr/>
          <p:nvPr/>
        </p:nvSpPr>
        <p:spPr>
          <a:xfrm>
            <a:off x="4670971" y="2589624"/>
            <a:ext cx="72330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Transform</a:t>
            </a:r>
            <a:endParaRPr lang="en-US" sz="1050" dirty="0"/>
          </a:p>
        </p:txBody>
      </p:sp>
      <p:sp>
        <p:nvSpPr>
          <p:cNvPr id="69" name="Text 15"/>
          <p:cNvSpPr/>
          <p:nvPr/>
        </p:nvSpPr>
        <p:spPr>
          <a:xfrm>
            <a:off x="5787330" y="3200400"/>
            <a:ext cx="87189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Target Node</a:t>
            </a:r>
            <a:endParaRPr lang="en-US" sz="1050" dirty="0"/>
          </a:p>
        </p:txBody>
      </p:sp>
      <p:sp>
        <p:nvSpPr>
          <p:cNvPr id="73" name="Text 19"/>
          <p:cNvSpPr/>
          <p:nvPr/>
        </p:nvSpPr>
        <p:spPr>
          <a:xfrm>
            <a:off x="3154561" y="4561894"/>
            <a:ext cx="100459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템플릿 재사용</a:t>
            </a:r>
            <a:endParaRPr lang="en-US" sz="1050" dirty="0"/>
          </a:p>
        </p:txBody>
      </p:sp>
      <p:sp>
        <p:nvSpPr>
          <p:cNvPr id="74" name="Text 20"/>
          <p:cNvSpPr/>
          <p:nvPr/>
        </p:nvSpPr>
        <p:spPr>
          <a:xfrm>
            <a:off x="5299621" y="4561894"/>
            <a:ext cx="116461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데이터 미리보기</a:t>
            </a:r>
            <a:endParaRPr lang="en-US" sz="1050" dirty="0"/>
          </a:p>
        </p:txBody>
      </p:sp>
      <p:sp>
        <p:nvSpPr>
          <p:cNvPr id="75" name="Text 21"/>
          <p:cNvSpPr/>
          <p:nvPr/>
        </p:nvSpPr>
        <p:spPr>
          <a:xfrm>
            <a:off x="3154560" y="5019094"/>
            <a:ext cx="1687861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ko-KR" altLang="en-US" sz="1050" dirty="0" smtClean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단계 별 커넥션 생성</a:t>
            </a:r>
            <a:endParaRPr lang="en-US" sz="1050" dirty="0"/>
          </a:p>
        </p:txBody>
      </p:sp>
      <p:sp>
        <p:nvSpPr>
          <p:cNvPr id="76" name="Text 22"/>
          <p:cNvSpPr/>
          <p:nvPr/>
        </p:nvSpPr>
        <p:spPr>
          <a:xfrm>
            <a:off x="5261521" y="5019094"/>
            <a:ext cx="84457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알림 시스템</a:t>
            </a:r>
            <a:endParaRPr lang="en-US" sz="1050" dirty="0"/>
          </a:p>
        </p:txBody>
      </p:sp>
      <p:sp>
        <p:nvSpPr>
          <p:cNvPr id="77" name="Text 23"/>
          <p:cNvSpPr/>
          <p:nvPr/>
        </p:nvSpPr>
        <p:spPr>
          <a:xfrm>
            <a:off x="7778055" y="1219200"/>
            <a:ext cx="417567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주요 화면 설계</a:t>
            </a:r>
            <a:endParaRPr lang="en-US" sz="1500" dirty="0"/>
          </a:p>
        </p:txBody>
      </p:sp>
      <p:sp>
        <p:nvSpPr>
          <p:cNvPr id="78" name="Text 24"/>
          <p:cNvSpPr/>
          <p:nvPr/>
        </p:nvSpPr>
        <p:spPr>
          <a:xfrm>
            <a:off x="7978080" y="1828800"/>
            <a:ext cx="7315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대시보드</a:t>
            </a:r>
            <a:endParaRPr lang="en-US" sz="1200" dirty="0"/>
          </a:p>
        </p:txBody>
      </p:sp>
      <p:sp>
        <p:nvSpPr>
          <p:cNvPr id="79" name="Text 25"/>
          <p:cNvSpPr/>
          <p:nvPr/>
        </p:nvSpPr>
        <p:spPr>
          <a:xfrm>
            <a:off x="7925064" y="2209800"/>
            <a:ext cx="16200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l">
              <a:lnSpc>
                <a:spcPts val="1200"/>
              </a:lnSpc>
              <a:buSzPct val="100000"/>
            </a:pPr>
            <a:r>
              <a:rPr lang="en-US" sz="9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• 파이프라인 요약 정보</a:t>
            </a:r>
            <a:endParaRPr lang="en-US" sz="900" dirty="0"/>
          </a:p>
        </p:txBody>
      </p:sp>
      <p:sp>
        <p:nvSpPr>
          <p:cNvPr id="80" name="Text 26"/>
          <p:cNvSpPr/>
          <p:nvPr/>
        </p:nvSpPr>
        <p:spPr>
          <a:xfrm>
            <a:off x="7925064" y="2400300"/>
            <a:ext cx="16200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l">
              <a:lnSpc>
                <a:spcPts val="1200"/>
              </a:lnSpc>
              <a:buSzPct val="100000"/>
            </a:pPr>
            <a:r>
              <a:rPr lang="en-US" sz="9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• 활성 파이프라인 목록</a:t>
            </a:r>
            <a:endParaRPr lang="en-US" sz="900" dirty="0"/>
          </a:p>
        </p:txBody>
      </p:sp>
      <p:sp>
        <p:nvSpPr>
          <p:cNvPr id="81" name="Text 27"/>
          <p:cNvSpPr/>
          <p:nvPr/>
        </p:nvSpPr>
        <p:spPr>
          <a:xfrm>
            <a:off x="7925064" y="2590800"/>
            <a:ext cx="16200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l">
              <a:lnSpc>
                <a:spcPts val="1200"/>
              </a:lnSpc>
              <a:buSzPct val="100000"/>
            </a:pPr>
            <a:r>
              <a:rPr lang="en-US" sz="9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• 최근 이벤트 및 알림</a:t>
            </a:r>
            <a:endParaRPr lang="en-US" sz="900" dirty="0"/>
          </a:p>
        </p:txBody>
      </p:sp>
      <p:sp>
        <p:nvSpPr>
          <p:cNvPr id="82" name="Text 28"/>
          <p:cNvSpPr/>
          <p:nvPr/>
        </p:nvSpPr>
        <p:spPr>
          <a:xfrm>
            <a:off x="10084891" y="1828800"/>
            <a:ext cx="96529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 err="1" smtClean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커넥션</a:t>
            </a:r>
            <a:r>
              <a:rPr lang="en-US" sz="1200" b="1" dirty="0" smtClean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en-US" sz="1200" b="1" dirty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설정</a:t>
            </a:r>
            <a:endParaRPr lang="en-US" sz="1200" dirty="0"/>
          </a:p>
        </p:txBody>
      </p:sp>
      <p:sp>
        <p:nvSpPr>
          <p:cNvPr id="83" name="Text 29"/>
          <p:cNvSpPr/>
          <p:nvPr/>
        </p:nvSpPr>
        <p:spPr>
          <a:xfrm>
            <a:off x="10069975" y="2209800"/>
            <a:ext cx="16200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l">
              <a:lnSpc>
                <a:spcPts val="1200"/>
              </a:lnSpc>
              <a:buSzPct val="100000"/>
            </a:pPr>
            <a:r>
              <a:rPr lang="en-US" sz="9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• 연결 유형 선택</a:t>
            </a:r>
            <a:endParaRPr lang="en-US" sz="900" dirty="0"/>
          </a:p>
        </p:txBody>
      </p:sp>
      <p:sp>
        <p:nvSpPr>
          <p:cNvPr id="84" name="Text 30"/>
          <p:cNvSpPr/>
          <p:nvPr/>
        </p:nvSpPr>
        <p:spPr>
          <a:xfrm>
            <a:off x="10069975" y="2400300"/>
            <a:ext cx="16200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l">
              <a:lnSpc>
                <a:spcPts val="1200"/>
              </a:lnSpc>
              <a:buSzPct val="100000"/>
            </a:pPr>
            <a:r>
              <a:rPr lang="en-US" sz="9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• 설정 폼 (JDBC URL 등)</a:t>
            </a:r>
            <a:endParaRPr lang="en-US" sz="900" dirty="0"/>
          </a:p>
        </p:txBody>
      </p:sp>
      <p:sp>
        <p:nvSpPr>
          <p:cNvPr id="85" name="Text 31"/>
          <p:cNvSpPr/>
          <p:nvPr/>
        </p:nvSpPr>
        <p:spPr>
          <a:xfrm>
            <a:off x="10069975" y="2590800"/>
            <a:ext cx="16200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l">
              <a:lnSpc>
                <a:spcPts val="1200"/>
              </a:lnSpc>
              <a:buSzPct val="100000"/>
            </a:pPr>
            <a:r>
              <a:rPr lang="en-US" sz="9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• 연결 테스트 및 저장</a:t>
            </a:r>
            <a:endParaRPr lang="en-US" sz="900" dirty="0"/>
          </a:p>
        </p:txBody>
      </p:sp>
      <p:sp>
        <p:nvSpPr>
          <p:cNvPr id="86" name="Text 32"/>
          <p:cNvSpPr/>
          <p:nvPr/>
        </p:nvSpPr>
        <p:spPr>
          <a:xfrm>
            <a:off x="7997130" y="3162300"/>
            <a:ext cx="133105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파이프라인 생성</a:t>
            </a:r>
            <a:endParaRPr lang="en-US" sz="1200" dirty="0"/>
          </a:p>
        </p:txBody>
      </p:sp>
      <p:sp>
        <p:nvSpPr>
          <p:cNvPr id="87" name="Text 33"/>
          <p:cNvSpPr/>
          <p:nvPr/>
        </p:nvSpPr>
        <p:spPr>
          <a:xfrm>
            <a:off x="7925064" y="3543300"/>
            <a:ext cx="16200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l">
              <a:lnSpc>
                <a:spcPts val="1200"/>
              </a:lnSpc>
              <a:buSzPct val="100000"/>
            </a:pPr>
            <a:r>
              <a:rPr lang="en-US" sz="9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• </a:t>
            </a:r>
            <a:r>
              <a:rPr lang="ko-KR" altLang="en-US" sz="9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단계적 수행</a:t>
            </a:r>
            <a:endParaRPr lang="en-US" sz="900" dirty="0"/>
          </a:p>
        </p:txBody>
      </p:sp>
      <p:sp>
        <p:nvSpPr>
          <p:cNvPr id="88" name="Text 34"/>
          <p:cNvSpPr/>
          <p:nvPr/>
        </p:nvSpPr>
        <p:spPr>
          <a:xfrm>
            <a:off x="7925064" y="3733800"/>
            <a:ext cx="16200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l">
              <a:lnSpc>
                <a:spcPts val="1200"/>
              </a:lnSpc>
              <a:buSzPct val="100000"/>
            </a:pPr>
            <a:r>
              <a:rPr lang="en-US" sz="9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• 노드 상세 설정 패널</a:t>
            </a:r>
            <a:endParaRPr lang="en-US" sz="900" dirty="0"/>
          </a:p>
        </p:txBody>
      </p:sp>
      <p:sp>
        <p:nvSpPr>
          <p:cNvPr id="89" name="Text 35"/>
          <p:cNvSpPr/>
          <p:nvPr/>
        </p:nvSpPr>
        <p:spPr>
          <a:xfrm>
            <a:off x="7925064" y="3924300"/>
            <a:ext cx="16200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l">
              <a:lnSpc>
                <a:spcPts val="1200"/>
              </a:lnSpc>
              <a:buSzPct val="100000"/>
            </a:pPr>
            <a:r>
              <a:rPr lang="en-US" sz="9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• 저장/실행/유효성 검사 버튼</a:t>
            </a:r>
            <a:endParaRPr lang="en-US" sz="900" dirty="0"/>
          </a:p>
        </p:txBody>
      </p:sp>
      <p:sp>
        <p:nvSpPr>
          <p:cNvPr id="90" name="Text 36"/>
          <p:cNvSpPr/>
          <p:nvPr/>
        </p:nvSpPr>
        <p:spPr>
          <a:xfrm>
            <a:off x="10122991" y="3162300"/>
            <a:ext cx="7315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모니터링</a:t>
            </a:r>
            <a:endParaRPr lang="en-US" sz="1200" dirty="0"/>
          </a:p>
        </p:txBody>
      </p:sp>
      <p:sp>
        <p:nvSpPr>
          <p:cNvPr id="91" name="Text 37"/>
          <p:cNvSpPr/>
          <p:nvPr/>
        </p:nvSpPr>
        <p:spPr>
          <a:xfrm>
            <a:off x="10069975" y="3543300"/>
            <a:ext cx="16200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l">
              <a:lnSpc>
                <a:spcPts val="1200"/>
              </a:lnSpc>
              <a:buSzPct val="100000"/>
            </a:pPr>
            <a:r>
              <a:rPr lang="en-US" sz="9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• 실행 상태 그래프</a:t>
            </a:r>
            <a:endParaRPr lang="en-US" sz="900" dirty="0"/>
          </a:p>
        </p:txBody>
      </p:sp>
      <p:sp>
        <p:nvSpPr>
          <p:cNvPr id="92" name="Text 38"/>
          <p:cNvSpPr/>
          <p:nvPr/>
        </p:nvSpPr>
        <p:spPr>
          <a:xfrm>
            <a:off x="10069975" y="3733800"/>
            <a:ext cx="16200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l">
              <a:lnSpc>
                <a:spcPts val="1200"/>
              </a:lnSpc>
              <a:buSzPct val="100000"/>
            </a:pPr>
            <a:r>
              <a:rPr lang="en-US" sz="9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• 성능 지표 (처리량, 지연)</a:t>
            </a:r>
            <a:endParaRPr lang="en-US" sz="900" dirty="0"/>
          </a:p>
        </p:txBody>
      </p:sp>
      <p:sp>
        <p:nvSpPr>
          <p:cNvPr id="93" name="Text 39"/>
          <p:cNvSpPr/>
          <p:nvPr/>
        </p:nvSpPr>
        <p:spPr>
          <a:xfrm>
            <a:off x="10069975" y="3924300"/>
            <a:ext cx="16200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l">
              <a:lnSpc>
                <a:spcPts val="1200"/>
              </a:lnSpc>
              <a:buSzPct val="100000"/>
            </a:pPr>
            <a:r>
              <a:rPr lang="en-US" sz="9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• 상세 로그 테이블</a:t>
            </a:r>
            <a:endParaRPr lang="en-US" sz="900" dirty="0"/>
          </a:p>
        </p:txBody>
      </p:sp>
      <p:pic>
        <p:nvPicPr>
          <p:cNvPr id="94" name="Image 12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76275" y="2209800"/>
            <a:ext cx="152400" cy="152400"/>
          </a:xfrm>
          <a:prstGeom prst="rect">
            <a:avLst/>
          </a:prstGeom>
        </p:spPr>
      </p:pic>
      <p:pic>
        <p:nvPicPr>
          <p:cNvPr id="95" name="Image 12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76275" y="2743200"/>
            <a:ext cx="152400" cy="152400"/>
          </a:xfrm>
          <a:prstGeom prst="rect">
            <a:avLst/>
          </a:prstGeom>
        </p:spPr>
      </p:pic>
      <p:pic>
        <p:nvPicPr>
          <p:cNvPr id="98" name="Image 12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76275" y="1699869"/>
            <a:ext cx="152400" cy="152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800100"/>
            <a:ext cx="7620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6800" y="973316"/>
            <a:ext cx="2438400" cy="14859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0" y="1125716"/>
            <a:ext cx="571500" cy="571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67413" y="1259066"/>
            <a:ext cx="257175" cy="304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0" y="3470838"/>
            <a:ext cx="1143000" cy="190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7000" y="3489888"/>
            <a:ext cx="19050" cy="5715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1000" y="2613588"/>
            <a:ext cx="2686050" cy="19431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38275" y="2765988"/>
            <a:ext cx="571500" cy="5715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638300" y="2899338"/>
            <a:ext cx="171450" cy="3048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95650" y="2613588"/>
            <a:ext cx="2686050" cy="19431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52925" y="2765988"/>
            <a:ext cx="571500" cy="5715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10088" y="2899338"/>
            <a:ext cx="257175" cy="3048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10300" y="2613588"/>
            <a:ext cx="2686050" cy="19431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267575" y="2765988"/>
            <a:ext cx="571500" cy="5715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439025" y="2899338"/>
            <a:ext cx="228600" cy="3048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24950" y="2613588"/>
            <a:ext cx="2686050" cy="19431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182225" y="2765988"/>
            <a:ext cx="571500" cy="5715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353675" y="2899338"/>
            <a:ext cx="228600" cy="304800"/>
          </a:xfrm>
          <a:prstGeom prst="rect">
            <a:avLst/>
          </a:prstGeom>
        </p:spPr>
      </p:pic>
      <p:sp>
        <p:nvSpPr>
          <p:cNvPr id="40" name="Text 0"/>
          <p:cNvSpPr/>
          <p:nvPr/>
        </p:nvSpPr>
        <p:spPr>
          <a:xfrm>
            <a:off x="381000" y="381000"/>
            <a:ext cx="114300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개발 메뉴 구조</a:t>
            </a:r>
            <a:endParaRPr lang="en-US" sz="2250" dirty="0"/>
          </a:p>
        </p:txBody>
      </p:sp>
      <p:sp>
        <p:nvSpPr>
          <p:cNvPr id="41" name="Text 1"/>
          <p:cNvSpPr/>
          <p:nvPr/>
        </p:nvSpPr>
        <p:spPr>
          <a:xfrm>
            <a:off x="5029200" y="1811516"/>
            <a:ext cx="2133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대시보드</a:t>
            </a:r>
            <a:endParaRPr lang="en-US" sz="1350" dirty="0"/>
          </a:p>
        </p:txBody>
      </p:sp>
      <p:sp>
        <p:nvSpPr>
          <p:cNvPr id="42" name="Text 2"/>
          <p:cNvSpPr/>
          <p:nvPr/>
        </p:nvSpPr>
        <p:spPr>
          <a:xfrm>
            <a:off x="4815840" y="2116316"/>
            <a:ext cx="25603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전체 파이프라인 운영 상태 요약</a:t>
            </a:r>
            <a:endParaRPr lang="en-US" sz="1050" dirty="0"/>
          </a:p>
        </p:txBody>
      </p:sp>
      <p:sp>
        <p:nvSpPr>
          <p:cNvPr id="43" name="Text 3"/>
          <p:cNvSpPr/>
          <p:nvPr/>
        </p:nvSpPr>
        <p:spPr>
          <a:xfrm>
            <a:off x="533400" y="3451788"/>
            <a:ext cx="23812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커넥션</a:t>
            </a:r>
            <a:endParaRPr lang="en-US" sz="1350" dirty="0"/>
          </a:p>
        </p:txBody>
      </p:sp>
      <p:sp>
        <p:nvSpPr>
          <p:cNvPr id="44" name="Text 4"/>
          <p:cNvSpPr/>
          <p:nvPr/>
        </p:nvSpPr>
        <p:spPr>
          <a:xfrm>
            <a:off x="665094" y="3756588"/>
            <a:ext cx="2876550" cy="1619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RDB, 파일, API, Kafka 연결</a:t>
            </a:r>
            <a:endParaRPr lang="en-US" sz="1050" dirty="0"/>
          </a:p>
        </p:txBody>
      </p:sp>
      <p:sp>
        <p:nvSpPr>
          <p:cNvPr id="45" name="Text 5"/>
          <p:cNvSpPr/>
          <p:nvPr/>
        </p:nvSpPr>
        <p:spPr>
          <a:xfrm>
            <a:off x="665094" y="3985188"/>
            <a:ext cx="23812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MongoDB 타겟 설정</a:t>
            </a:r>
            <a:endParaRPr lang="en-US" sz="1050" dirty="0"/>
          </a:p>
        </p:txBody>
      </p:sp>
      <p:sp>
        <p:nvSpPr>
          <p:cNvPr id="46" name="Text 6"/>
          <p:cNvSpPr/>
          <p:nvPr/>
        </p:nvSpPr>
        <p:spPr>
          <a:xfrm>
            <a:off x="665094" y="4213788"/>
            <a:ext cx="23812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연결 테스트 기능</a:t>
            </a:r>
            <a:endParaRPr lang="en-US" sz="1050" dirty="0"/>
          </a:p>
        </p:txBody>
      </p:sp>
      <p:sp>
        <p:nvSpPr>
          <p:cNvPr id="47" name="Text 7"/>
          <p:cNvSpPr/>
          <p:nvPr/>
        </p:nvSpPr>
        <p:spPr>
          <a:xfrm>
            <a:off x="3448050" y="3451788"/>
            <a:ext cx="23812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파이프라인</a:t>
            </a:r>
            <a:endParaRPr lang="en-US" sz="1350" dirty="0"/>
          </a:p>
        </p:txBody>
      </p:sp>
      <p:sp>
        <p:nvSpPr>
          <p:cNvPr id="48" name="Text 8"/>
          <p:cNvSpPr/>
          <p:nvPr/>
        </p:nvSpPr>
        <p:spPr>
          <a:xfrm>
            <a:off x="3579744" y="3756588"/>
            <a:ext cx="23812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altLang="ko-KR" sz="10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en-US" altLang="ko-KR" sz="1050" dirty="0" err="1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즉시</a:t>
            </a:r>
            <a:r>
              <a:rPr lang="en-US" altLang="ko-KR" sz="10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en-US" altLang="ko-KR" sz="1050" dirty="0" err="1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실행</a:t>
            </a:r>
            <a:r>
              <a:rPr lang="en-US" altLang="ko-KR" sz="10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, </a:t>
            </a:r>
            <a:r>
              <a:rPr lang="en-US" altLang="ko-KR" sz="1050" dirty="0" err="1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예약</a:t>
            </a:r>
            <a:r>
              <a:rPr lang="en-US" altLang="ko-KR" sz="10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en-US" altLang="ko-KR" sz="1050" dirty="0" err="1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실행</a:t>
            </a:r>
            <a:endParaRPr lang="en-US" altLang="ko-KR" sz="1050" dirty="0"/>
          </a:p>
        </p:txBody>
      </p:sp>
      <p:sp>
        <p:nvSpPr>
          <p:cNvPr id="49" name="Text 9"/>
          <p:cNvSpPr/>
          <p:nvPr/>
        </p:nvSpPr>
        <p:spPr>
          <a:xfrm>
            <a:off x="3579744" y="3985188"/>
            <a:ext cx="23812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altLang="ko-KR" sz="10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en-US" altLang="ko-KR" sz="1050" dirty="0" err="1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버전</a:t>
            </a:r>
            <a:r>
              <a:rPr lang="en-US" altLang="ko-KR" sz="10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en-US" altLang="ko-KR" sz="1050" dirty="0" err="1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관리</a:t>
            </a:r>
            <a:r>
              <a:rPr lang="en-US" altLang="ko-KR" sz="10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en-US" altLang="ko-KR" sz="1050" dirty="0" err="1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기능</a:t>
            </a:r>
            <a:endParaRPr lang="en-US" altLang="ko-KR" sz="1050" dirty="0"/>
          </a:p>
        </p:txBody>
      </p:sp>
      <p:sp>
        <p:nvSpPr>
          <p:cNvPr id="51" name="Text 11"/>
          <p:cNvSpPr/>
          <p:nvPr/>
        </p:nvSpPr>
        <p:spPr>
          <a:xfrm>
            <a:off x="6362700" y="3451788"/>
            <a:ext cx="23812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모니터링</a:t>
            </a:r>
            <a:endParaRPr lang="en-US" sz="1350" dirty="0"/>
          </a:p>
        </p:txBody>
      </p:sp>
      <p:sp>
        <p:nvSpPr>
          <p:cNvPr id="52" name="Text 12"/>
          <p:cNvSpPr/>
          <p:nvPr/>
        </p:nvSpPr>
        <p:spPr>
          <a:xfrm>
            <a:off x="6437244" y="3756588"/>
            <a:ext cx="24384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성능 지표 시각화</a:t>
            </a:r>
            <a:endParaRPr lang="en-US" sz="1050" dirty="0"/>
          </a:p>
        </p:txBody>
      </p:sp>
      <p:sp>
        <p:nvSpPr>
          <p:cNvPr id="53" name="Text 13"/>
          <p:cNvSpPr/>
          <p:nvPr/>
        </p:nvSpPr>
        <p:spPr>
          <a:xfrm>
            <a:off x="6456294" y="3985188"/>
            <a:ext cx="2419350" cy="1619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상세 로그 검색</a:t>
            </a:r>
            <a:endParaRPr lang="en-US" sz="1050" dirty="0"/>
          </a:p>
        </p:txBody>
      </p:sp>
      <p:sp>
        <p:nvSpPr>
          <p:cNvPr id="54" name="Text 14"/>
          <p:cNvSpPr/>
          <p:nvPr/>
        </p:nvSpPr>
        <p:spPr>
          <a:xfrm>
            <a:off x="6456294" y="4213788"/>
            <a:ext cx="2400300" cy="1619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알림 설정</a:t>
            </a:r>
            <a:endParaRPr lang="en-US" sz="1050" dirty="0"/>
          </a:p>
        </p:txBody>
      </p:sp>
      <p:sp>
        <p:nvSpPr>
          <p:cNvPr id="55" name="Text 15"/>
          <p:cNvSpPr/>
          <p:nvPr/>
        </p:nvSpPr>
        <p:spPr>
          <a:xfrm>
            <a:off x="9277350" y="3451788"/>
            <a:ext cx="23812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설정</a:t>
            </a:r>
            <a:endParaRPr lang="en-US" sz="1350" dirty="0"/>
          </a:p>
        </p:txBody>
      </p:sp>
      <p:sp>
        <p:nvSpPr>
          <p:cNvPr id="56" name="Text 16"/>
          <p:cNvSpPr/>
          <p:nvPr/>
        </p:nvSpPr>
        <p:spPr>
          <a:xfrm>
            <a:off x="9418983" y="3756588"/>
            <a:ext cx="2419350" cy="17499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>
              <a:lnSpc>
                <a:spcPts val="1500"/>
              </a:lnSpc>
              <a:buSzPct val="100000"/>
              <a:buFontTx/>
              <a:buChar char="•"/>
            </a:pPr>
            <a:r>
              <a:rPr lang="en-US" altLang="ko-KR" sz="10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en-US" altLang="ko-KR" sz="1050" dirty="0" err="1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시스템</a:t>
            </a:r>
            <a:r>
              <a:rPr lang="en-US" altLang="ko-KR" sz="10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en-US" altLang="ko-KR" sz="1050" dirty="0" err="1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환경</a:t>
            </a:r>
            <a:r>
              <a:rPr lang="en-US" altLang="ko-KR" sz="10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en-US" altLang="ko-KR" sz="1050" dirty="0" err="1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설정</a:t>
            </a:r>
            <a:endParaRPr lang="en-US" altLang="ko-KR" sz="1050" dirty="0"/>
          </a:p>
        </p:txBody>
      </p:sp>
      <p:sp>
        <p:nvSpPr>
          <p:cNvPr id="57" name="Text 17"/>
          <p:cNvSpPr/>
          <p:nvPr/>
        </p:nvSpPr>
        <p:spPr>
          <a:xfrm>
            <a:off x="9418983" y="3985188"/>
            <a:ext cx="2362200" cy="13932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en-US" sz="1050" dirty="0" err="1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알림</a:t>
            </a:r>
            <a:r>
              <a:rPr lang="en-US" sz="10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en-US" sz="1050" dirty="0" err="1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채널</a:t>
            </a:r>
            <a:r>
              <a:rPr lang="en-US" sz="105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ko-KR" altLang="en-US" sz="105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및 규칙</a:t>
            </a:r>
            <a:r>
              <a:rPr lang="en-US" sz="105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en-US" sz="10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설정</a:t>
            </a:r>
            <a:endParaRPr lang="en-US" sz="1050" dirty="0"/>
          </a:p>
        </p:txBody>
      </p:sp>
      <p:sp>
        <p:nvSpPr>
          <p:cNvPr id="58" name="Text 18"/>
          <p:cNvSpPr/>
          <p:nvPr/>
        </p:nvSpPr>
        <p:spPr>
          <a:xfrm>
            <a:off x="9418983" y="4213788"/>
            <a:ext cx="23812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altLang="ko-KR" sz="1050" dirty="0" err="1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사용자</a:t>
            </a:r>
            <a:r>
              <a:rPr lang="en-US" altLang="ko-KR" sz="10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en-US" altLang="ko-KR" sz="1050" dirty="0" err="1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계정</a:t>
            </a:r>
            <a:r>
              <a:rPr lang="en-US" altLang="ko-KR" sz="10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en-US" altLang="ko-KR" sz="1050" dirty="0" err="1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관리</a:t>
            </a:r>
            <a:r>
              <a:rPr lang="en-US" altLang="ko-KR" sz="10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ko-KR" altLang="en-US" sz="10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및 권한 관리</a:t>
            </a:r>
            <a:endParaRPr lang="en-US" altLang="ko-KR" sz="1050" dirty="0"/>
          </a:p>
        </p:txBody>
      </p:sp>
      <p:sp>
        <p:nvSpPr>
          <p:cNvPr id="63" name="Text 1"/>
          <p:cNvSpPr/>
          <p:nvPr/>
        </p:nvSpPr>
        <p:spPr>
          <a:xfrm>
            <a:off x="381000" y="914400"/>
            <a:ext cx="114300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데이터 통합 솔루션의 핵심 기능 구조</a:t>
            </a:r>
            <a:endParaRPr lang="en-US" sz="1200" dirty="0"/>
          </a:p>
        </p:txBody>
      </p:sp>
      <p:pic>
        <p:nvPicPr>
          <p:cNvPr id="65" name="Image 23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51950" y="4838892"/>
            <a:ext cx="10159901" cy="1562100"/>
          </a:xfrm>
          <a:prstGeom prst="rect">
            <a:avLst/>
          </a:prstGeom>
        </p:spPr>
      </p:pic>
      <p:pic>
        <p:nvPicPr>
          <p:cNvPr id="66" name="Image 24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279251" y="5029392"/>
            <a:ext cx="142875" cy="266700"/>
          </a:xfrm>
          <a:prstGeom prst="rect">
            <a:avLst/>
          </a:prstGeom>
        </p:spPr>
      </p:pic>
      <p:pic>
        <p:nvPicPr>
          <p:cNvPr id="67" name="Image 25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342450" y="5410392"/>
            <a:ext cx="3056334" cy="800100"/>
          </a:xfrm>
          <a:prstGeom prst="rect">
            <a:avLst/>
          </a:prstGeom>
        </p:spPr>
      </p:pic>
      <p:pic>
        <p:nvPicPr>
          <p:cNvPr id="68" name="Image 26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456750" y="5524692"/>
            <a:ext cx="342900" cy="381000"/>
          </a:xfrm>
          <a:prstGeom prst="rect">
            <a:avLst/>
          </a:prstGeom>
        </p:spPr>
      </p:pic>
      <p:pic>
        <p:nvPicPr>
          <p:cNvPr id="69" name="Image 27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532950" y="5619942"/>
            <a:ext cx="190500" cy="152400"/>
          </a:xfrm>
          <a:prstGeom prst="rect">
            <a:avLst/>
          </a:prstGeom>
        </p:spPr>
      </p:pic>
      <p:pic>
        <p:nvPicPr>
          <p:cNvPr id="70" name="Image 28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703584" y="5410392"/>
            <a:ext cx="3056483" cy="800100"/>
          </a:xfrm>
          <a:prstGeom prst="rect">
            <a:avLst/>
          </a:prstGeom>
        </p:spPr>
      </p:pic>
      <p:pic>
        <p:nvPicPr>
          <p:cNvPr id="71" name="Image 29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817884" y="5524692"/>
            <a:ext cx="304800" cy="381000"/>
          </a:xfrm>
          <a:prstGeom prst="rect">
            <a:avLst/>
          </a:prstGeom>
        </p:spPr>
      </p:pic>
      <p:pic>
        <p:nvPicPr>
          <p:cNvPr id="72" name="Image 30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894084" y="5619942"/>
            <a:ext cx="152400" cy="152400"/>
          </a:xfrm>
          <a:prstGeom prst="rect">
            <a:avLst/>
          </a:prstGeom>
        </p:spPr>
      </p:pic>
      <p:pic>
        <p:nvPicPr>
          <p:cNvPr id="73" name="Image 31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064867" y="5410392"/>
            <a:ext cx="3056334" cy="800100"/>
          </a:xfrm>
          <a:prstGeom prst="rect">
            <a:avLst/>
          </a:prstGeom>
        </p:spPr>
      </p:pic>
      <p:pic>
        <p:nvPicPr>
          <p:cNvPr id="74" name="Image 32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179167" y="5524692"/>
            <a:ext cx="304800" cy="381000"/>
          </a:xfrm>
          <a:prstGeom prst="rect">
            <a:avLst/>
          </a:prstGeom>
        </p:spPr>
      </p:pic>
      <p:pic>
        <p:nvPicPr>
          <p:cNvPr id="75" name="Image 33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255367" y="5619942"/>
            <a:ext cx="152400" cy="152400"/>
          </a:xfrm>
          <a:prstGeom prst="rect">
            <a:avLst/>
          </a:prstGeom>
        </p:spPr>
      </p:pic>
      <p:sp>
        <p:nvSpPr>
          <p:cNvPr id="76" name="Text 13"/>
          <p:cNvSpPr/>
          <p:nvPr/>
        </p:nvSpPr>
        <p:spPr>
          <a:xfrm>
            <a:off x="5498326" y="5029392"/>
            <a:ext cx="202328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메뉴 구조의 핵심 특징</a:t>
            </a:r>
            <a:endParaRPr lang="en-US" sz="1350" dirty="0"/>
          </a:p>
        </p:txBody>
      </p:sp>
      <p:sp>
        <p:nvSpPr>
          <p:cNvPr id="77" name="Text 14"/>
          <p:cNvSpPr/>
          <p:nvPr/>
        </p:nvSpPr>
        <p:spPr>
          <a:xfrm>
            <a:off x="1913950" y="5524692"/>
            <a:ext cx="2370534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인터페이스 통합</a:t>
            </a:r>
            <a:r>
              <a:rPr lang="en-US" sz="105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
사용자 친화적 인터페이스로 기술적 전문성 없이도 쉽게 활용 가능</a:t>
            </a:r>
            <a:endParaRPr lang="en-US" sz="1050" dirty="0"/>
          </a:p>
        </p:txBody>
      </p:sp>
      <p:sp>
        <p:nvSpPr>
          <p:cNvPr id="78" name="Text 15"/>
          <p:cNvSpPr/>
          <p:nvPr/>
        </p:nvSpPr>
        <p:spPr>
          <a:xfrm>
            <a:off x="5236984" y="5524692"/>
            <a:ext cx="2408783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모듈형 구조</a:t>
            </a:r>
            <a:r>
              <a:rPr lang="en-US" sz="105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
각 기능의 독립성과 확장성을 최대화하는 컴포넌트 아키텍처</a:t>
            </a:r>
            <a:endParaRPr lang="en-US" sz="1050" dirty="0"/>
          </a:p>
        </p:txBody>
      </p:sp>
      <p:sp>
        <p:nvSpPr>
          <p:cNvPr id="79" name="Text 16"/>
          <p:cNvSpPr/>
          <p:nvPr/>
        </p:nvSpPr>
        <p:spPr>
          <a:xfrm>
            <a:off x="8598267" y="5524692"/>
            <a:ext cx="2408634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보안 강화</a:t>
            </a:r>
            <a:r>
              <a:rPr lang="en-US" sz="105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
JSON Web Token을 이용한 접근 제어와 데이터 암호화 지원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961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96100"/>
          </a:xfrm>
          <a:prstGeom prst="rect">
            <a:avLst/>
          </a:prstGeom>
        </p:spPr>
      </p:pic>
      <p:sp>
        <p:nvSpPr>
          <p:cNvPr id="29" name="Text 1"/>
          <p:cNvSpPr/>
          <p:nvPr/>
        </p:nvSpPr>
        <p:spPr>
          <a:xfrm>
            <a:off x="381000" y="876300"/>
            <a:ext cx="114300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대시보드는 사용자가 로그인했을 때 가장 먼저 접하는 화면으로, 현재 운영 중인 모든 데이터 파이프라인의 핵심 지표와 상태를 한눈에 파악할 수 있도록 설계됩니다.</a:t>
            </a:r>
            <a:endParaRPr lang="en-US" sz="1200" dirty="0"/>
          </a:p>
        </p:txBody>
      </p:sp>
      <p:grpSp>
        <p:nvGrpSpPr>
          <p:cNvPr id="28" name="그룹 27"/>
          <p:cNvGrpSpPr/>
          <p:nvPr/>
        </p:nvGrpSpPr>
        <p:grpSpPr>
          <a:xfrm>
            <a:off x="380999" y="1638300"/>
            <a:ext cx="9496291" cy="4533900"/>
            <a:chOff x="381000" y="1638300"/>
            <a:chExt cx="11605260" cy="4533900"/>
          </a:xfrm>
        </p:grpSpPr>
        <p:pic>
          <p:nvPicPr>
            <p:cNvPr id="4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81000" y="1638300"/>
              <a:ext cx="3708350" cy="838200"/>
            </a:xfrm>
            <a:prstGeom prst="rect">
              <a:avLst/>
            </a:prstGeom>
          </p:spPr>
        </p:pic>
        <p:pic>
          <p:nvPicPr>
            <p:cNvPr id="5" name="Image 3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33400" y="1828800"/>
              <a:ext cx="457200" cy="457200"/>
            </a:xfrm>
            <a:prstGeom prst="rect">
              <a:avLst/>
            </a:prstGeom>
          </p:spPr>
        </p:pic>
        <p:pic>
          <p:nvPicPr>
            <p:cNvPr id="6" name="Image 4" descr="preencode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52463" y="1924050"/>
              <a:ext cx="219075" cy="266700"/>
            </a:xfrm>
            <a:prstGeom prst="rect">
              <a:avLst/>
            </a:prstGeom>
          </p:spPr>
        </p:pic>
        <p:pic>
          <p:nvPicPr>
            <p:cNvPr id="7" name="Image 5" descr="preencoded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81000" y="2628900"/>
              <a:ext cx="3708350" cy="2171700"/>
            </a:xfrm>
            <a:prstGeom prst="rect">
              <a:avLst/>
            </a:prstGeom>
          </p:spPr>
        </p:pic>
        <p:pic>
          <p:nvPicPr>
            <p:cNvPr id="8" name="Image 6" descr="preencoded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33400" y="2819400"/>
              <a:ext cx="171450" cy="152400"/>
            </a:xfrm>
            <a:prstGeom prst="rect">
              <a:avLst/>
            </a:prstGeom>
          </p:spPr>
        </p:pic>
        <p:pic>
          <p:nvPicPr>
            <p:cNvPr id="9" name="Image 7" descr="preencoded.pn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33400" y="4038600"/>
              <a:ext cx="3400425" cy="609600"/>
            </a:xfrm>
            <a:prstGeom prst="rect">
              <a:avLst/>
            </a:prstGeom>
          </p:spPr>
        </p:pic>
        <p:pic>
          <p:nvPicPr>
            <p:cNvPr id="10" name="Image 8" descr="preencoded.pn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241750" y="1638300"/>
              <a:ext cx="4673650" cy="2362200"/>
            </a:xfrm>
            <a:prstGeom prst="rect">
              <a:avLst/>
            </a:prstGeom>
          </p:spPr>
        </p:pic>
        <p:pic>
          <p:nvPicPr>
            <p:cNvPr id="11" name="Image 9" descr="preencoded.pn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394150" y="1828800"/>
              <a:ext cx="152400" cy="152400"/>
            </a:xfrm>
            <a:prstGeom prst="rect">
              <a:avLst/>
            </a:prstGeom>
          </p:spPr>
        </p:pic>
        <p:pic>
          <p:nvPicPr>
            <p:cNvPr id="12" name="Image 10" descr="preencoded.pn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4394150" y="2133600"/>
              <a:ext cx="4368850" cy="1713161"/>
            </a:xfrm>
            <a:prstGeom prst="rect">
              <a:avLst/>
            </a:prstGeom>
          </p:spPr>
        </p:pic>
        <p:pic>
          <p:nvPicPr>
            <p:cNvPr id="13" name="Image 11" descr="preencoded.pn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4241750" y="4152900"/>
              <a:ext cx="4673650" cy="2019300"/>
            </a:xfrm>
            <a:prstGeom prst="rect">
              <a:avLst/>
            </a:prstGeom>
          </p:spPr>
        </p:pic>
        <p:pic>
          <p:nvPicPr>
            <p:cNvPr id="14" name="Image 12" descr="preencoded.png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4394150" y="4343400"/>
              <a:ext cx="152400" cy="152400"/>
            </a:xfrm>
            <a:prstGeom prst="rect">
              <a:avLst/>
            </a:prstGeom>
          </p:spPr>
        </p:pic>
        <p:pic>
          <p:nvPicPr>
            <p:cNvPr id="15" name="Image 13" descr="preencoded.png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4394150" y="4648200"/>
              <a:ext cx="4368850" cy="342900"/>
            </a:xfrm>
            <a:prstGeom prst="rect">
              <a:avLst/>
            </a:prstGeom>
          </p:spPr>
        </p:pic>
        <p:pic>
          <p:nvPicPr>
            <p:cNvPr id="16" name="Image 14" descr="preencoded.png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4394150" y="4991100"/>
              <a:ext cx="4368850" cy="342900"/>
            </a:xfrm>
            <a:prstGeom prst="rect">
              <a:avLst/>
            </a:prstGeom>
          </p:spPr>
        </p:pic>
        <p:pic>
          <p:nvPicPr>
            <p:cNvPr id="17" name="Image 15" descr="preencoded.png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4394150" y="5334000"/>
              <a:ext cx="4368850" cy="342900"/>
            </a:xfrm>
            <a:prstGeom prst="rect">
              <a:avLst/>
            </a:prstGeom>
          </p:spPr>
        </p:pic>
        <p:pic>
          <p:nvPicPr>
            <p:cNvPr id="18" name="Image 16" descr="preencoded.png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4394150" y="5676900"/>
              <a:ext cx="4368850" cy="342900"/>
            </a:xfrm>
            <a:prstGeom prst="rect">
              <a:avLst/>
            </a:prstGeom>
          </p:spPr>
        </p:pic>
        <p:pic>
          <p:nvPicPr>
            <p:cNvPr id="19" name="Image 17" descr="preencoded.png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9067800" y="1638300"/>
              <a:ext cx="2796924" cy="1981200"/>
            </a:xfrm>
            <a:prstGeom prst="rect">
              <a:avLst/>
            </a:prstGeom>
          </p:spPr>
        </p:pic>
        <p:pic>
          <p:nvPicPr>
            <p:cNvPr id="20" name="Image 18" descr="preencoded.png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9220200" y="1828800"/>
              <a:ext cx="152400" cy="152400"/>
            </a:xfrm>
            <a:prstGeom prst="rect">
              <a:avLst/>
            </a:prstGeom>
          </p:spPr>
        </p:pic>
        <p:pic>
          <p:nvPicPr>
            <p:cNvPr id="21" name="Image 19" descr="preencoded.png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9220200" y="2133600"/>
              <a:ext cx="2583064" cy="609600"/>
            </a:xfrm>
            <a:prstGeom prst="rect">
              <a:avLst/>
            </a:prstGeom>
          </p:spPr>
        </p:pic>
        <p:pic>
          <p:nvPicPr>
            <p:cNvPr id="22" name="Image 20" descr="preencoded.png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9220200" y="2857500"/>
              <a:ext cx="2583064" cy="609600"/>
            </a:xfrm>
            <a:prstGeom prst="rect">
              <a:avLst/>
            </a:prstGeom>
          </p:spPr>
        </p:pic>
        <p:pic>
          <p:nvPicPr>
            <p:cNvPr id="23" name="Image 21" descr="preencoded.png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9067800" y="3771900"/>
              <a:ext cx="2796924" cy="1371600"/>
            </a:xfrm>
            <a:prstGeom prst="rect">
              <a:avLst/>
            </a:prstGeom>
          </p:spPr>
        </p:pic>
        <p:pic>
          <p:nvPicPr>
            <p:cNvPr id="24" name="Image 22" descr="preencoded.png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9220200" y="3962400"/>
              <a:ext cx="152400" cy="152400"/>
            </a:xfrm>
            <a:prstGeom prst="rect">
              <a:avLst/>
            </a:prstGeom>
          </p:spPr>
        </p:pic>
        <p:pic>
          <p:nvPicPr>
            <p:cNvPr id="25" name="Image 23" descr="preencoded.png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9220200" y="4305300"/>
              <a:ext cx="114300" cy="114300"/>
            </a:xfrm>
            <a:prstGeom prst="rect">
              <a:avLst/>
            </a:prstGeom>
          </p:spPr>
        </p:pic>
        <p:pic>
          <p:nvPicPr>
            <p:cNvPr id="26" name="Image 24" descr="preencoded.png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9220200" y="4572000"/>
              <a:ext cx="114300" cy="114300"/>
            </a:xfrm>
            <a:prstGeom prst="rect">
              <a:avLst/>
            </a:prstGeom>
          </p:spPr>
        </p:pic>
        <p:pic>
          <p:nvPicPr>
            <p:cNvPr id="27" name="Image 25" descr="preencoded.png"/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9220200" y="4838700"/>
              <a:ext cx="114300" cy="114300"/>
            </a:xfrm>
            <a:prstGeom prst="rect">
              <a:avLst/>
            </a:prstGeom>
          </p:spPr>
        </p:pic>
        <p:sp>
          <p:nvSpPr>
            <p:cNvPr id="30" name="Text 2"/>
            <p:cNvSpPr/>
            <p:nvPr/>
          </p:nvSpPr>
          <p:spPr>
            <a:xfrm>
              <a:off x="1143000" y="1790700"/>
              <a:ext cx="948690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200" dirty="0">
                  <a:solidFill>
                    <a:srgbClr val="6B728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총 커넥션 수</a:t>
              </a:r>
              <a:endParaRPr lang="en-US" sz="1200" dirty="0"/>
            </a:p>
          </p:txBody>
        </p:sp>
        <p:sp>
          <p:nvSpPr>
            <p:cNvPr id="31" name="Text 3"/>
            <p:cNvSpPr/>
            <p:nvPr/>
          </p:nvSpPr>
          <p:spPr>
            <a:xfrm>
              <a:off x="1143000" y="2019300"/>
              <a:ext cx="428979" cy="3048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2400"/>
                </a:lnSpc>
                <a:buNone/>
              </a:pPr>
              <a:r>
                <a:rPr lang="en-US" sz="1800" b="1" dirty="0">
                  <a:solidFill>
                    <a:srgbClr val="1F293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24</a:t>
              </a:r>
              <a:endParaRPr lang="en-US" sz="1800" dirty="0"/>
            </a:p>
          </p:txBody>
        </p:sp>
        <p:sp>
          <p:nvSpPr>
            <p:cNvPr id="32" name="Text 4"/>
            <p:cNvSpPr/>
            <p:nvPr/>
          </p:nvSpPr>
          <p:spPr>
            <a:xfrm>
              <a:off x="1485900" y="2133600"/>
              <a:ext cx="182880" cy="1905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500"/>
                </a:lnSpc>
                <a:buNone/>
              </a:pPr>
              <a:r>
                <a:rPr lang="en-US" sz="1050" dirty="0">
                  <a:solidFill>
                    <a:srgbClr val="16A34A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+3</a:t>
              </a:r>
              <a:endParaRPr lang="en-US" sz="1050" dirty="0"/>
            </a:p>
          </p:txBody>
        </p:sp>
        <p:sp>
          <p:nvSpPr>
            <p:cNvPr id="33" name="Text 5"/>
            <p:cNvSpPr/>
            <p:nvPr/>
          </p:nvSpPr>
          <p:spPr>
            <a:xfrm>
              <a:off x="781050" y="2781300"/>
              <a:ext cx="3403550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200" dirty="0">
                  <a:solidFill>
                    <a:srgbClr val="37415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상태별 커넥션 수</a:t>
              </a:r>
              <a:endParaRPr lang="en-US" sz="1200" dirty="0"/>
            </a:p>
          </p:txBody>
        </p:sp>
        <p:sp>
          <p:nvSpPr>
            <p:cNvPr id="34" name="Text 6"/>
            <p:cNvSpPr/>
            <p:nvPr/>
          </p:nvSpPr>
          <p:spPr>
            <a:xfrm>
              <a:off x="986790" y="3333750"/>
              <a:ext cx="411480" cy="3429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 algn="ctr">
                <a:lnSpc>
                  <a:spcPts val="2700"/>
                </a:lnSpc>
                <a:buNone/>
              </a:pPr>
              <a:r>
                <a:rPr lang="en-US" sz="2250" b="1" dirty="0">
                  <a:solidFill>
                    <a:srgbClr val="22C55E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18</a:t>
              </a:r>
              <a:endParaRPr lang="en-US" sz="2250" dirty="0"/>
            </a:p>
          </p:txBody>
        </p:sp>
        <p:sp>
          <p:nvSpPr>
            <p:cNvPr id="35" name="Text 7"/>
            <p:cNvSpPr/>
            <p:nvPr/>
          </p:nvSpPr>
          <p:spPr>
            <a:xfrm>
              <a:off x="1021080" y="3676650"/>
              <a:ext cx="342900" cy="1524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 algn="ctr">
                <a:lnSpc>
                  <a:spcPts val="1200"/>
                </a:lnSpc>
                <a:buNone/>
              </a:pPr>
              <a:r>
                <a:rPr lang="en-US" sz="900" dirty="0">
                  <a:solidFill>
                    <a:srgbClr val="6B728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성공</a:t>
              </a:r>
              <a:endParaRPr lang="en-US" sz="900" dirty="0"/>
            </a:p>
          </p:txBody>
        </p:sp>
        <p:sp>
          <p:nvSpPr>
            <p:cNvPr id="36" name="Text 8"/>
            <p:cNvSpPr/>
            <p:nvPr/>
          </p:nvSpPr>
          <p:spPr>
            <a:xfrm>
              <a:off x="2096036" y="3333750"/>
              <a:ext cx="411480" cy="3429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 algn="ctr">
                <a:lnSpc>
                  <a:spcPts val="2700"/>
                </a:lnSpc>
                <a:buNone/>
              </a:pPr>
              <a:r>
                <a:rPr lang="en-US" sz="2250" b="1" dirty="0">
                  <a:solidFill>
                    <a:srgbClr val="F9731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3</a:t>
              </a:r>
              <a:endParaRPr lang="en-US" sz="2250" dirty="0"/>
            </a:p>
          </p:txBody>
        </p:sp>
        <p:sp>
          <p:nvSpPr>
            <p:cNvPr id="37" name="Text 9"/>
            <p:cNvSpPr/>
            <p:nvPr/>
          </p:nvSpPr>
          <p:spPr>
            <a:xfrm>
              <a:off x="2021533" y="3676650"/>
              <a:ext cx="566540" cy="1524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 algn="ctr">
                <a:lnSpc>
                  <a:spcPts val="1200"/>
                </a:lnSpc>
                <a:buNone/>
              </a:pPr>
              <a:r>
                <a:rPr lang="en-US" sz="900" dirty="0">
                  <a:solidFill>
                    <a:srgbClr val="6B728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진행 중</a:t>
              </a:r>
              <a:endParaRPr lang="en-US" sz="900" dirty="0"/>
            </a:p>
          </p:txBody>
        </p:sp>
        <p:sp>
          <p:nvSpPr>
            <p:cNvPr id="38" name="Text 10"/>
            <p:cNvSpPr/>
            <p:nvPr/>
          </p:nvSpPr>
          <p:spPr>
            <a:xfrm>
              <a:off x="3198297" y="3333750"/>
              <a:ext cx="251460" cy="3429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 algn="ctr">
                <a:lnSpc>
                  <a:spcPts val="2700"/>
                </a:lnSpc>
                <a:buNone/>
              </a:pPr>
              <a:r>
                <a:rPr lang="en-US" sz="2250" b="1" dirty="0">
                  <a:solidFill>
                    <a:srgbClr val="EF4444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3</a:t>
              </a:r>
              <a:endParaRPr lang="en-US" sz="2250" dirty="0"/>
            </a:p>
          </p:txBody>
        </p:sp>
        <p:sp>
          <p:nvSpPr>
            <p:cNvPr id="39" name="Text 11"/>
            <p:cNvSpPr/>
            <p:nvPr/>
          </p:nvSpPr>
          <p:spPr>
            <a:xfrm>
              <a:off x="3123795" y="3676650"/>
              <a:ext cx="346217" cy="1524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 algn="ctr">
                <a:lnSpc>
                  <a:spcPts val="1200"/>
                </a:lnSpc>
                <a:buNone/>
              </a:pPr>
              <a:r>
                <a:rPr lang="en-US" sz="900" dirty="0">
                  <a:solidFill>
                    <a:srgbClr val="6B728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실패</a:t>
              </a:r>
              <a:endParaRPr lang="en-US" sz="900" dirty="0"/>
            </a:p>
          </p:txBody>
        </p:sp>
        <p:sp>
          <p:nvSpPr>
            <p:cNvPr id="40" name="Text 12"/>
            <p:cNvSpPr/>
            <p:nvPr/>
          </p:nvSpPr>
          <p:spPr>
            <a:xfrm>
              <a:off x="4622750" y="1790700"/>
              <a:ext cx="4368850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200" dirty="0">
                  <a:solidFill>
                    <a:srgbClr val="37415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데이터 전송량 추이</a:t>
              </a:r>
              <a:endParaRPr lang="en-US" sz="1200" dirty="0"/>
            </a:p>
          </p:txBody>
        </p:sp>
        <p:sp>
          <p:nvSpPr>
            <p:cNvPr id="41" name="Text 13"/>
            <p:cNvSpPr/>
            <p:nvPr/>
          </p:nvSpPr>
          <p:spPr>
            <a:xfrm>
              <a:off x="4622750" y="4305300"/>
              <a:ext cx="4368850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200" dirty="0">
                  <a:solidFill>
                    <a:srgbClr val="37415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최근 동기화 이력</a:t>
              </a:r>
              <a:endParaRPr lang="en-US" sz="1200" dirty="0"/>
            </a:p>
          </p:txBody>
        </p:sp>
        <p:sp>
          <p:nvSpPr>
            <p:cNvPr id="42" name="Text 14"/>
            <p:cNvSpPr/>
            <p:nvPr/>
          </p:nvSpPr>
          <p:spPr>
            <a:xfrm>
              <a:off x="4403675" y="4648200"/>
              <a:ext cx="2352377" cy="3429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050" b="1" dirty="0">
                  <a:solidFill>
                    <a:srgbClr val="6B728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커넥션 이름</a:t>
              </a:r>
              <a:endParaRPr lang="en-US" sz="1050" dirty="0"/>
            </a:p>
          </p:txBody>
        </p:sp>
        <p:sp>
          <p:nvSpPr>
            <p:cNvPr id="43" name="Text 15"/>
            <p:cNvSpPr/>
            <p:nvPr/>
          </p:nvSpPr>
          <p:spPr>
            <a:xfrm>
              <a:off x="6890548" y="4648200"/>
              <a:ext cx="438150" cy="1905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050" b="1" dirty="0">
                  <a:solidFill>
                    <a:srgbClr val="6B728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상태</a:t>
              </a:r>
              <a:endParaRPr lang="en-US" sz="1050" dirty="0"/>
            </a:p>
          </p:txBody>
        </p:sp>
        <p:sp>
          <p:nvSpPr>
            <p:cNvPr id="44" name="Text 16"/>
            <p:cNvSpPr/>
            <p:nvPr/>
          </p:nvSpPr>
          <p:spPr>
            <a:xfrm>
              <a:off x="7535466" y="4648200"/>
              <a:ext cx="1227534" cy="3429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 algn="r">
                <a:lnSpc>
                  <a:spcPts val="1500"/>
                </a:lnSpc>
                <a:buNone/>
              </a:pPr>
              <a:r>
                <a:rPr lang="en-US" sz="1050" b="1" dirty="0">
                  <a:solidFill>
                    <a:srgbClr val="6B728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마지막 동기화</a:t>
              </a:r>
              <a:endParaRPr lang="en-US" sz="1050" dirty="0"/>
            </a:p>
          </p:txBody>
        </p:sp>
        <p:sp>
          <p:nvSpPr>
            <p:cNvPr id="45" name="Text 17"/>
            <p:cNvSpPr/>
            <p:nvPr/>
          </p:nvSpPr>
          <p:spPr>
            <a:xfrm>
              <a:off x="4403675" y="4991100"/>
              <a:ext cx="2822853" cy="3429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>
                <a:lnSpc>
                  <a:spcPts val="1800"/>
                </a:lnSpc>
              </a:pPr>
              <a:r>
                <a:rPr lang="ko-KR" altLang="en-US" sz="1050" dirty="0" err="1">
                  <a:solidFill>
                    <a:srgbClr val="33333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모아보조</a:t>
              </a:r>
              <a:r>
                <a:rPr lang="ko-KR" altLang="en-US" sz="1050" dirty="0">
                  <a:solidFill>
                    <a:srgbClr val="33333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통계 데이터 </a:t>
              </a:r>
              <a:r>
                <a:rPr lang="en-US" altLang="ko-KR" sz="1050" dirty="0">
                  <a:solidFill>
                    <a:srgbClr val="33333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API</a:t>
              </a:r>
            </a:p>
          </p:txBody>
        </p:sp>
        <p:sp>
          <p:nvSpPr>
            <p:cNvPr id="46" name="Text 18"/>
            <p:cNvSpPr/>
            <p:nvPr/>
          </p:nvSpPr>
          <p:spPr>
            <a:xfrm>
              <a:off x="6893213" y="5048250"/>
              <a:ext cx="361950" cy="238125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200"/>
                </a:lnSpc>
                <a:buNone/>
              </a:pPr>
              <a:r>
                <a:rPr lang="en-US" sz="900" dirty="0">
                  <a:solidFill>
                    <a:srgbClr val="166534"/>
                  </a:solidFill>
                  <a:highlight>
                    <a:srgbClr val="DCFCE7"/>
                  </a:highlight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성공</a:t>
              </a:r>
              <a:endParaRPr lang="en-US" sz="900" dirty="0"/>
            </a:p>
          </p:txBody>
        </p:sp>
        <p:sp>
          <p:nvSpPr>
            <p:cNvPr id="47" name="Text 19"/>
            <p:cNvSpPr/>
            <p:nvPr/>
          </p:nvSpPr>
          <p:spPr>
            <a:xfrm>
              <a:off x="7535466" y="4991100"/>
              <a:ext cx="1227534" cy="3429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 algn="r">
                <a:lnSpc>
                  <a:spcPts val="1500"/>
                </a:lnSpc>
                <a:buNone/>
              </a:pPr>
              <a:r>
                <a:rPr lang="en-US" sz="1050" dirty="0">
                  <a:solidFill>
                    <a:srgbClr val="6B728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2분 전</a:t>
              </a:r>
              <a:endParaRPr lang="en-US" sz="1050" dirty="0"/>
            </a:p>
          </p:txBody>
        </p:sp>
        <p:sp>
          <p:nvSpPr>
            <p:cNvPr id="48" name="Text 20"/>
            <p:cNvSpPr/>
            <p:nvPr/>
          </p:nvSpPr>
          <p:spPr>
            <a:xfrm>
              <a:off x="4403675" y="5334000"/>
              <a:ext cx="2352377" cy="3429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>
                <a:lnSpc>
                  <a:spcPts val="1800"/>
                </a:lnSpc>
              </a:pPr>
              <a:r>
                <a:rPr lang="en-US" altLang="ko-KR" sz="1050" dirty="0">
                  <a:solidFill>
                    <a:srgbClr val="33333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MySQL </a:t>
              </a:r>
              <a:r>
                <a:rPr lang="ko-KR" altLang="en-US" sz="1050" dirty="0">
                  <a:solidFill>
                    <a:srgbClr val="33333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운영</a:t>
              </a:r>
              <a:r>
                <a:rPr lang="en-US" altLang="ko-KR" sz="1050" dirty="0">
                  <a:solidFill>
                    <a:srgbClr val="33333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DB</a:t>
              </a:r>
            </a:p>
          </p:txBody>
        </p:sp>
        <p:sp>
          <p:nvSpPr>
            <p:cNvPr id="49" name="Text 21"/>
            <p:cNvSpPr/>
            <p:nvPr/>
          </p:nvSpPr>
          <p:spPr>
            <a:xfrm>
              <a:off x="6832253" y="5391150"/>
              <a:ext cx="594360" cy="238125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200"/>
                </a:lnSpc>
                <a:buNone/>
              </a:pPr>
              <a:r>
                <a:rPr lang="en-US" sz="900" dirty="0">
                  <a:solidFill>
                    <a:srgbClr val="9A3412"/>
                  </a:solidFill>
                  <a:highlight>
                    <a:srgbClr val="FFEDD5"/>
                  </a:highlight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진행 중</a:t>
              </a:r>
              <a:endParaRPr lang="en-US" sz="900" dirty="0"/>
            </a:p>
          </p:txBody>
        </p:sp>
        <p:sp>
          <p:nvSpPr>
            <p:cNvPr id="50" name="Text 22"/>
            <p:cNvSpPr/>
            <p:nvPr/>
          </p:nvSpPr>
          <p:spPr>
            <a:xfrm>
              <a:off x="7535466" y="5334000"/>
              <a:ext cx="1227534" cy="3429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 algn="r">
                <a:lnSpc>
                  <a:spcPts val="1500"/>
                </a:lnSpc>
                <a:buNone/>
              </a:pPr>
              <a:r>
                <a:rPr lang="en-US" sz="1050" dirty="0">
                  <a:solidFill>
                    <a:srgbClr val="6B728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5분 전</a:t>
              </a:r>
              <a:endParaRPr lang="en-US" sz="1050" dirty="0"/>
            </a:p>
          </p:txBody>
        </p:sp>
        <p:sp>
          <p:nvSpPr>
            <p:cNvPr id="51" name="Text 23"/>
            <p:cNvSpPr/>
            <p:nvPr/>
          </p:nvSpPr>
          <p:spPr>
            <a:xfrm>
              <a:off x="4403675" y="5676900"/>
              <a:ext cx="2352377" cy="3429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>
                <a:lnSpc>
                  <a:spcPts val="1800"/>
                </a:lnSpc>
              </a:pPr>
              <a:r>
                <a:rPr lang="ko-KR" altLang="en-US" sz="1050" dirty="0" err="1"/>
                <a:t>모아보조</a:t>
              </a:r>
              <a:r>
                <a:rPr lang="ko-KR" altLang="en-US" sz="1050" dirty="0"/>
                <a:t> 로그 데이터</a:t>
              </a:r>
              <a:endParaRPr lang="en-US" altLang="ko-KR" sz="1050" dirty="0"/>
            </a:p>
          </p:txBody>
        </p:sp>
        <p:sp>
          <p:nvSpPr>
            <p:cNvPr id="52" name="Text 24"/>
            <p:cNvSpPr/>
            <p:nvPr/>
          </p:nvSpPr>
          <p:spPr>
            <a:xfrm>
              <a:off x="6893213" y="5734050"/>
              <a:ext cx="361950" cy="238125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200"/>
                </a:lnSpc>
                <a:buNone/>
              </a:pPr>
              <a:r>
                <a:rPr lang="en-US" sz="900" dirty="0">
                  <a:solidFill>
                    <a:srgbClr val="991B1B"/>
                  </a:solidFill>
                  <a:highlight>
                    <a:srgbClr val="FEE2E2"/>
                  </a:highlight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실패</a:t>
              </a:r>
              <a:endParaRPr lang="en-US" sz="900" dirty="0"/>
            </a:p>
          </p:txBody>
        </p:sp>
        <p:sp>
          <p:nvSpPr>
            <p:cNvPr id="53" name="Text 25"/>
            <p:cNvSpPr/>
            <p:nvPr/>
          </p:nvSpPr>
          <p:spPr>
            <a:xfrm>
              <a:off x="7535466" y="5676900"/>
              <a:ext cx="1227534" cy="3429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 algn="r">
                <a:lnSpc>
                  <a:spcPts val="1500"/>
                </a:lnSpc>
                <a:buNone/>
              </a:pPr>
              <a:r>
                <a:rPr lang="en-US" sz="1050" dirty="0">
                  <a:solidFill>
                    <a:srgbClr val="6B728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10분 전</a:t>
              </a:r>
              <a:endParaRPr lang="en-US" sz="1050" dirty="0"/>
            </a:p>
          </p:txBody>
        </p:sp>
        <p:sp>
          <p:nvSpPr>
            <p:cNvPr id="54" name="Text 26"/>
            <p:cNvSpPr/>
            <p:nvPr/>
          </p:nvSpPr>
          <p:spPr>
            <a:xfrm>
              <a:off x="9448800" y="1790700"/>
              <a:ext cx="2438400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200" dirty="0">
                  <a:solidFill>
                    <a:srgbClr val="37415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주요 오류 알림</a:t>
              </a:r>
              <a:endParaRPr lang="en-US" sz="1200" dirty="0"/>
            </a:p>
          </p:txBody>
        </p:sp>
        <p:sp>
          <p:nvSpPr>
            <p:cNvPr id="55" name="Text 27"/>
            <p:cNvSpPr/>
            <p:nvPr/>
          </p:nvSpPr>
          <p:spPr>
            <a:xfrm>
              <a:off x="9334500" y="2247900"/>
              <a:ext cx="2651760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200" dirty="0">
                  <a:solidFill>
                    <a:srgbClr val="991B1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File → MongoDB 커넥션 실패</a:t>
              </a:r>
              <a:endParaRPr lang="en-US" sz="1200" dirty="0"/>
            </a:p>
          </p:txBody>
        </p:sp>
        <p:sp>
          <p:nvSpPr>
            <p:cNvPr id="56" name="Text 28"/>
            <p:cNvSpPr/>
            <p:nvPr/>
          </p:nvSpPr>
          <p:spPr>
            <a:xfrm>
              <a:off x="9334500" y="2476500"/>
              <a:ext cx="2651760" cy="1524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200"/>
                </a:lnSpc>
                <a:buNone/>
              </a:pPr>
              <a:r>
                <a:rPr lang="en-US" sz="9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마지막 동기화 실패: 10분 전</a:t>
              </a:r>
              <a:endParaRPr lang="en-US" sz="900" dirty="0"/>
            </a:p>
          </p:txBody>
        </p:sp>
        <p:sp>
          <p:nvSpPr>
            <p:cNvPr id="57" name="Text 29"/>
            <p:cNvSpPr/>
            <p:nvPr/>
          </p:nvSpPr>
          <p:spPr>
            <a:xfrm>
              <a:off x="9334500" y="2971800"/>
              <a:ext cx="2651760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200" dirty="0">
                  <a:solidFill>
                    <a:srgbClr val="9A3412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API → MongoDB 연결 경고</a:t>
              </a:r>
              <a:endParaRPr lang="en-US" sz="1200" dirty="0"/>
            </a:p>
          </p:txBody>
        </p:sp>
        <p:sp>
          <p:nvSpPr>
            <p:cNvPr id="58" name="Text 30"/>
            <p:cNvSpPr/>
            <p:nvPr/>
          </p:nvSpPr>
          <p:spPr>
            <a:xfrm>
              <a:off x="9334500" y="3200400"/>
              <a:ext cx="2209800" cy="1524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200"/>
                </a:lnSpc>
                <a:buNone/>
              </a:pPr>
              <a:r>
                <a:rPr lang="en-US" sz="9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503 오류 반복 발생</a:t>
              </a:r>
              <a:endParaRPr lang="en-US" sz="900" dirty="0"/>
            </a:p>
          </p:txBody>
        </p:sp>
        <p:sp>
          <p:nvSpPr>
            <p:cNvPr id="59" name="Text 31"/>
            <p:cNvSpPr/>
            <p:nvPr/>
          </p:nvSpPr>
          <p:spPr>
            <a:xfrm>
              <a:off x="9448800" y="3924300"/>
              <a:ext cx="2438400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200" dirty="0">
                  <a:solidFill>
                    <a:srgbClr val="37415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시스템 상태</a:t>
              </a:r>
              <a:endParaRPr lang="en-US" sz="1200" dirty="0"/>
            </a:p>
          </p:txBody>
        </p:sp>
        <p:sp>
          <p:nvSpPr>
            <p:cNvPr id="60" name="Text 32"/>
            <p:cNvSpPr/>
            <p:nvPr/>
          </p:nvSpPr>
          <p:spPr>
            <a:xfrm>
              <a:off x="9410700" y="4267200"/>
              <a:ext cx="1601131" cy="1524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500"/>
                </a:lnSpc>
                <a:buNone/>
              </a:pPr>
              <a:r>
                <a:rPr lang="en-US" sz="1050" dirty="0">
                  <a:solidFill>
                    <a:srgbClr val="33333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데이터 흐름 엔진</a:t>
              </a:r>
              <a:endParaRPr lang="en-US" sz="1050" dirty="0"/>
            </a:p>
          </p:txBody>
        </p:sp>
        <p:sp>
          <p:nvSpPr>
            <p:cNvPr id="61" name="Text 33"/>
            <p:cNvSpPr/>
            <p:nvPr/>
          </p:nvSpPr>
          <p:spPr>
            <a:xfrm>
              <a:off x="11219592" y="4286250"/>
              <a:ext cx="480919" cy="13335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200"/>
                </a:lnSpc>
                <a:buNone/>
              </a:pPr>
              <a:r>
                <a:rPr lang="en-US" sz="900" dirty="0">
                  <a:solidFill>
                    <a:srgbClr val="16A34A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정상</a:t>
              </a:r>
              <a:endParaRPr lang="en-US" sz="900" dirty="0"/>
            </a:p>
          </p:txBody>
        </p:sp>
        <p:sp>
          <p:nvSpPr>
            <p:cNvPr id="62" name="Text 34"/>
            <p:cNvSpPr/>
            <p:nvPr/>
          </p:nvSpPr>
          <p:spPr>
            <a:xfrm>
              <a:off x="9410698" y="4533900"/>
              <a:ext cx="1504093" cy="1524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500"/>
                </a:lnSpc>
                <a:buNone/>
              </a:pPr>
              <a:r>
                <a:rPr lang="en-US" sz="1050" dirty="0">
                  <a:solidFill>
                    <a:srgbClr val="33333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MongoDB 타겟</a:t>
              </a:r>
              <a:endParaRPr lang="en-US" sz="1050" dirty="0"/>
            </a:p>
          </p:txBody>
        </p:sp>
        <p:sp>
          <p:nvSpPr>
            <p:cNvPr id="63" name="Text 35"/>
            <p:cNvSpPr/>
            <p:nvPr/>
          </p:nvSpPr>
          <p:spPr>
            <a:xfrm>
              <a:off x="11219592" y="4552950"/>
              <a:ext cx="480919" cy="13335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200"/>
                </a:lnSpc>
                <a:buNone/>
              </a:pPr>
              <a:r>
                <a:rPr lang="en-US" sz="900" dirty="0">
                  <a:solidFill>
                    <a:srgbClr val="16A34A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정상</a:t>
              </a:r>
              <a:endParaRPr lang="en-US" sz="900" dirty="0"/>
            </a:p>
          </p:txBody>
        </p:sp>
        <p:sp>
          <p:nvSpPr>
            <p:cNvPr id="64" name="Text 36"/>
            <p:cNvSpPr/>
            <p:nvPr/>
          </p:nvSpPr>
          <p:spPr>
            <a:xfrm>
              <a:off x="9410700" y="4800600"/>
              <a:ext cx="905690" cy="1524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500"/>
                </a:lnSpc>
                <a:buNone/>
              </a:pPr>
              <a:r>
                <a:rPr lang="en-US" sz="1050" dirty="0">
                  <a:solidFill>
                    <a:srgbClr val="33333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파일 소스</a:t>
              </a:r>
              <a:endParaRPr lang="en-US" sz="1050" dirty="0"/>
            </a:p>
          </p:txBody>
        </p:sp>
        <p:sp>
          <p:nvSpPr>
            <p:cNvPr id="65" name="Text 37"/>
            <p:cNvSpPr/>
            <p:nvPr/>
          </p:nvSpPr>
          <p:spPr>
            <a:xfrm>
              <a:off x="11219592" y="4819650"/>
              <a:ext cx="480919" cy="13335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200"/>
                </a:lnSpc>
                <a:buNone/>
              </a:pPr>
              <a:r>
                <a:rPr lang="en-US" sz="900" dirty="0">
                  <a:solidFill>
                    <a:srgbClr val="CA8A04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경고</a:t>
              </a:r>
              <a:endParaRPr lang="en-US" sz="900" dirty="0"/>
            </a:p>
          </p:txBody>
        </p:sp>
      </p:grpSp>
      <p:pic>
        <p:nvPicPr>
          <p:cNvPr id="67" name="Image 2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81000" y="800100"/>
            <a:ext cx="762000" cy="38100"/>
          </a:xfrm>
          <a:prstGeom prst="rect">
            <a:avLst/>
          </a:prstGeom>
        </p:spPr>
      </p:pic>
      <p:sp>
        <p:nvSpPr>
          <p:cNvPr id="68" name="Text 0"/>
          <p:cNvSpPr/>
          <p:nvPr/>
        </p:nvSpPr>
        <p:spPr>
          <a:xfrm>
            <a:off x="381000" y="381000"/>
            <a:ext cx="114300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ko-KR" altLang="en-US" sz="2250" b="1" dirty="0" smtClean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대시보드 화면 설계</a:t>
            </a:r>
            <a:endParaRPr lang="en-US" sz="2250" dirty="0"/>
          </a:p>
        </p:txBody>
      </p:sp>
      <p:pic>
        <p:nvPicPr>
          <p:cNvPr id="69" name="Image 55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852254" y="1617138"/>
            <a:ext cx="2265332" cy="4631262"/>
          </a:xfrm>
          <a:prstGeom prst="rect">
            <a:avLst/>
          </a:prstGeom>
        </p:spPr>
      </p:pic>
      <p:sp>
        <p:nvSpPr>
          <p:cNvPr id="70" name="Text 46"/>
          <p:cNvSpPr/>
          <p:nvPr/>
        </p:nvSpPr>
        <p:spPr>
          <a:xfrm>
            <a:off x="9877290" y="1314450"/>
            <a:ext cx="208874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 smtClean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UI </a:t>
            </a:r>
            <a:r>
              <a:rPr lang="ko-KR" altLang="en-US" sz="1350" b="1" dirty="0" smtClean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설명</a:t>
            </a:r>
            <a:r>
              <a:rPr lang="en-US" sz="1350" b="1" dirty="0" smtClean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en-US" sz="1350" b="1" dirty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영역</a:t>
            </a:r>
            <a:endParaRPr lang="en-US" sz="1350" dirty="0"/>
          </a:p>
        </p:txBody>
      </p:sp>
      <p:sp>
        <p:nvSpPr>
          <p:cNvPr id="71" name="Text 20"/>
          <p:cNvSpPr/>
          <p:nvPr/>
        </p:nvSpPr>
        <p:spPr>
          <a:xfrm>
            <a:off x="9877290" y="1655237"/>
            <a:ext cx="2184606" cy="45931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200"/>
              </a:lnSpc>
            </a:pPr>
            <a:r>
              <a:rPr 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1.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월별 또는 오늘 중 선택하여 최신 등록된 커넥션 수 표출</a:t>
            </a:r>
            <a:endParaRPr lang="en-US" altLang="ko-KR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endParaRPr lang="en-US" sz="1000" dirty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r>
              <a:rPr lang="en-US" sz="10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2</a:t>
            </a:r>
            <a:r>
              <a:rPr 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.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상태를 클릭하면 해당 상태의 상세 커넥션 정보를 팝업으로 제공</a:t>
            </a:r>
            <a:endParaRPr lang="en-US" altLang="ko-KR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endParaRPr lang="en-US" sz="1000" dirty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r>
              <a:rPr lang="en-US" sz="10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3</a:t>
            </a:r>
            <a:r>
              <a:rPr 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.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최근 일주일간 데이터 </a:t>
            </a:r>
            <a:r>
              <a:rPr lang="ko-KR" altLang="en-US" sz="1000" dirty="0" err="1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전송량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추이를 차트로 제공</a:t>
            </a:r>
            <a:endParaRPr lang="en-US" altLang="ko-KR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endParaRPr lang="en-US" sz="1000" dirty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r>
              <a:rPr lang="en-US" sz="10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4</a:t>
            </a:r>
            <a:r>
              <a:rPr 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.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최근 동기화 이력을 </a:t>
            </a: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3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개 정도 표출</a:t>
            </a:r>
            <a:endParaRPr lang="en-US" altLang="ko-KR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endParaRPr lang="en-US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r>
              <a:rPr lang="en-US" sz="10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5</a:t>
            </a:r>
            <a:r>
              <a:rPr 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.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작업 별로 오류를 정의하여 오류 발생 시 확인할 수 있도록 제공</a:t>
            </a:r>
            <a:endParaRPr lang="en-US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endParaRPr lang="en-US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r>
              <a:rPr lang="en-US" sz="10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6</a:t>
            </a:r>
            <a:r>
              <a:rPr 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.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시스템 상태를 체크할 수 있는 항목을 도출 후 현재 상태를 한 눈에 볼 수 있도록 제공</a:t>
            </a:r>
            <a:endParaRPr lang="en-US" sz="1000" dirty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4D9049EB-70D8-4995-9DBA-68C2EE93E2F4}"/>
              </a:ext>
            </a:extLst>
          </p:cNvPr>
          <p:cNvSpPr/>
          <p:nvPr/>
        </p:nvSpPr>
        <p:spPr>
          <a:xfrm>
            <a:off x="1265326" y="2298511"/>
            <a:ext cx="183750" cy="178979"/>
          </a:xfrm>
          <a:prstGeom prst="ellipse">
            <a:avLst/>
          </a:prstGeom>
          <a:solidFill>
            <a:srgbClr val="FF0000"/>
          </a:solidFill>
          <a:ln w="15875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sz="10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4D9049EB-70D8-4995-9DBA-68C2EE93E2F4}"/>
              </a:ext>
            </a:extLst>
          </p:cNvPr>
          <p:cNvSpPr/>
          <p:nvPr/>
        </p:nvSpPr>
        <p:spPr>
          <a:xfrm>
            <a:off x="648865" y="3625260"/>
            <a:ext cx="183750" cy="178979"/>
          </a:xfrm>
          <a:prstGeom prst="ellipse">
            <a:avLst/>
          </a:prstGeom>
          <a:solidFill>
            <a:srgbClr val="FF0000"/>
          </a:solidFill>
          <a:ln w="15875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endParaRPr lang="ko-KR" altLang="en-US" sz="10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4D9049EB-70D8-4995-9DBA-68C2EE93E2F4}"/>
              </a:ext>
            </a:extLst>
          </p:cNvPr>
          <p:cNvSpPr/>
          <p:nvPr/>
        </p:nvSpPr>
        <p:spPr>
          <a:xfrm>
            <a:off x="3685627" y="1625010"/>
            <a:ext cx="183750" cy="178979"/>
          </a:xfrm>
          <a:prstGeom prst="ellipse">
            <a:avLst/>
          </a:prstGeom>
          <a:solidFill>
            <a:srgbClr val="FF0000"/>
          </a:solidFill>
          <a:ln w="15875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endParaRPr lang="ko-KR" altLang="en-US" sz="10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5" name="타원 74">
            <a:extLst>
              <a:ext uri="{FF2B5EF4-FFF2-40B4-BE49-F238E27FC236}">
                <a16:creationId xmlns:a16="http://schemas.microsoft.com/office/drawing/2014/main" id="{4D9049EB-70D8-4995-9DBA-68C2EE93E2F4}"/>
              </a:ext>
            </a:extLst>
          </p:cNvPr>
          <p:cNvSpPr/>
          <p:nvPr/>
        </p:nvSpPr>
        <p:spPr>
          <a:xfrm>
            <a:off x="3653037" y="4114800"/>
            <a:ext cx="183750" cy="178979"/>
          </a:xfrm>
          <a:prstGeom prst="ellipse">
            <a:avLst/>
          </a:prstGeom>
          <a:solidFill>
            <a:srgbClr val="FF0000"/>
          </a:solidFill>
          <a:ln w="15875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endParaRPr lang="ko-KR" altLang="en-US" sz="10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6" name="타원 75">
            <a:extLst>
              <a:ext uri="{FF2B5EF4-FFF2-40B4-BE49-F238E27FC236}">
                <a16:creationId xmlns:a16="http://schemas.microsoft.com/office/drawing/2014/main" id="{4D9049EB-70D8-4995-9DBA-68C2EE93E2F4}"/>
              </a:ext>
            </a:extLst>
          </p:cNvPr>
          <p:cNvSpPr/>
          <p:nvPr/>
        </p:nvSpPr>
        <p:spPr>
          <a:xfrm>
            <a:off x="7595724" y="1617138"/>
            <a:ext cx="183750" cy="178979"/>
          </a:xfrm>
          <a:prstGeom prst="ellipse">
            <a:avLst/>
          </a:prstGeom>
          <a:solidFill>
            <a:srgbClr val="FF0000"/>
          </a:solidFill>
          <a:ln w="15875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5</a:t>
            </a:r>
            <a:endParaRPr lang="ko-KR" altLang="en-US" sz="10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7" name="타원 76">
            <a:extLst>
              <a:ext uri="{FF2B5EF4-FFF2-40B4-BE49-F238E27FC236}">
                <a16:creationId xmlns:a16="http://schemas.microsoft.com/office/drawing/2014/main" id="{4D9049EB-70D8-4995-9DBA-68C2EE93E2F4}"/>
              </a:ext>
            </a:extLst>
          </p:cNvPr>
          <p:cNvSpPr/>
          <p:nvPr/>
        </p:nvSpPr>
        <p:spPr>
          <a:xfrm>
            <a:off x="7613893" y="3743371"/>
            <a:ext cx="183750" cy="178979"/>
          </a:xfrm>
          <a:prstGeom prst="ellipse">
            <a:avLst/>
          </a:prstGeom>
          <a:solidFill>
            <a:srgbClr val="FF0000"/>
          </a:solidFill>
          <a:ln w="15875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6</a:t>
            </a:r>
            <a:endParaRPr lang="ko-KR" altLang="en-US" sz="10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72581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800100"/>
            <a:ext cx="762000" cy="38100"/>
          </a:xfrm>
          <a:prstGeom prst="rect">
            <a:avLst/>
          </a:prstGeom>
        </p:spPr>
      </p:pic>
      <p:sp>
        <p:nvSpPr>
          <p:cNvPr id="86" name="Text 0"/>
          <p:cNvSpPr/>
          <p:nvPr/>
        </p:nvSpPr>
        <p:spPr>
          <a:xfrm>
            <a:off x="381000" y="381000"/>
            <a:ext cx="114300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700"/>
              </a:lnSpc>
            </a:pPr>
            <a:r>
              <a:rPr lang="ko-KR" altLang="en-US" sz="2250" b="1" dirty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커넥션 관리 </a:t>
            </a:r>
            <a:r>
              <a:rPr lang="ko-KR" altLang="en-US" sz="2250" b="1" dirty="0" smtClean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화면 설계</a:t>
            </a:r>
            <a:endParaRPr lang="en-US" sz="2250" b="1" dirty="0">
              <a:solidFill>
                <a:srgbClr val="000000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</p:txBody>
      </p:sp>
      <p:pic>
        <p:nvPicPr>
          <p:cNvPr id="98" name="Image 5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86388" y="1739617"/>
            <a:ext cx="2231198" cy="4353273"/>
          </a:xfrm>
          <a:prstGeom prst="rect">
            <a:avLst/>
          </a:prstGeom>
        </p:spPr>
      </p:pic>
      <p:sp>
        <p:nvSpPr>
          <p:cNvPr id="99" name="Text 46"/>
          <p:cNvSpPr/>
          <p:nvPr/>
        </p:nvSpPr>
        <p:spPr>
          <a:xfrm>
            <a:off x="9955771" y="1395646"/>
            <a:ext cx="2057271" cy="24111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 smtClean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UI </a:t>
            </a:r>
            <a:r>
              <a:rPr lang="ko-KR" altLang="en-US" sz="1350" b="1" dirty="0" smtClean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설명</a:t>
            </a:r>
            <a:r>
              <a:rPr lang="en-US" sz="1350" b="1" dirty="0" smtClean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en-US" sz="1350" b="1" dirty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영역</a:t>
            </a:r>
            <a:endParaRPr lang="en-US" sz="1350" dirty="0"/>
          </a:p>
        </p:txBody>
      </p:sp>
      <p:sp>
        <p:nvSpPr>
          <p:cNvPr id="100" name="Text 20"/>
          <p:cNvSpPr/>
          <p:nvPr/>
        </p:nvSpPr>
        <p:spPr>
          <a:xfrm>
            <a:off x="9955762" y="1829344"/>
            <a:ext cx="2106133" cy="422621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0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1.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검색 조건 필터 입력</a:t>
            </a:r>
            <a:endParaRPr lang="en-US" altLang="ko-KR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2.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버튼 </a:t>
            </a:r>
            <a:r>
              <a:rPr lang="ko-KR" altLang="en-US" sz="1000" dirty="0" err="1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클릭시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필터에 맞는 커넥션 목록을 서버에서 조회</a:t>
            </a:r>
            <a:endParaRPr lang="en-US" altLang="ko-KR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3</a:t>
            </a:r>
            <a:r>
              <a:rPr lang="en-US" sz="10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.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즉시 커넥션 실행</a:t>
            </a:r>
            <a:endParaRPr lang="en-US" altLang="ko-KR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4.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실행 중인 커넥션 중지</a:t>
            </a:r>
            <a:endParaRPr lang="en-US" altLang="ko-KR" sz="1000" dirty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5.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등록된 커넥션 삭제</a:t>
            </a:r>
            <a:endParaRPr lang="en-US" altLang="ko-KR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6.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커넥션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생성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화면 이동</a:t>
            </a:r>
            <a:endParaRPr lang="en-US" altLang="ko-KR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7.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배치 작업관리 화면 이동</a:t>
            </a:r>
            <a:endParaRPr lang="en-US" altLang="ko-KR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-&gt;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여러 커넥션 함께 실행할 필요성 검토 필요</a:t>
            </a:r>
            <a:endParaRPr lang="en-US" altLang="ko-KR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8.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대시보드 화면으로 전환</a:t>
            </a:r>
            <a:endParaRPr lang="en-US" altLang="ko-KR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9.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클릭하면 커넥션 상세 정보 팝업 띄우기</a:t>
            </a:r>
            <a:endParaRPr lang="en-US" altLang="ko-KR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</p:txBody>
      </p:sp>
      <p:sp>
        <p:nvSpPr>
          <p:cNvPr id="41" name="Text 1"/>
          <p:cNvSpPr/>
          <p:nvPr/>
        </p:nvSpPr>
        <p:spPr>
          <a:xfrm>
            <a:off x="457200" y="952500"/>
            <a:ext cx="11604696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커넥션 관리 화면은 사용자가 생성한 모든 데이터 파이프라인(커넥션)의 목록을 확인하고, 각 커넥션에 대한 기본적인 관리 작업을 수행할 수 있는 중앙 허브 역할을 합니다.</a:t>
            </a:r>
            <a:endParaRPr lang="en-US" sz="1200" dirty="0"/>
          </a:p>
        </p:txBody>
      </p:sp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1278294"/>
            <a:ext cx="9322904" cy="3339977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3185" y="1508956"/>
            <a:ext cx="125985" cy="167754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4361" y="1446048"/>
            <a:ext cx="2606319" cy="293569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21792" y="1518641"/>
            <a:ext cx="108146" cy="144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3185" y="1907371"/>
            <a:ext cx="9070934" cy="503262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15178" y="2536449"/>
            <a:ext cx="472444" cy="297665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78171" y="2630810"/>
            <a:ext cx="110237" cy="142525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19119" y="2536449"/>
            <a:ext cx="472444" cy="297665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923060" y="2536449"/>
            <a:ext cx="456696" cy="297665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986053" y="2630810"/>
            <a:ext cx="94489" cy="142525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83185" y="2959930"/>
            <a:ext cx="9070934" cy="549296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915178" y="3085745"/>
            <a:ext cx="472444" cy="297665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978171" y="3180107"/>
            <a:ext cx="110237" cy="142525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419119" y="3085745"/>
            <a:ext cx="472444" cy="297665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923060" y="3085745"/>
            <a:ext cx="456696" cy="297665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986053" y="3180107"/>
            <a:ext cx="94489" cy="142525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83185" y="3509225"/>
            <a:ext cx="9070934" cy="549296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915178" y="3635040"/>
            <a:ext cx="472444" cy="297665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978171" y="3729402"/>
            <a:ext cx="110237" cy="142525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419119" y="3635040"/>
            <a:ext cx="472444" cy="297665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923060" y="3635040"/>
            <a:ext cx="456696" cy="297665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986053" y="3729402"/>
            <a:ext cx="94489" cy="142525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57200" y="4786025"/>
            <a:ext cx="3023644" cy="1258155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83185" y="4953780"/>
            <a:ext cx="314963" cy="331789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81612" y="5079595"/>
            <a:ext cx="118111" cy="132715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606829" y="4786025"/>
            <a:ext cx="3023644" cy="1258155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3732814" y="4953780"/>
            <a:ext cx="314963" cy="331789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3827304" y="5079595"/>
            <a:ext cx="125985" cy="132715"/>
          </a:xfrm>
          <a:prstGeom prst="rect">
            <a:avLst/>
          </a:prstGeom>
        </p:spPr>
      </p:pic>
      <p:pic>
        <p:nvPicPr>
          <p:cNvPr id="37" name="Image 35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756460" y="4786025"/>
            <a:ext cx="3023644" cy="1258155"/>
          </a:xfrm>
          <a:prstGeom prst="rect">
            <a:avLst/>
          </a:prstGeom>
        </p:spPr>
      </p:pic>
      <p:pic>
        <p:nvPicPr>
          <p:cNvPr id="38" name="Image 36" descr="preencoded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6882445" y="4953780"/>
            <a:ext cx="314963" cy="331789"/>
          </a:xfrm>
          <a:prstGeom prst="rect">
            <a:avLst/>
          </a:prstGeom>
        </p:spPr>
      </p:pic>
      <p:pic>
        <p:nvPicPr>
          <p:cNvPr id="39" name="Image 37" descr="preencoded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976934" y="5079595"/>
            <a:ext cx="125985" cy="132715"/>
          </a:xfrm>
          <a:prstGeom prst="rect">
            <a:avLst/>
          </a:prstGeom>
        </p:spPr>
      </p:pic>
      <p:sp>
        <p:nvSpPr>
          <p:cNvPr id="42" name="Text 2"/>
          <p:cNvSpPr/>
          <p:nvPr/>
        </p:nvSpPr>
        <p:spPr>
          <a:xfrm>
            <a:off x="772162" y="1487986"/>
            <a:ext cx="375944" cy="18872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필터:</a:t>
            </a:r>
            <a:endParaRPr lang="en-US" sz="1050" dirty="0"/>
          </a:p>
        </p:txBody>
      </p:sp>
      <p:sp>
        <p:nvSpPr>
          <p:cNvPr id="44" name="Text 4"/>
          <p:cNvSpPr/>
          <p:nvPr/>
        </p:nvSpPr>
        <p:spPr>
          <a:xfrm>
            <a:off x="709170" y="1907371"/>
            <a:ext cx="2015764" cy="50326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커넥션 이름</a:t>
            </a:r>
            <a:endParaRPr lang="en-US" sz="1200" dirty="0"/>
          </a:p>
        </p:txBody>
      </p:sp>
      <p:sp>
        <p:nvSpPr>
          <p:cNvPr id="45" name="Text 5"/>
          <p:cNvSpPr/>
          <p:nvPr/>
        </p:nvSpPr>
        <p:spPr>
          <a:xfrm>
            <a:off x="2724934" y="1907371"/>
            <a:ext cx="1251363" cy="50326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소스 유형</a:t>
            </a:r>
            <a:endParaRPr lang="en-US" sz="1200" dirty="0"/>
          </a:p>
        </p:txBody>
      </p:sp>
      <p:sp>
        <p:nvSpPr>
          <p:cNvPr id="46" name="Text 6"/>
          <p:cNvSpPr/>
          <p:nvPr/>
        </p:nvSpPr>
        <p:spPr>
          <a:xfrm>
            <a:off x="3976296" y="1907371"/>
            <a:ext cx="890263" cy="50326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타겟</a:t>
            </a:r>
            <a:endParaRPr lang="en-US" sz="1200" dirty="0"/>
          </a:p>
        </p:txBody>
      </p:sp>
      <p:sp>
        <p:nvSpPr>
          <p:cNvPr id="47" name="Text 7"/>
          <p:cNvSpPr/>
          <p:nvPr/>
        </p:nvSpPr>
        <p:spPr>
          <a:xfrm>
            <a:off x="4866558" y="1907371"/>
            <a:ext cx="764278" cy="50326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상태</a:t>
            </a:r>
            <a:endParaRPr lang="en-US" sz="1200" dirty="0"/>
          </a:p>
        </p:txBody>
      </p:sp>
      <p:sp>
        <p:nvSpPr>
          <p:cNvPr id="48" name="Text 8"/>
          <p:cNvSpPr/>
          <p:nvPr/>
        </p:nvSpPr>
        <p:spPr>
          <a:xfrm>
            <a:off x="5630836" y="1907371"/>
            <a:ext cx="1612512" cy="50326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마지막 동기화 시간</a:t>
            </a:r>
            <a:endParaRPr lang="en-US" sz="1200" dirty="0"/>
          </a:p>
        </p:txBody>
      </p:sp>
      <p:sp>
        <p:nvSpPr>
          <p:cNvPr id="49" name="Text 9"/>
          <p:cNvSpPr/>
          <p:nvPr/>
        </p:nvSpPr>
        <p:spPr>
          <a:xfrm>
            <a:off x="6974595" y="1907371"/>
            <a:ext cx="940583" cy="50326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스ケ줄</a:t>
            </a:r>
            <a:endParaRPr lang="en-US" sz="1200" dirty="0"/>
          </a:p>
        </p:txBody>
      </p:sp>
      <p:sp>
        <p:nvSpPr>
          <p:cNvPr id="50" name="Text 10"/>
          <p:cNvSpPr/>
          <p:nvPr/>
        </p:nvSpPr>
        <p:spPr>
          <a:xfrm>
            <a:off x="7915178" y="1907371"/>
            <a:ext cx="1864926" cy="50326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작업</a:t>
            </a:r>
            <a:endParaRPr lang="en-US" sz="1200" dirty="0"/>
          </a:p>
        </p:txBody>
      </p:sp>
      <p:sp>
        <p:nvSpPr>
          <p:cNvPr id="51" name="Text 11"/>
          <p:cNvSpPr/>
          <p:nvPr/>
        </p:nvSpPr>
        <p:spPr>
          <a:xfrm>
            <a:off x="784762" y="2544837"/>
            <a:ext cx="747512" cy="23895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200"/>
              </a:lnSpc>
            </a:pPr>
            <a:r>
              <a:rPr lang="en-US" altLang="ko-KR" sz="1100" dirty="0">
                <a:solidFill>
                  <a:srgbClr val="33333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CONN001</a:t>
            </a:r>
            <a:endParaRPr lang="en-US" altLang="ko-KR" sz="1100" dirty="0"/>
          </a:p>
        </p:txBody>
      </p:sp>
      <p:sp>
        <p:nvSpPr>
          <p:cNvPr id="52" name="Text 12"/>
          <p:cNvSpPr/>
          <p:nvPr/>
        </p:nvSpPr>
        <p:spPr>
          <a:xfrm>
            <a:off x="1737868" y="2466551"/>
            <a:ext cx="1708873" cy="29903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ko-KR" altLang="en-US" sz="1100" b="1" dirty="0" err="1" smtClean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모아보조</a:t>
            </a:r>
            <a:r>
              <a:rPr lang="ko-KR" altLang="en-US" sz="1100" b="1" dirty="0" smtClean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통계 데이터 </a:t>
            </a:r>
            <a:r>
              <a:rPr lang="en-US" sz="11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API</a:t>
            </a:r>
          </a:p>
        </p:txBody>
      </p:sp>
      <p:sp>
        <p:nvSpPr>
          <p:cNvPr id="53" name="Text 13"/>
          <p:cNvSpPr/>
          <p:nvPr/>
        </p:nvSpPr>
        <p:spPr>
          <a:xfrm>
            <a:off x="3609849" y="2466551"/>
            <a:ext cx="1075041" cy="36270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 smtClean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API &gt; REST API</a:t>
            </a:r>
            <a:endParaRPr lang="en-US" sz="1100" dirty="0"/>
          </a:p>
        </p:txBody>
      </p:sp>
      <p:sp>
        <p:nvSpPr>
          <p:cNvPr id="54" name="Text 14"/>
          <p:cNvSpPr/>
          <p:nvPr/>
        </p:nvSpPr>
        <p:spPr>
          <a:xfrm>
            <a:off x="4988344" y="2513951"/>
            <a:ext cx="330711" cy="25163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30"/>
              </a:lnSpc>
              <a:buNone/>
            </a:pPr>
            <a:r>
              <a:rPr lang="en-US" sz="1100" dirty="0">
                <a:solidFill>
                  <a:srgbClr val="FFFFFF"/>
                </a:solidFill>
                <a:highlight>
                  <a:srgbClr val="4CAF50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</a:t>
            </a:r>
            <a:endParaRPr lang="en-US" sz="1100" dirty="0"/>
          </a:p>
        </p:txBody>
      </p:sp>
      <p:sp>
        <p:nvSpPr>
          <p:cNvPr id="55" name="Text 15"/>
          <p:cNvSpPr/>
          <p:nvPr/>
        </p:nvSpPr>
        <p:spPr>
          <a:xfrm>
            <a:off x="5630836" y="2522469"/>
            <a:ext cx="1263898" cy="39850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2025-12-09 14:30</a:t>
            </a:r>
            <a:endParaRPr lang="en-US" sz="1100" dirty="0"/>
          </a:p>
        </p:txBody>
      </p:sp>
      <p:sp>
        <p:nvSpPr>
          <p:cNvPr id="56" name="Text 16"/>
          <p:cNvSpPr/>
          <p:nvPr/>
        </p:nvSpPr>
        <p:spPr>
          <a:xfrm>
            <a:off x="6974595" y="2522470"/>
            <a:ext cx="1128699" cy="33121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매일 2:00</a:t>
            </a:r>
            <a:endParaRPr lang="en-US" sz="1100" dirty="0"/>
          </a:p>
        </p:txBody>
      </p:sp>
      <p:sp>
        <p:nvSpPr>
          <p:cNvPr id="57" name="Text 17"/>
          <p:cNvSpPr/>
          <p:nvPr/>
        </p:nvSpPr>
        <p:spPr>
          <a:xfrm>
            <a:off x="8064786" y="2578387"/>
            <a:ext cx="283466" cy="2096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30"/>
              </a:lnSpc>
              <a:buNone/>
            </a:pPr>
            <a:r>
              <a:rPr lang="en-US" sz="102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실행</a:t>
            </a:r>
            <a:endParaRPr lang="en-US" sz="1020" dirty="0"/>
          </a:p>
        </p:txBody>
      </p:sp>
      <p:sp>
        <p:nvSpPr>
          <p:cNvPr id="58" name="Text 18"/>
          <p:cNvSpPr/>
          <p:nvPr/>
        </p:nvSpPr>
        <p:spPr>
          <a:xfrm>
            <a:off x="8483302" y="2578387"/>
            <a:ext cx="283466" cy="2096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30"/>
              </a:lnSpc>
              <a:buNone/>
            </a:pPr>
            <a:r>
              <a:rPr lang="en-US" sz="102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020" dirty="0" smtClean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중지</a:t>
            </a:r>
            <a:endParaRPr lang="en-US" sz="1020" dirty="0"/>
          </a:p>
        </p:txBody>
      </p:sp>
      <p:sp>
        <p:nvSpPr>
          <p:cNvPr id="59" name="Text 19"/>
          <p:cNvSpPr/>
          <p:nvPr/>
        </p:nvSpPr>
        <p:spPr>
          <a:xfrm>
            <a:off x="9056919" y="2578387"/>
            <a:ext cx="283466" cy="2096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30"/>
              </a:lnSpc>
              <a:buNone/>
            </a:pPr>
            <a:r>
              <a:rPr lang="en-US" sz="102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삭제</a:t>
            </a:r>
            <a:endParaRPr lang="en-US" sz="1020" dirty="0"/>
          </a:p>
        </p:txBody>
      </p:sp>
      <p:sp>
        <p:nvSpPr>
          <p:cNvPr id="60" name="Text 20"/>
          <p:cNvSpPr/>
          <p:nvPr/>
        </p:nvSpPr>
        <p:spPr>
          <a:xfrm>
            <a:off x="784762" y="3105318"/>
            <a:ext cx="747512" cy="23934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200"/>
              </a:lnSpc>
            </a:pPr>
            <a:r>
              <a:rPr lang="en-US" altLang="ko-KR" sz="1100" dirty="0" smtClean="0">
                <a:solidFill>
                  <a:srgbClr val="33333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CONN002</a:t>
            </a:r>
            <a:endParaRPr lang="en-US" altLang="ko-KR" sz="1100" dirty="0"/>
          </a:p>
        </p:txBody>
      </p:sp>
      <p:sp>
        <p:nvSpPr>
          <p:cNvPr id="61" name="Text 21"/>
          <p:cNvSpPr/>
          <p:nvPr/>
        </p:nvSpPr>
        <p:spPr>
          <a:xfrm>
            <a:off x="1769393" y="3082949"/>
            <a:ext cx="1646206" cy="33121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11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MySQL </a:t>
            </a:r>
            <a:r>
              <a:rPr lang="ko-KR" altLang="en-US" sz="11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</a:t>
            </a:r>
            <a:r>
              <a:rPr lang="en-US" sz="11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DB</a:t>
            </a:r>
          </a:p>
        </p:txBody>
      </p:sp>
      <p:sp>
        <p:nvSpPr>
          <p:cNvPr id="62" name="Text 22"/>
          <p:cNvSpPr/>
          <p:nvPr/>
        </p:nvSpPr>
        <p:spPr>
          <a:xfrm>
            <a:off x="3609849" y="3105316"/>
            <a:ext cx="1075041" cy="36029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 smtClean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RDB &gt; MySQL</a:t>
            </a:r>
            <a:endParaRPr lang="en-US" sz="1100" dirty="0"/>
          </a:p>
        </p:txBody>
      </p:sp>
      <p:sp>
        <p:nvSpPr>
          <p:cNvPr id="63" name="Text 23"/>
          <p:cNvSpPr/>
          <p:nvPr/>
        </p:nvSpPr>
        <p:spPr>
          <a:xfrm>
            <a:off x="4929551" y="3119165"/>
            <a:ext cx="557485" cy="25163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30"/>
              </a:lnSpc>
              <a:buNone/>
            </a:pPr>
            <a:r>
              <a:rPr lang="en-US" sz="1100" dirty="0">
                <a:solidFill>
                  <a:srgbClr val="FFFFFF"/>
                </a:solidFill>
                <a:highlight>
                  <a:srgbClr val="FF9800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진행 중</a:t>
            </a:r>
            <a:endParaRPr lang="en-US" sz="1100" dirty="0"/>
          </a:p>
        </p:txBody>
      </p:sp>
      <p:sp>
        <p:nvSpPr>
          <p:cNvPr id="64" name="Text 24"/>
          <p:cNvSpPr/>
          <p:nvPr/>
        </p:nvSpPr>
        <p:spPr>
          <a:xfrm>
            <a:off x="5630836" y="3105316"/>
            <a:ext cx="1184326" cy="46930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2025-12-09 14:15</a:t>
            </a:r>
            <a:endParaRPr lang="en-US" sz="1100" dirty="0"/>
          </a:p>
        </p:txBody>
      </p:sp>
      <p:sp>
        <p:nvSpPr>
          <p:cNvPr id="65" name="Text 25"/>
          <p:cNvSpPr/>
          <p:nvPr/>
        </p:nvSpPr>
        <p:spPr>
          <a:xfrm>
            <a:off x="6974596" y="3105318"/>
            <a:ext cx="774366" cy="29766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매시간 1:00</a:t>
            </a:r>
            <a:endParaRPr lang="en-US" sz="1100" dirty="0"/>
          </a:p>
        </p:txBody>
      </p:sp>
      <p:sp>
        <p:nvSpPr>
          <p:cNvPr id="66" name="Text 26"/>
          <p:cNvSpPr/>
          <p:nvPr/>
        </p:nvSpPr>
        <p:spPr>
          <a:xfrm>
            <a:off x="8064786" y="3127684"/>
            <a:ext cx="283466" cy="2096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30"/>
              </a:lnSpc>
              <a:buNone/>
            </a:pPr>
            <a:r>
              <a:rPr lang="en-US" sz="102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실행</a:t>
            </a:r>
            <a:endParaRPr lang="en-US" sz="1020" dirty="0"/>
          </a:p>
        </p:txBody>
      </p:sp>
      <p:sp>
        <p:nvSpPr>
          <p:cNvPr id="67" name="Text 27"/>
          <p:cNvSpPr/>
          <p:nvPr/>
        </p:nvSpPr>
        <p:spPr>
          <a:xfrm>
            <a:off x="8503571" y="3127731"/>
            <a:ext cx="283466" cy="2096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30"/>
              </a:lnSpc>
              <a:buNone/>
            </a:pPr>
            <a:r>
              <a:rPr lang="en-US" sz="102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020" dirty="0" smtClean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중지</a:t>
            </a:r>
            <a:endParaRPr lang="en-US" sz="1020" dirty="0"/>
          </a:p>
        </p:txBody>
      </p:sp>
      <p:sp>
        <p:nvSpPr>
          <p:cNvPr id="68" name="Text 28"/>
          <p:cNvSpPr/>
          <p:nvPr/>
        </p:nvSpPr>
        <p:spPr>
          <a:xfrm>
            <a:off x="9056919" y="3127684"/>
            <a:ext cx="283466" cy="2096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30"/>
              </a:lnSpc>
              <a:buNone/>
            </a:pPr>
            <a:r>
              <a:rPr lang="en-US" sz="102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삭제</a:t>
            </a:r>
            <a:endParaRPr lang="en-US" sz="1020" dirty="0"/>
          </a:p>
        </p:txBody>
      </p:sp>
      <p:sp>
        <p:nvSpPr>
          <p:cNvPr id="69" name="Text 29"/>
          <p:cNvSpPr/>
          <p:nvPr/>
        </p:nvSpPr>
        <p:spPr>
          <a:xfrm>
            <a:off x="784762" y="3710531"/>
            <a:ext cx="1007883" cy="1222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200"/>
              </a:lnSpc>
            </a:pPr>
            <a:r>
              <a:rPr lang="en-US" altLang="ko-KR" sz="1100" dirty="0" smtClean="0">
                <a:solidFill>
                  <a:srgbClr val="33333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CONN003</a:t>
            </a:r>
            <a:endParaRPr lang="en-US" altLang="ko-KR" sz="1100" dirty="0"/>
          </a:p>
        </p:txBody>
      </p:sp>
      <p:sp>
        <p:nvSpPr>
          <p:cNvPr id="70" name="Text 30"/>
          <p:cNvSpPr/>
          <p:nvPr/>
        </p:nvSpPr>
        <p:spPr>
          <a:xfrm>
            <a:off x="1769393" y="3665795"/>
            <a:ext cx="1685526" cy="17624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ko-KR" altLang="en-US" sz="1100" b="1" dirty="0" err="1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모아보조</a:t>
            </a:r>
            <a:r>
              <a:rPr lang="ko-KR" altLang="en-US" sz="1100" b="1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 로그 데이터</a:t>
            </a:r>
            <a:endParaRPr lang="en-US" sz="11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1" name="Text 31"/>
          <p:cNvSpPr/>
          <p:nvPr/>
        </p:nvSpPr>
        <p:spPr>
          <a:xfrm>
            <a:off x="3609849" y="3665796"/>
            <a:ext cx="938119" cy="18340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 smtClean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</a:rPr>
              <a:t>File &gt; CSV</a:t>
            </a:r>
            <a:endParaRPr lang="en-US" sz="1100" dirty="0"/>
          </a:p>
        </p:txBody>
      </p:sp>
      <p:sp>
        <p:nvSpPr>
          <p:cNvPr id="72" name="Text 32"/>
          <p:cNvSpPr/>
          <p:nvPr/>
        </p:nvSpPr>
        <p:spPr>
          <a:xfrm>
            <a:off x="5005143" y="3702011"/>
            <a:ext cx="330711" cy="25163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30"/>
              </a:lnSpc>
              <a:buNone/>
            </a:pPr>
            <a:r>
              <a:rPr lang="en-US" sz="1100" dirty="0" err="1" smtClean="0">
                <a:solidFill>
                  <a:srgbClr val="FFFFFF"/>
                </a:solidFill>
                <a:highlight>
                  <a:srgbClr val="F44336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실패</a:t>
            </a:r>
            <a:endParaRPr lang="en-US" sz="1100" dirty="0"/>
          </a:p>
        </p:txBody>
      </p:sp>
      <p:sp>
        <p:nvSpPr>
          <p:cNvPr id="73" name="Text 33"/>
          <p:cNvSpPr/>
          <p:nvPr/>
        </p:nvSpPr>
        <p:spPr>
          <a:xfrm>
            <a:off x="5630836" y="3665795"/>
            <a:ext cx="1263898" cy="32113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2025-12-09 13:45</a:t>
            </a:r>
            <a:endParaRPr lang="en-US" sz="1100" dirty="0"/>
          </a:p>
        </p:txBody>
      </p:sp>
      <p:sp>
        <p:nvSpPr>
          <p:cNvPr id="74" name="Text 34"/>
          <p:cNvSpPr/>
          <p:nvPr/>
        </p:nvSpPr>
        <p:spPr>
          <a:xfrm>
            <a:off x="6974596" y="3665795"/>
            <a:ext cx="712234" cy="26691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수동</a:t>
            </a:r>
            <a:endParaRPr lang="en-US" sz="1100" dirty="0"/>
          </a:p>
        </p:txBody>
      </p:sp>
      <p:sp>
        <p:nvSpPr>
          <p:cNvPr id="75" name="Text 35"/>
          <p:cNvSpPr/>
          <p:nvPr/>
        </p:nvSpPr>
        <p:spPr>
          <a:xfrm>
            <a:off x="8064786" y="3676979"/>
            <a:ext cx="283466" cy="2096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30"/>
              </a:lnSpc>
              <a:buNone/>
            </a:pPr>
            <a:r>
              <a:rPr lang="en-US" sz="102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실행</a:t>
            </a:r>
            <a:endParaRPr lang="en-US" sz="1020" dirty="0"/>
          </a:p>
        </p:txBody>
      </p:sp>
      <p:sp>
        <p:nvSpPr>
          <p:cNvPr id="76" name="Text 36"/>
          <p:cNvSpPr/>
          <p:nvPr/>
        </p:nvSpPr>
        <p:spPr>
          <a:xfrm>
            <a:off x="8513607" y="3685219"/>
            <a:ext cx="283466" cy="2096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30"/>
              </a:lnSpc>
              <a:buNone/>
            </a:pPr>
            <a:r>
              <a:rPr lang="ko-KR" altLang="en-US" sz="1020" dirty="0" smtClean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중지</a:t>
            </a:r>
            <a:endParaRPr lang="en-US" sz="1020" dirty="0"/>
          </a:p>
        </p:txBody>
      </p:sp>
      <p:sp>
        <p:nvSpPr>
          <p:cNvPr id="77" name="Text 37"/>
          <p:cNvSpPr/>
          <p:nvPr/>
        </p:nvSpPr>
        <p:spPr>
          <a:xfrm>
            <a:off x="9056919" y="3676979"/>
            <a:ext cx="283466" cy="2096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30"/>
              </a:lnSpc>
              <a:buNone/>
            </a:pPr>
            <a:r>
              <a:rPr lang="en-US" sz="102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삭제</a:t>
            </a:r>
            <a:endParaRPr lang="en-US" sz="1020" dirty="0"/>
          </a:p>
        </p:txBody>
      </p:sp>
      <p:sp>
        <p:nvSpPr>
          <p:cNvPr id="78" name="Text 38"/>
          <p:cNvSpPr/>
          <p:nvPr/>
        </p:nvSpPr>
        <p:spPr>
          <a:xfrm>
            <a:off x="992636" y="5037656"/>
            <a:ext cx="1215296" cy="2096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커넥션 생성</a:t>
            </a:r>
            <a:endParaRPr lang="en-US" sz="1200" dirty="0"/>
          </a:p>
        </p:txBody>
      </p:sp>
      <p:sp>
        <p:nvSpPr>
          <p:cNvPr id="79" name="Text 39"/>
          <p:cNvSpPr/>
          <p:nvPr/>
        </p:nvSpPr>
        <p:spPr>
          <a:xfrm>
            <a:off x="583185" y="5457041"/>
            <a:ext cx="2771674" cy="41938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버튼 한 번 클릭으로 새로운 데이터 파이프라인 생성을 시작할 수 있습니다.</a:t>
            </a:r>
            <a:endParaRPr lang="en-US" sz="1050" dirty="0"/>
          </a:p>
        </p:txBody>
      </p:sp>
      <p:sp>
        <p:nvSpPr>
          <p:cNvPr id="80" name="Text 40"/>
          <p:cNvSpPr/>
          <p:nvPr/>
        </p:nvSpPr>
        <p:spPr>
          <a:xfrm>
            <a:off x="4142267" y="5037656"/>
            <a:ext cx="1507582" cy="2096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배치 작업 관리</a:t>
            </a:r>
            <a:endParaRPr lang="en-US" sz="1200" dirty="0"/>
          </a:p>
        </p:txBody>
      </p:sp>
      <p:sp>
        <p:nvSpPr>
          <p:cNvPr id="81" name="Text 41"/>
          <p:cNvSpPr/>
          <p:nvPr/>
        </p:nvSpPr>
        <p:spPr>
          <a:xfrm>
            <a:off x="3732814" y="5457041"/>
            <a:ext cx="2771674" cy="41938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여러 커넥션에 대해 일괄 실행, 일시 중지, 복제 등의 작업을 지원합니다.</a:t>
            </a:r>
            <a:endParaRPr lang="en-US" sz="1050" dirty="0"/>
          </a:p>
        </p:txBody>
      </p:sp>
      <p:sp>
        <p:nvSpPr>
          <p:cNvPr id="82" name="Text 42"/>
          <p:cNvSpPr/>
          <p:nvPr/>
        </p:nvSpPr>
        <p:spPr>
          <a:xfrm>
            <a:off x="7291896" y="5037656"/>
            <a:ext cx="1276830" cy="2096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요약 및 통계</a:t>
            </a:r>
            <a:endParaRPr lang="en-US" sz="1200" dirty="0"/>
          </a:p>
        </p:txBody>
      </p:sp>
      <p:sp>
        <p:nvSpPr>
          <p:cNvPr id="83" name="Text 43"/>
          <p:cNvSpPr/>
          <p:nvPr/>
        </p:nvSpPr>
        <p:spPr>
          <a:xfrm>
            <a:off x="6882445" y="5457041"/>
            <a:ext cx="2771674" cy="41938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상태별 커넥션 수 요약 및 최근 동기화 성공률 통계를 시각적으로 제공합니다.</a:t>
            </a:r>
            <a:endParaRPr lang="en-US" sz="1050" dirty="0"/>
          </a:p>
        </p:txBody>
      </p:sp>
      <p:pic>
        <p:nvPicPr>
          <p:cNvPr id="87" name="Image 24" descr="preencoded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679579" y="1928340"/>
            <a:ext cx="8700177" cy="398417"/>
          </a:xfrm>
          <a:prstGeom prst="rect">
            <a:avLst/>
          </a:prstGeom>
        </p:spPr>
      </p:pic>
      <p:sp>
        <p:nvSpPr>
          <p:cNvPr id="93" name="Text 13"/>
          <p:cNvSpPr/>
          <p:nvPr/>
        </p:nvSpPr>
        <p:spPr>
          <a:xfrm>
            <a:off x="818163" y="2073192"/>
            <a:ext cx="662450" cy="15654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33333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커넥션 ID</a:t>
            </a:r>
            <a:endParaRPr lang="en-US" sz="1100" dirty="0"/>
          </a:p>
        </p:txBody>
      </p:sp>
      <p:sp>
        <p:nvSpPr>
          <p:cNvPr id="94" name="Text 14"/>
          <p:cNvSpPr/>
          <p:nvPr/>
        </p:nvSpPr>
        <p:spPr>
          <a:xfrm>
            <a:off x="2185857" y="2060422"/>
            <a:ext cx="987762" cy="15916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33333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커넥션 이름</a:t>
            </a:r>
            <a:endParaRPr lang="en-US" sz="1100" dirty="0"/>
          </a:p>
        </p:txBody>
      </p:sp>
      <p:sp>
        <p:nvSpPr>
          <p:cNvPr id="95" name="Text 15"/>
          <p:cNvSpPr/>
          <p:nvPr/>
        </p:nvSpPr>
        <p:spPr>
          <a:xfrm>
            <a:off x="3748332" y="2051536"/>
            <a:ext cx="714225" cy="13512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00" b="1" dirty="0" err="1">
                <a:solidFill>
                  <a:srgbClr val="33333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소스</a:t>
            </a:r>
            <a:r>
              <a:rPr lang="en-US" sz="1100" b="1" dirty="0">
                <a:solidFill>
                  <a:srgbClr val="33333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ko-KR" altLang="en-US" sz="1100" b="1" dirty="0" smtClean="0">
                <a:solidFill>
                  <a:srgbClr val="33333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유형</a:t>
            </a:r>
            <a:endParaRPr lang="en-US" sz="1100" dirty="0"/>
          </a:p>
        </p:txBody>
      </p:sp>
      <p:sp>
        <p:nvSpPr>
          <p:cNvPr id="96" name="Text 16"/>
          <p:cNvSpPr/>
          <p:nvPr/>
        </p:nvSpPr>
        <p:spPr>
          <a:xfrm>
            <a:off x="4971106" y="2065659"/>
            <a:ext cx="430887" cy="24009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33333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상태</a:t>
            </a:r>
            <a:endParaRPr lang="en-US" sz="1100" dirty="0"/>
          </a:p>
        </p:txBody>
      </p:sp>
      <p:sp>
        <p:nvSpPr>
          <p:cNvPr id="97" name="Text 17"/>
          <p:cNvSpPr/>
          <p:nvPr/>
        </p:nvSpPr>
        <p:spPr>
          <a:xfrm>
            <a:off x="8181740" y="2077331"/>
            <a:ext cx="773974" cy="24009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200"/>
              </a:lnSpc>
            </a:pPr>
            <a:r>
              <a:rPr lang="en-US" sz="1100" b="1" dirty="0">
                <a:solidFill>
                  <a:srgbClr val="33333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Operation</a:t>
            </a:r>
          </a:p>
        </p:txBody>
      </p:sp>
      <p:sp>
        <p:nvSpPr>
          <p:cNvPr id="104" name="Text 16"/>
          <p:cNvSpPr/>
          <p:nvPr/>
        </p:nvSpPr>
        <p:spPr>
          <a:xfrm>
            <a:off x="6968658" y="2065692"/>
            <a:ext cx="937253" cy="18128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ko-KR" altLang="en-US" sz="1100" b="1" dirty="0" smtClean="0">
                <a:solidFill>
                  <a:srgbClr val="33333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동기화 주기</a:t>
            </a:r>
            <a:endParaRPr lang="en-US" sz="1100" dirty="0"/>
          </a:p>
        </p:txBody>
      </p:sp>
      <p:sp>
        <p:nvSpPr>
          <p:cNvPr id="105" name="Text 16"/>
          <p:cNvSpPr/>
          <p:nvPr/>
        </p:nvSpPr>
        <p:spPr>
          <a:xfrm>
            <a:off x="5797449" y="2043325"/>
            <a:ext cx="928700" cy="18972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ko-KR" altLang="en-US" sz="1100" b="1" dirty="0" smtClean="0">
                <a:solidFill>
                  <a:srgbClr val="33333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최종 수정일</a:t>
            </a:r>
            <a:endParaRPr lang="en-US" sz="1100" dirty="0"/>
          </a:p>
        </p:txBody>
      </p:sp>
      <p:sp>
        <p:nvSpPr>
          <p:cNvPr id="101" name="타원 100">
            <a:extLst>
              <a:ext uri="{FF2B5EF4-FFF2-40B4-BE49-F238E27FC236}">
                <a16:creationId xmlns:a16="http://schemas.microsoft.com/office/drawing/2014/main" id="{4D9049EB-70D8-4995-9DBA-68C2EE93E2F4}"/>
              </a:ext>
            </a:extLst>
          </p:cNvPr>
          <p:cNvSpPr/>
          <p:nvPr/>
        </p:nvSpPr>
        <p:spPr>
          <a:xfrm>
            <a:off x="2343770" y="1278466"/>
            <a:ext cx="183750" cy="178979"/>
          </a:xfrm>
          <a:prstGeom prst="ellipse">
            <a:avLst/>
          </a:prstGeom>
          <a:solidFill>
            <a:srgbClr val="FF0000"/>
          </a:solidFill>
          <a:ln w="15875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sz="10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2" name="타원 101">
            <a:extLst>
              <a:ext uri="{FF2B5EF4-FFF2-40B4-BE49-F238E27FC236}">
                <a16:creationId xmlns:a16="http://schemas.microsoft.com/office/drawing/2014/main" id="{4D9049EB-70D8-4995-9DBA-68C2EE93E2F4}"/>
              </a:ext>
            </a:extLst>
          </p:cNvPr>
          <p:cNvSpPr/>
          <p:nvPr/>
        </p:nvSpPr>
        <p:spPr>
          <a:xfrm>
            <a:off x="8044961" y="2321144"/>
            <a:ext cx="183750" cy="178979"/>
          </a:xfrm>
          <a:prstGeom prst="ellipse">
            <a:avLst/>
          </a:prstGeom>
          <a:solidFill>
            <a:srgbClr val="FF0000"/>
          </a:solidFill>
          <a:ln w="15875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endParaRPr lang="ko-KR" altLang="en-US" sz="10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3" name="타원 102">
            <a:extLst>
              <a:ext uri="{FF2B5EF4-FFF2-40B4-BE49-F238E27FC236}">
                <a16:creationId xmlns:a16="http://schemas.microsoft.com/office/drawing/2014/main" id="{4D9049EB-70D8-4995-9DBA-68C2EE93E2F4}"/>
              </a:ext>
            </a:extLst>
          </p:cNvPr>
          <p:cNvSpPr/>
          <p:nvPr/>
        </p:nvSpPr>
        <p:spPr>
          <a:xfrm>
            <a:off x="8583018" y="2309939"/>
            <a:ext cx="183750" cy="178979"/>
          </a:xfrm>
          <a:prstGeom prst="ellipse">
            <a:avLst/>
          </a:prstGeom>
          <a:solidFill>
            <a:srgbClr val="FF0000"/>
          </a:solidFill>
          <a:ln w="15875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endParaRPr lang="ko-KR" altLang="en-US" sz="10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6" name="타원 105">
            <a:extLst>
              <a:ext uri="{FF2B5EF4-FFF2-40B4-BE49-F238E27FC236}">
                <a16:creationId xmlns:a16="http://schemas.microsoft.com/office/drawing/2014/main" id="{4D9049EB-70D8-4995-9DBA-68C2EE93E2F4}"/>
              </a:ext>
            </a:extLst>
          </p:cNvPr>
          <p:cNvSpPr/>
          <p:nvPr/>
        </p:nvSpPr>
        <p:spPr>
          <a:xfrm>
            <a:off x="9022247" y="2320403"/>
            <a:ext cx="183750" cy="178979"/>
          </a:xfrm>
          <a:prstGeom prst="ellipse">
            <a:avLst/>
          </a:prstGeom>
          <a:solidFill>
            <a:srgbClr val="FF0000"/>
          </a:solidFill>
          <a:ln w="15875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5</a:t>
            </a:r>
            <a:endParaRPr lang="ko-KR" altLang="en-US" sz="10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7" name="타원 106">
            <a:extLst>
              <a:ext uri="{FF2B5EF4-FFF2-40B4-BE49-F238E27FC236}">
                <a16:creationId xmlns:a16="http://schemas.microsoft.com/office/drawing/2014/main" id="{4D9049EB-70D8-4995-9DBA-68C2EE93E2F4}"/>
              </a:ext>
            </a:extLst>
          </p:cNvPr>
          <p:cNvSpPr/>
          <p:nvPr/>
        </p:nvSpPr>
        <p:spPr>
          <a:xfrm>
            <a:off x="3864027" y="1286541"/>
            <a:ext cx="183750" cy="178979"/>
          </a:xfrm>
          <a:prstGeom prst="ellipse">
            <a:avLst/>
          </a:prstGeom>
          <a:solidFill>
            <a:srgbClr val="FF0000"/>
          </a:solidFill>
          <a:ln w="15875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endParaRPr lang="ko-KR" altLang="en-US" sz="10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8" name="타원 107">
            <a:extLst>
              <a:ext uri="{FF2B5EF4-FFF2-40B4-BE49-F238E27FC236}">
                <a16:creationId xmlns:a16="http://schemas.microsoft.com/office/drawing/2014/main" id="{4D9049EB-70D8-4995-9DBA-68C2EE93E2F4}"/>
              </a:ext>
            </a:extLst>
          </p:cNvPr>
          <p:cNvSpPr/>
          <p:nvPr/>
        </p:nvSpPr>
        <p:spPr>
          <a:xfrm>
            <a:off x="1241620" y="4814258"/>
            <a:ext cx="183750" cy="178979"/>
          </a:xfrm>
          <a:prstGeom prst="ellipse">
            <a:avLst/>
          </a:prstGeom>
          <a:solidFill>
            <a:srgbClr val="FF0000"/>
          </a:solidFill>
          <a:ln w="15875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6</a:t>
            </a:r>
            <a:endParaRPr lang="ko-KR" altLang="en-US" sz="10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9" name="타원 108">
            <a:extLst>
              <a:ext uri="{FF2B5EF4-FFF2-40B4-BE49-F238E27FC236}">
                <a16:creationId xmlns:a16="http://schemas.microsoft.com/office/drawing/2014/main" id="{4D9049EB-70D8-4995-9DBA-68C2EE93E2F4}"/>
              </a:ext>
            </a:extLst>
          </p:cNvPr>
          <p:cNvSpPr/>
          <p:nvPr/>
        </p:nvSpPr>
        <p:spPr>
          <a:xfrm>
            <a:off x="4620763" y="4812912"/>
            <a:ext cx="183750" cy="178979"/>
          </a:xfrm>
          <a:prstGeom prst="ellipse">
            <a:avLst/>
          </a:prstGeom>
          <a:solidFill>
            <a:srgbClr val="FF0000"/>
          </a:solidFill>
          <a:ln w="15875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7</a:t>
            </a:r>
            <a:endParaRPr lang="ko-KR" altLang="en-US" sz="10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0" name="타원 109">
            <a:extLst>
              <a:ext uri="{FF2B5EF4-FFF2-40B4-BE49-F238E27FC236}">
                <a16:creationId xmlns:a16="http://schemas.microsoft.com/office/drawing/2014/main" id="{4D9049EB-70D8-4995-9DBA-68C2EE93E2F4}"/>
              </a:ext>
            </a:extLst>
          </p:cNvPr>
          <p:cNvSpPr/>
          <p:nvPr/>
        </p:nvSpPr>
        <p:spPr>
          <a:xfrm>
            <a:off x="7589954" y="4779424"/>
            <a:ext cx="183750" cy="178979"/>
          </a:xfrm>
          <a:prstGeom prst="ellipse">
            <a:avLst/>
          </a:prstGeom>
          <a:solidFill>
            <a:srgbClr val="FF0000"/>
          </a:solidFill>
          <a:ln w="15875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8</a:t>
            </a:r>
            <a:endParaRPr lang="ko-KR" altLang="en-US" sz="10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1" name="타원 110">
            <a:extLst>
              <a:ext uri="{FF2B5EF4-FFF2-40B4-BE49-F238E27FC236}">
                <a16:creationId xmlns:a16="http://schemas.microsoft.com/office/drawing/2014/main" id="{4D9049EB-70D8-4995-9DBA-68C2EE93E2F4}"/>
              </a:ext>
            </a:extLst>
          </p:cNvPr>
          <p:cNvSpPr/>
          <p:nvPr/>
        </p:nvSpPr>
        <p:spPr>
          <a:xfrm>
            <a:off x="1650923" y="2326757"/>
            <a:ext cx="183750" cy="178979"/>
          </a:xfrm>
          <a:prstGeom prst="ellipse">
            <a:avLst/>
          </a:prstGeom>
          <a:solidFill>
            <a:srgbClr val="FF0000"/>
          </a:solidFill>
          <a:ln w="15875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9</a:t>
            </a:r>
            <a:endParaRPr lang="ko-KR" altLang="en-US" sz="10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67893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8" name="Text 1"/>
          <p:cNvSpPr/>
          <p:nvPr/>
        </p:nvSpPr>
        <p:spPr>
          <a:xfrm>
            <a:off x="457200" y="914400"/>
            <a:ext cx="11277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데이터를 가져올 소스 시스템의 유형을 선택하세요.</a:t>
            </a:r>
            <a:endParaRPr lang="en-US" sz="1200" dirty="0"/>
          </a:p>
        </p:txBody>
      </p:sp>
      <p:grpSp>
        <p:nvGrpSpPr>
          <p:cNvPr id="27" name="그룹 26"/>
          <p:cNvGrpSpPr/>
          <p:nvPr/>
        </p:nvGrpSpPr>
        <p:grpSpPr>
          <a:xfrm>
            <a:off x="457200" y="1480820"/>
            <a:ext cx="9264950" cy="3238500"/>
            <a:chOff x="457200" y="2019300"/>
            <a:chExt cx="11277600" cy="3238500"/>
          </a:xfrm>
        </p:grpSpPr>
        <p:pic>
          <p:nvPicPr>
            <p:cNvPr id="7" name="Image 5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57200" y="2019300"/>
              <a:ext cx="5543550" cy="1524000"/>
            </a:xfrm>
            <a:prstGeom prst="rect">
              <a:avLst/>
            </a:prstGeom>
          </p:spPr>
        </p:pic>
        <p:pic>
          <p:nvPicPr>
            <p:cNvPr id="8" name="Image 6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47700" y="2209800"/>
              <a:ext cx="552450" cy="647700"/>
            </a:xfrm>
            <a:prstGeom prst="rect">
              <a:avLst/>
            </a:prstGeom>
          </p:spPr>
        </p:pic>
        <p:pic>
          <p:nvPicPr>
            <p:cNvPr id="9" name="Image 7" descr="preencode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00100" y="2362200"/>
              <a:ext cx="247650" cy="342900"/>
            </a:xfrm>
            <a:prstGeom prst="rect">
              <a:avLst/>
            </a:prstGeom>
          </p:spPr>
        </p:pic>
        <p:pic>
          <p:nvPicPr>
            <p:cNvPr id="10" name="Image 8" descr="preencoded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352550" y="3048000"/>
              <a:ext cx="2145029" cy="304800"/>
            </a:xfrm>
            <a:prstGeom prst="rect">
              <a:avLst/>
            </a:prstGeom>
          </p:spPr>
        </p:pic>
        <p:pic>
          <p:nvPicPr>
            <p:cNvPr id="11" name="Image 9" descr="preencoded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466850" y="3133725"/>
              <a:ext cx="152400" cy="152400"/>
            </a:xfrm>
            <a:prstGeom prst="rect">
              <a:avLst/>
            </a:prstGeom>
          </p:spPr>
        </p:pic>
        <p:pic>
          <p:nvPicPr>
            <p:cNvPr id="12" name="Image 10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191250" y="2019300"/>
              <a:ext cx="5543550" cy="1524000"/>
            </a:xfrm>
            <a:prstGeom prst="rect">
              <a:avLst/>
            </a:prstGeom>
          </p:spPr>
        </p:pic>
        <p:pic>
          <p:nvPicPr>
            <p:cNvPr id="13" name="Image 11" descr="preencoded.pn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381750" y="2209800"/>
              <a:ext cx="523875" cy="647700"/>
            </a:xfrm>
            <a:prstGeom prst="rect">
              <a:avLst/>
            </a:prstGeom>
          </p:spPr>
        </p:pic>
        <p:pic>
          <p:nvPicPr>
            <p:cNvPr id="14" name="Image 12" descr="preencoded.pn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534150" y="2362200"/>
              <a:ext cx="219075" cy="342900"/>
            </a:xfrm>
            <a:prstGeom prst="rect">
              <a:avLst/>
            </a:prstGeom>
          </p:spPr>
        </p:pic>
        <p:pic>
          <p:nvPicPr>
            <p:cNvPr id="15" name="Image 13" descr="preencoded.pn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7058024" y="3048000"/>
              <a:ext cx="2331971" cy="304800"/>
            </a:xfrm>
            <a:prstGeom prst="rect">
              <a:avLst/>
            </a:prstGeom>
          </p:spPr>
        </p:pic>
        <p:pic>
          <p:nvPicPr>
            <p:cNvPr id="16" name="Image 14" descr="preencoded.pn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7172325" y="3133725"/>
              <a:ext cx="152400" cy="152400"/>
            </a:xfrm>
            <a:prstGeom prst="rect">
              <a:avLst/>
            </a:prstGeom>
          </p:spPr>
        </p:pic>
        <p:pic>
          <p:nvPicPr>
            <p:cNvPr id="17" name="Image 15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57200" y="3733800"/>
              <a:ext cx="5543550" cy="1524000"/>
            </a:xfrm>
            <a:prstGeom prst="rect">
              <a:avLst/>
            </a:prstGeom>
          </p:spPr>
        </p:pic>
        <p:pic>
          <p:nvPicPr>
            <p:cNvPr id="18" name="Image 16" descr="preencoded.pn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647700" y="3924300"/>
              <a:ext cx="666750" cy="647700"/>
            </a:xfrm>
            <a:prstGeom prst="rect">
              <a:avLst/>
            </a:prstGeom>
          </p:spPr>
        </p:pic>
        <p:pic>
          <p:nvPicPr>
            <p:cNvPr id="19" name="Image 17" descr="preencoded.png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800100" y="4076700"/>
              <a:ext cx="361950" cy="342900"/>
            </a:xfrm>
            <a:prstGeom prst="rect">
              <a:avLst/>
            </a:prstGeom>
          </p:spPr>
        </p:pic>
        <p:pic>
          <p:nvPicPr>
            <p:cNvPr id="20" name="Image 18" descr="preencoded.png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466849" y="4762500"/>
              <a:ext cx="2030730" cy="304800"/>
            </a:xfrm>
            <a:prstGeom prst="rect">
              <a:avLst/>
            </a:prstGeom>
          </p:spPr>
        </p:pic>
        <p:pic>
          <p:nvPicPr>
            <p:cNvPr id="21" name="Image 19" descr="preencoded.png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1581150" y="4848225"/>
              <a:ext cx="152400" cy="152400"/>
            </a:xfrm>
            <a:prstGeom prst="rect">
              <a:avLst/>
            </a:prstGeom>
          </p:spPr>
        </p:pic>
        <p:pic>
          <p:nvPicPr>
            <p:cNvPr id="22" name="Image 20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191250" y="3733800"/>
              <a:ext cx="5543550" cy="1524000"/>
            </a:xfrm>
            <a:prstGeom prst="rect">
              <a:avLst/>
            </a:prstGeom>
          </p:spPr>
        </p:pic>
        <p:pic>
          <p:nvPicPr>
            <p:cNvPr id="23" name="Image 21" descr="preencoded.png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6381750" y="3924300"/>
              <a:ext cx="590550" cy="647700"/>
            </a:xfrm>
            <a:prstGeom prst="rect">
              <a:avLst/>
            </a:prstGeom>
          </p:spPr>
        </p:pic>
        <p:pic>
          <p:nvPicPr>
            <p:cNvPr id="24" name="Image 22" descr="preencoded.png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6534150" y="4076700"/>
              <a:ext cx="285750" cy="342900"/>
            </a:xfrm>
            <a:prstGeom prst="rect">
              <a:avLst/>
            </a:prstGeom>
          </p:spPr>
        </p:pic>
        <p:pic>
          <p:nvPicPr>
            <p:cNvPr id="25" name="Image 23" descr="preencoded.png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7124699" y="4762500"/>
              <a:ext cx="2379596" cy="304800"/>
            </a:xfrm>
            <a:prstGeom prst="rect">
              <a:avLst/>
            </a:prstGeom>
          </p:spPr>
        </p:pic>
        <p:pic>
          <p:nvPicPr>
            <p:cNvPr id="26" name="Image 24" descr="preencoded.png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7239000" y="4848225"/>
              <a:ext cx="152400" cy="152400"/>
            </a:xfrm>
            <a:prstGeom prst="rect">
              <a:avLst/>
            </a:prstGeom>
          </p:spPr>
        </p:pic>
        <p:sp>
          <p:nvSpPr>
            <p:cNvPr id="32" name="Text 5"/>
            <p:cNvSpPr/>
            <p:nvPr/>
          </p:nvSpPr>
          <p:spPr>
            <a:xfrm>
              <a:off x="1352550" y="2209800"/>
              <a:ext cx="4457700" cy="2667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2100"/>
                </a:lnSpc>
                <a:buNone/>
              </a:pPr>
              <a:r>
                <a:rPr lang="en-US" sz="1500" b="1" dirty="0">
                  <a:solidFill>
                    <a:srgbClr val="1F293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RDB</a:t>
              </a:r>
              <a:endParaRPr lang="en-US" sz="1500" dirty="0"/>
            </a:p>
          </p:txBody>
        </p:sp>
        <p:sp>
          <p:nvSpPr>
            <p:cNvPr id="33" name="Text 6"/>
            <p:cNvSpPr/>
            <p:nvPr/>
          </p:nvSpPr>
          <p:spPr>
            <a:xfrm>
              <a:off x="1352550" y="2514600"/>
              <a:ext cx="4457700" cy="4572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2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관계형 데이터베이스에서 데이터를 추출합니다. MySQL, PostgreSQL, Oracle 등 다양한 RDBMS를 지원합니다.</a:t>
              </a:r>
              <a:endParaRPr lang="en-US" sz="1200" dirty="0"/>
            </a:p>
          </p:txBody>
        </p:sp>
        <p:sp>
          <p:nvSpPr>
            <p:cNvPr id="34" name="Text 7"/>
            <p:cNvSpPr/>
            <p:nvPr/>
          </p:nvSpPr>
          <p:spPr>
            <a:xfrm>
              <a:off x="1657349" y="3048000"/>
              <a:ext cx="1616173" cy="3048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200" dirty="0">
                  <a:solidFill>
                    <a:srgbClr val="1D4ED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연결 테스트 가능</a:t>
              </a:r>
              <a:endParaRPr lang="en-US" sz="1200" dirty="0"/>
            </a:p>
          </p:txBody>
        </p:sp>
        <p:sp>
          <p:nvSpPr>
            <p:cNvPr id="35" name="Text 8"/>
            <p:cNvSpPr/>
            <p:nvPr/>
          </p:nvSpPr>
          <p:spPr>
            <a:xfrm>
              <a:off x="7058025" y="2209800"/>
              <a:ext cx="4486275" cy="2667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2100"/>
                </a:lnSpc>
                <a:buNone/>
              </a:pPr>
              <a:r>
                <a:rPr lang="en-US" sz="1500" b="1" dirty="0">
                  <a:solidFill>
                    <a:srgbClr val="1F293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파일</a:t>
              </a:r>
              <a:endParaRPr lang="en-US" sz="1500" dirty="0"/>
            </a:p>
          </p:txBody>
        </p:sp>
        <p:sp>
          <p:nvSpPr>
            <p:cNvPr id="36" name="Text 9"/>
            <p:cNvSpPr/>
            <p:nvPr/>
          </p:nvSpPr>
          <p:spPr>
            <a:xfrm>
              <a:off x="7058025" y="2514600"/>
              <a:ext cx="4486275" cy="4572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2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로컬 또는 클라우드 스토리지의 파일에서 데이터를 읽습니다. CSV, JSON, Parquet 등 다양한 형식을 지원합니다.</a:t>
              </a:r>
              <a:endParaRPr lang="en-US" sz="1200" dirty="0"/>
            </a:p>
          </p:txBody>
        </p:sp>
        <p:sp>
          <p:nvSpPr>
            <p:cNvPr id="37" name="Text 10"/>
            <p:cNvSpPr/>
            <p:nvPr/>
          </p:nvSpPr>
          <p:spPr>
            <a:xfrm>
              <a:off x="7362825" y="3048000"/>
              <a:ext cx="2257426" cy="3048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200" dirty="0">
                  <a:solidFill>
                    <a:srgbClr val="15803D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로컬/클라우드 지원</a:t>
              </a:r>
              <a:endParaRPr lang="en-US" sz="1200" dirty="0"/>
            </a:p>
          </p:txBody>
        </p:sp>
        <p:sp>
          <p:nvSpPr>
            <p:cNvPr id="38" name="Text 11"/>
            <p:cNvSpPr/>
            <p:nvPr/>
          </p:nvSpPr>
          <p:spPr>
            <a:xfrm>
              <a:off x="1466850" y="3924300"/>
              <a:ext cx="4343400" cy="2667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2100"/>
                </a:lnSpc>
                <a:buNone/>
              </a:pPr>
              <a:r>
                <a:rPr lang="en-US" sz="1500" b="1" dirty="0">
                  <a:solidFill>
                    <a:srgbClr val="1F293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API</a:t>
              </a:r>
              <a:endParaRPr lang="en-US" sz="1500" dirty="0"/>
            </a:p>
          </p:txBody>
        </p:sp>
        <p:sp>
          <p:nvSpPr>
            <p:cNvPr id="39" name="Text 12"/>
            <p:cNvSpPr/>
            <p:nvPr/>
          </p:nvSpPr>
          <p:spPr>
            <a:xfrm>
              <a:off x="1466850" y="4229100"/>
              <a:ext cx="4343400" cy="4572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2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REST API, SOAP 등 웹 API에서 데이터를 가져옵니다. </a:t>
              </a:r>
              <a:r>
                <a:rPr lang="en-US" sz="1200" dirty="0" err="1" smtClean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인증</a:t>
              </a:r>
              <a:r>
                <a:rPr lang="en-US" sz="1200" dirty="0" smtClean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  <a:r>
                <a:rPr lang="en-US" sz="1200" dirty="0" err="1" smtClean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방식에</a:t>
              </a:r>
              <a:r>
                <a:rPr lang="en-US" sz="1200" dirty="0" smtClean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  <a:r>
                <a:rPr lang="en-US" sz="1200" dirty="0" err="1" smtClean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따라</a:t>
              </a:r>
              <a:r>
                <a:rPr lang="en-US" sz="1200" dirty="0" smtClean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API </a:t>
              </a:r>
              <a:r>
                <a:rPr lang="en-US" sz="12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Key, OAuth 등 </a:t>
              </a:r>
              <a:r>
                <a:rPr lang="en-US" sz="1200" dirty="0" err="1" smtClean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방식을</a:t>
              </a:r>
              <a:r>
                <a:rPr lang="en-US" sz="1200" dirty="0" smtClean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  <a:r>
                <a:rPr lang="en-US" sz="12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지원합니다.</a:t>
              </a:r>
              <a:endParaRPr lang="en-US" sz="1200" dirty="0"/>
            </a:p>
          </p:txBody>
        </p:sp>
        <p:sp>
          <p:nvSpPr>
            <p:cNvPr id="40" name="Text 13"/>
            <p:cNvSpPr/>
            <p:nvPr/>
          </p:nvSpPr>
          <p:spPr>
            <a:xfrm>
              <a:off x="1771650" y="4762500"/>
              <a:ext cx="1840230" cy="3048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200" dirty="0">
                  <a:solidFill>
                    <a:srgbClr val="C2410C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다양한 인증 방식</a:t>
              </a:r>
              <a:endParaRPr lang="en-US" sz="1200" dirty="0"/>
            </a:p>
          </p:txBody>
        </p:sp>
        <p:sp>
          <p:nvSpPr>
            <p:cNvPr id="41" name="Text 14"/>
            <p:cNvSpPr/>
            <p:nvPr/>
          </p:nvSpPr>
          <p:spPr>
            <a:xfrm>
              <a:off x="7124700" y="3924300"/>
              <a:ext cx="4419600" cy="2667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2100"/>
                </a:lnSpc>
                <a:buNone/>
              </a:pPr>
              <a:r>
                <a:rPr lang="en-US" sz="1500" b="1" dirty="0">
                  <a:solidFill>
                    <a:srgbClr val="1F293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Kafka</a:t>
              </a:r>
              <a:endParaRPr lang="en-US" sz="1500" dirty="0"/>
            </a:p>
          </p:txBody>
        </p:sp>
        <p:sp>
          <p:nvSpPr>
            <p:cNvPr id="42" name="Text 15"/>
            <p:cNvSpPr/>
            <p:nvPr/>
          </p:nvSpPr>
          <p:spPr>
            <a:xfrm>
              <a:off x="7124700" y="4229100"/>
              <a:ext cx="4419600" cy="4572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2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Kafka 메시지 브로커에서 실시간 데이터를 구독합니다. Consumer Group ID 및 인증 정보 설정이 필요합니다.</a:t>
              </a:r>
              <a:endParaRPr lang="en-US" sz="1200" dirty="0"/>
            </a:p>
          </p:txBody>
        </p:sp>
        <p:sp>
          <p:nvSpPr>
            <p:cNvPr id="43" name="Text 16"/>
            <p:cNvSpPr/>
            <p:nvPr/>
          </p:nvSpPr>
          <p:spPr>
            <a:xfrm>
              <a:off x="7421876" y="4762500"/>
              <a:ext cx="2362206" cy="3048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200" dirty="0">
                  <a:solidFill>
                    <a:srgbClr val="7E22CE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실시간 데이터 스트리밍</a:t>
              </a:r>
              <a:endParaRPr lang="en-US" sz="1200" dirty="0"/>
            </a:p>
          </p:txBody>
        </p:sp>
      </p:grpSp>
      <p:pic>
        <p:nvPicPr>
          <p:cNvPr id="45" name="Image 2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81000" y="800100"/>
            <a:ext cx="762000" cy="38100"/>
          </a:xfrm>
          <a:prstGeom prst="rect">
            <a:avLst/>
          </a:prstGeom>
        </p:spPr>
      </p:pic>
      <p:sp>
        <p:nvSpPr>
          <p:cNvPr id="46" name="Text 0"/>
          <p:cNvSpPr/>
          <p:nvPr/>
        </p:nvSpPr>
        <p:spPr>
          <a:xfrm>
            <a:off x="381000" y="381000"/>
            <a:ext cx="114300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ko-KR" altLang="en-US" sz="2250" b="1" dirty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커넥션 </a:t>
            </a:r>
            <a:r>
              <a:rPr lang="ko-KR" altLang="en-US" sz="2250" b="1" dirty="0" smtClean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생성 </a:t>
            </a:r>
            <a:r>
              <a:rPr lang="en-US" altLang="ko-KR" sz="2250" b="1" dirty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- Source </a:t>
            </a:r>
            <a:r>
              <a:rPr lang="ko-KR" altLang="en-US" sz="2250" b="1" dirty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선택</a:t>
            </a:r>
            <a:endParaRPr lang="en-US" sz="2250" b="1" dirty="0">
              <a:solidFill>
                <a:srgbClr val="000000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</p:txBody>
      </p:sp>
      <p:pic>
        <p:nvPicPr>
          <p:cNvPr id="47" name="Image 55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852254" y="1480820"/>
            <a:ext cx="2265332" cy="3238500"/>
          </a:xfrm>
          <a:prstGeom prst="rect">
            <a:avLst/>
          </a:prstGeom>
        </p:spPr>
      </p:pic>
      <p:sp>
        <p:nvSpPr>
          <p:cNvPr id="48" name="Text 46"/>
          <p:cNvSpPr/>
          <p:nvPr/>
        </p:nvSpPr>
        <p:spPr>
          <a:xfrm>
            <a:off x="9877290" y="1167551"/>
            <a:ext cx="208874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 smtClean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UI </a:t>
            </a:r>
            <a:r>
              <a:rPr lang="ko-KR" altLang="en-US" sz="1350" b="1" dirty="0" smtClean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설명</a:t>
            </a:r>
            <a:r>
              <a:rPr lang="en-US" sz="1350" b="1" dirty="0" smtClean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en-US" sz="1350" b="1" dirty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영역</a:t>
            </a:r>
            <a:endParaRPr lang="en-US" sz="1350" dirty="0"/>
          </a:p>
        </p:txBody>
      </p:sp>
      <p:sp>
        <p:nvSpPr>
          <p:cNvPr id="49" name="Text 20"/>
          <p:cNvSpPr/>
          <p:nvPr/>
        </p:nvSpPr>
        <p:spPr>
          <a:xfrm>
            <a:off x="9877290" y="1573958"/>
            <a:ext cx="2184606" cy="314536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r>
              <a:rPr 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1.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소스 유형을 선택하면 커넥션 생성  </a:t>
            </a:r>
            <a:endParaRPr lang="en-US" sz="1000" dirty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4D9049EB-70D8-4995-9DBA-68C2EE93E2F4}"/>
              </a:ext>
            </a:extLst>
          </p:cNvPr>
          <p:cNvSpPr/>
          <p:nvPr/>
        </p:nvSpPr>
        <p:spPr>
          <a:xfrm>
            <a:off x="1236863" y="1492341"/>
            <a:ext cx="183750" cy="178979"/>
          </a:xfrm>
          <a:prstGeom prst="ellipse">
            <a:avLst/>
          </a:prstGeom>
          <a:solidFill>
            <a:srgbClr val="FF0000"/>
          </a:solidFill>
          <a:ln w="15875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sz="10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4D9049EB-70D8-4995-9DBA-68C2EE93E2F4}"/>
              </a:ext>
            </a:extLst>
          </p:cNvPr>
          <p:cNvSpPr/>
          <p:nvPr/>
        </p:nvSpPr>
        <p:spPr>
          <a:xfrm>
            <a:off x="5973914" y="1484468"/>
            <a:ext cx="183750" cy="178979"/>
          </a:xfrm>
          <a:prstGeom prst="ellipse">
            <a:avLst/>
          </a:prstGeom>
          <a:solidFill>
            <a:srgbClr val="FF0000"/>
          </a:solidFill>
          <a:ln w="15875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sz="10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4D9049EB-70D8-4995-9DBA-68C2EE93E2F4}"/>
              </a:ext>
            </a:extLst>
          </p:cNvPr>
          <p:cNvSpPr/>
          <p:nvPr/>
        </p:nvSpPr>
        <p:spPr>
          <a:xfrm>
            <a:off x="1319515" y="3200543"/>
            <a:ext cx="183750" cy="178979"/>
          </a:xfrm>
          <a:prstGeom prst="ellipse">
            <a:avLst/>
          </a:prstGeom>
          <a:solidFill>
            <a:srgbClr val="FF0000"/>
          </a:solidFill>
          <a:ln w="15875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sz="10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4D9049EB-70D8-4995-9DBA-68C2EE93E2F4}"/>
              </a:ext>
            </a:extLst>
          </p:cNvPr>
          <p:cNvSpPr/>
          <p:nvPr/>
        </p:nvSpPr>
        <p:spPr>
          <a:xfrm>
            <a:off x="5973914" y="3210581"/>
            <a:ext cx="183750" cy="178979"/>
          </a:xfrm>
          <a:prstGeom prst="ellipse">
            <a:avLst/>
          </a:prstGeom>
          <a:solidFill>
            <a:srgbClr val="FF0000"/>
          </a:solidFill>
          <a:ln w="15875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sz="10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05675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1239520"/>
            <a:ext cx="9442386" cy="5008880"/>
          </a:xfrm>
          <a:prstGeom prst="rect">
            <a:avLst/>
          </a:prstGeom>
        </p:spPr>
      </p:pic>
      <p:sp>
        <p:nvSpPr>
          <p:cNvPr id="50" name="Text 21"/>
          <p:cNvSpPr/>
          <p:nvPr/>
        </p:nvSpPr>
        <p:spPr>
          <a:xfrm>
            <a:off x="304800" y="6362700"/>
            <a:ext cx="115824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50" dirty="0" smtClean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7/10</a:t>
            </a:r>
            <a:endParaRPr lang="en-US" sz="1050" dirty="0"/>
          </a:p>
        </p:txBody>
      </p:sp>
      <p:pic>
        <p:nvPicPr>
          <p:cNvPr id="51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800100"/>
            <a:ext cx="762000" cy="38100"/>
          </a:xfrm>
          <a:prstGeom prst="rect">
            <a:avLst/>
          </a:prstGeom>
        </p:spPr>
      </p:pic>
      <p:sp>
        <p:nvSpPr>
          <p:cNvPr id="52" name="Text 0"/>
          <p:cNvSpPr/>
          <p:nvPr/>
        </p:nvSpPr>
        <p:spPr>
          <a:xfrm>
            <a:off x="381000" y="381000"/>
            <a:ext cx="114300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indent="0">
              <a:lnSpc>
                <a:spcPts val="2700"/>
              </a:lnSpc>
              <a:buNone/>
            </a:pPr>
            <a:r>
              <a:rPr lang="ko-KR" altLang="en-US" sz="2250" b="1" dirty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커넥션 생성 </a:t>
            </a:r>
            <a:r>
              <a:rPr lang="en-US" altLang="ko-KR" sz="2250" b="1" dirty="0" smtClean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- </a:t>
            </a:r>
            <a:r>
              <a:rPr lang="en-US" altLang="ko-KR" sz="2250" b="1" dirty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Source/Target </a:t>
            </a:r>
            <a:r>
              <a:rPr lang="ko-KR" altLang="en-US" sz="2250" b="1" dirty="0" smtClean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설정 </a:t>
            </a:r>
            <a:r>
              <a:rPr lang="en-US" altLang="ko-KR" sz="2250" b="1" dirty="0" smtClean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- RDB </a:t>
            </a:r>
            <a:r>
              <a:rPr lang="ko-KR" altLang="en-US" sz="2250" b="1" dirty="0" smtClean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소스</a:t>
            </a:r>
            <a:endParaRPr lang="en-US" sz="2250" b="1" dirty="0">
              <a:solidFill>
                <a:srgbClr val="000000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</p:txBody>
      </p:sp>
      <p:sp>
        <p:nvSpPr>
          <p:cNvPr id="53" name="Text 1"/>
          <p:cNvSpPr/>
          <p:nvPr/>
        </p:nvSpPr>
        <p:spPr>
          <a:xfrm>
            <a:off x="457200" y="914400"/>
            <a:ext cx="11277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선택된 소스와 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MongoDB 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타겟에 대한 접속 정보 입력 및 연결 테스트 기능을 제공하는 화면입니다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200" dirty="0"/>
          </a:p>
        </p:txBody>
      </p:sp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299" y="1694180"/>
            <a:ext cx="8994299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5300" y="1694180"/>
            <a:ext cx="589945" cy="304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6061" y="1770380"/>
            <a:ext cx="105888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76006" y="1770380"/>
            <a:ext cx="90761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35698" y="1770380"/>
            <a:ext cx="151268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318079" y="1770380"/>
            <a:ext cx="121014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5300" y="2151380"/>
            <a:ext cx="136141" cy="1905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5300" y="2456180"/>
            <a:ext cx="4356519" cy="32131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55807" y="3919633"/>
            <a:ext cx="1944000" cy="204017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55807" y="4930865"/>
            <a:ext cx="4235505" cy="24405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84603" y="4478585"/>
            <a:ext cx="1975895" cy="219127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033340" y="2151380"/>
            <a:ext cx="136141" cy="1905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033341" y="2456180"/>
            <a:ext cx="4456258" cy="32131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093848" y="5117216"/>
            <a:ext cx="4235505" cy="215164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95300" y="5801360"/>
            <a:ext cx="869791" cy="2667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86061" y="5868035"/>
            <a:ext cx="105888" cy="133350"/>
          </a:xfrm>
          <a:prstGeom prst="rect">
            <a:avLst/>
          </a:prstGeom>
        </p:spPr>
      </p:pic>
      <p:sp>
        <p:nvSpPr>
          <p:cNvPr id="31" name="Text 2"/>
          <p:cNvSpPr/>
          <p:nvPr/>
        </p:nvSpPr>
        <p:spPr>
          <a:xfrm>
            <a:off x="752455" y="1732280"/>
            <a:ext cx="29043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RDB</a:t>
            </a:r>
            <a:endParaRPr lang="en-US" sz="1200" dirty="0"/>
          </a:p>
        </p:txBody>
      </p:sp>
      <p:sp>
        <p:nvSpPr>
          <p:cNvPr id="32" name="Text 3"/>
          <p:cNvSpPr/>
          <p:nvPr/>
        </p:nvSpPr>
        <p:spPr>
          <a:xfrm>
            <a:off x="1327274" y="1732280"/>
            <a:ext cx="27228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</a:t>
            </a:r>
            <a:endParaRPr lang="en-US" sz="1100" dirty="0"/>
          </a:p>
        </p:txBody>
      </p:sp>
      <p:sp>
        <p:nvSpPr>
          <p:cNvPr id="33" name="Text 4"/>
          <p:cNvSpPr/>
          <p:nvPr/>
        </p:nvSpPr>
        <p:spPr>
          <a:xfrm>
            <a:off x="1947473" y="1732280"/>
            <a:ext cx="22690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API</a:t>
            </a:r>
            <a:endParaRPr lang="en-US" sz="1100" dirty="0"/>
          </a:p>
        </p:txBody>
      </p:sp>
      <p:sp>
        <p:nvSpPr>
          <p:cNvPr id="34" name="Text 5"/>
          <p:cNvSpPr/>
          <p:nvPr/>
        </p:nvSpPr>
        <p:spPr>
          <a:xfrm>
            <a:off x="2499601" y="1732280"/>
            <a:ext cx="38119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Kafka</a:t>
            </a:r>
            <a:endParaRPr lang="en-US" sz="1100" dirty="0"/>
          </a:p>
        </p:txBody>
      </p:sp>
      <p:sp>
        <p:nvSpPr>
          <p:cNvPr id="35" name="Text 6"/>
          <p:cNvSpPr/>
          <p:nvPr/>
        </p:nvSpPr>
        <p:spPr>
          <a:xfrm>
            <a:off x="691948" y="2113280"/>
            <a:ext cx="435651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Source 설정</a:t>
            </a:r>
            <a:endParaRPr lang="en-US" sz="1500" dirty="0"/>
          </a:p>
        </p:txBody>
      </p:sp>
      <p:sp>
        <p:nvSpPr>
          <p:cNvPr id="36" name="Text 7"/>
          <p:cNvSpPr/>
          <p:nvPr/>
        </p:nvSpPr>
        <p:spPr>
          <a:xfrm>
            <a:off x="555808" y="3728404"/>
            <a:ext cx="7109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Host</a:t>
            </a:r>
            <a:endParaRPr lang="en-US" sz="1050" dirty="0"/>
          </a:p>
        </p:txBody>
      </p:sp>
      <p:sp>
        <p:nvSpPr>
          <p:cNvPr id="37" name="Text 8"/>
          <p:cNvSpPr/>
          <p:nvPr/>
        </p:nvSpPr>
        <p:spPr>
          <a:xfrm>
            <a:off x="646569" y="3882356"/>
            <a:ext cx="1089129" cy="24129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 smtClean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localhost</a:t>
            </a:r>
            <a:endParaRPr lang="en-US" sz="1100" dirty="0"/>
          </a:p>
        </p:txBody>
      </p:sp>
      <p:sp>
        <p:nvSpPr>
          <p:cNvPr id="38" name="Text 9"/>
          <p:cNvSpPr/>
          <p:nvPr/>
        </p:nvSpPr>
        <p:spPr>
          <a:xfrm>
            <a:off x="584603" y="4273651"/>
            <a:ext cx="197589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Username</a:t>
            </a:r>
            <a:endParaRPr lang="en-US" sz="1050" dirty="0"/>
          </a:p>
        </p:txBody>
      </p:sp>
      <p:sp>
        <p:nvSpPr>
          <p:cNvPr id="39" name="Text 10"/>
          <p:cNvSpPr/>
          <p:nvPr/>
        </p:nvSpPr>
        <p:spPr>
          <a:xfrm>
            <a:off x="675364" y="4447041"/>
            <a:ext cx="1975895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100" dirty="0"/>
          </a:p>
        </p:txBody>
      </p:sp>
      <p:sp>
        <p:nvSpPr>
          <p:cNvPr id="40" name="Text 11"/>
          <p:cNvSpPr/>
          <p:nvPr/>
        </p:nvSpPr>
        <p:spPr>
          <a:xfrm>
            <a:off x="555807" y="4745814"/>
            <a:ext cx="423550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JDBC URL </a:t>
            </a:r>
            <a:r>
              <a:rPr lang="en-US" sz="1050" dirty="0" err="1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Params</a:t>
            </a:r>
            <a:endParaRPr lang="en-US" sz="1050" dirty="0"/>
          </a:p>
        </p:txBody>
      </p:sp>
      <p:sp>
        <p:nvSpPr>
          <p:cNvPr id="41" name="Text 12"/>
          <p:cNvSpPr/>
          <p:nvPr/>
        </p:nvSpPr>
        <p:spPr>
          <a:xfrm>
            <a:off x="646568" y="4927759"/>
            <a:ext cx="4235505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100" dirty="0"/>
          </a:p>
        </p:txBody>
      </p:sp>
      <p:sp>
        <p:nvSpPr>
          <p:cNvPr id="42" name="Text 13"/>
          <p:cNvSpPr/>
          <p:nvPr/>
        </p:nvSpPr>
        <p:spPr>
          <a:xfrm>
            <a:off x="5229989" y="2113280"/>
            <a:ext cx="435651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Target (MongoDB) 설정</a:t>
            </a:r>
            <a:endParaRPr lang="en-US" sz="1500" dirty="0"/>
          </a:p>
        </p:txBody>
      </p:sp>
      <p:sp>
        <p:nvSpPr>
          <p:cNvPr id="43" name="Text 14"/>
          <p:cNvSpPr/>
          <p:nvPr/>
        </p:nvSpPr>
        <p:spPr>
          <a:xfrm>
            <a:off x="5093848" y="3149380"/>
            <a:ext cx="423550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URI</a:t>
            </a:r>
            <a:endParaRPr lang="en-US" sz="1050" dirty="0"/>
          </a:p>
        </p:txBody>
      </p:sp>
      <p:grpSp>
        <p:nvGrpSpPr>
          <p:cNvPr id="29" name="그룹 28"/>
          <p:cNvGrpSpPr/>
          <p:nvPr/>
        </p:nvGrpSpPr>
        <p:grpSpPr>
          <a:xfrm>
            <a:off x="5093848" y="3334572"/>
            <a:ext cx="4326266" cy="304800"/>
            <a:chOff x="5093848" y="3498048"/>
            <a:chExt cx="4326266" cy="304800"/>
          </a:xfrm>
        </p:grpSpPr>
        <p:pic>
          <p:nvPicPr>
            <p:cNvPr id="22" name="Image 20" descr="preencoded.png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5093848" y="3507284"/>
              <a:ext cx="4235505" cy="279540"/>
            </a:xfrm>
            <a:prstGeom prst="rect">
              <a:avLst/>
            </a:prstGeom>
          </p:spPr>
        </p:pic>
        <p:sp>
          <p:nvSpPr>
            <p:cNvPr id="44" name="Text 15"/>
            <p:cNvSpPr/>
            <p:nvPr/>
          </p:nvSpPr>
          <p:spPr>
            <a:xfrm>
              <a:off x="5184609" y="3498048"/>
              <a:ext cx="4235505" cy="3048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>
                <a:lnSpc>
                  <a:spcPts val="1800"/>
                </a:lnSpc>
              </a:pPr>
              <a:r>
                <a:rPr lang="en-US" sz="1100" dirty="0">
                  <a:solidFill>
                    <a:srgbClr val="33333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mongodb://localhost:27017</a:t>
              </a:r>
              <a:endParaRPr lang="en-US" sz="1100" dirty="0"/>
            </a:p>
          </p:txBody>
        </p:sp>
      </p:grpSp>
      <p:sp>
        <p:nvSpPr>
          <p:cNvPr id="45" name="Text 16"/>
          <p:cNvSpPr/>
          <p:nvPr/>
        </p:nvSpPr>
        <p:spPr>
          <a:xfrm>
            <a:off x="5271137" y="3843020"/>
            <a:ext cx="3905087" cy="17272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Advanced Connection Options</a:t>
            </a:r>
            <a:endParaRPr lang="en-US" sz="1050" dirty="0"/>
          </a:p>
        </p:txBody>
      </p:sp>
      <p:sp>
        <p:nvSpPr>
          <p:cNvPr id="47" name="Text 18"/>
          <p:cNvSpPr/>
          <p:nvPr/>
        </p:nvSpPr>
        <p:spPr>
          <a:xfrm>
            <a:off x="5093848" y="4928284"/>
            <a:ext cx="423550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Host</a:t>
            </a:r>
            <a:endParaRPr lang="en-US" sz="1050" dirty="0"/>
          </a:p>
        </p:txBody>
      </p:sp>
      <p:sp>
        <p:nvSpPr>
          <p:cNvPr id="48" name="Text 19"/>
          <p:cNvSpPr/>
          <p:nvPr/>
        </p:nvSpPr>
        <p:spPr>
          <a:xfrm>
            <a:off x="5184609" y="5117216"/>
            <a:ext cx="4235505" cy="21516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</a:t>
            </a:r>
            <a:r>
              <a:rPr lang="en-US" sz="1100" dirty="0" smtClean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ocalhost:27017</a:t>
            </a:r>
            <a:endParaRPr lang="en-US" sz="1100" dirty="0"/>
          </a:p>
        </p:txBody>
      </p:sp>
      <p:sp>
        <p:nvSpPr>
          <p:cNvPr id="49" name="Text 20"/>
          <p:cNvSpPr/>
          <p:nvPr/>
        </p:nvSpPr>
        <p:spPr>
          <a:xfrm>
            <a:off x="700268" y="5839460"/>
            <a:ext cx="6262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연결 테스트</a:t>
            </a:r>
            <a:endParaRPr lang="en-US" sz="1000" dirty="0"/>
          </a:p>
        </p:txBody>
      </p:sp>
      <p:pic>
        <p:nvPicPr>
          <p:cNvPr id="54" name="Image 20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093848" y="2847690"/>
            <a:ext cx="4235505" cy="253440"/>
          </a:xfrm>
          <a:prstGeom prst="rect">
            <a:avLst/>
          </a:prstGeom>
        </p:spPr>
      </p:pic>
      <p:sp>
        <p:nvSpPr>
          <p:cNvPr id="55" name="Text 14"/>
          <p:cNvSpPr/>
          <p:nvPr/>
        </p:nvSpPr>
        <p:spPr>
          <a:xfrm>
            <a:off x="5093848" y="2619090"/>
            <a:ext cx="423550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altLang="ko-KR" sz="1050" dirty="0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Target Name</a:t>
            </a:r>
            <a:endParaRPr lang="en-US" sz="1050" dirty="0">
              <a:solidFill>
                <a:srgbClr val="4B5563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</p:txBody>
      </p:sp>
      <p:sp>
        <p:nvSpPr>
          <p:cNvPr id="56" name="Text 15"/>
          <p:cNvSpPr/>
          <p:nvPr/>
        </p:nvSpPr>
        <p:spPr>
          <a:xfrm>
            <a:off x="5184609" y="2847690"/>
            <a:ext cx="4235505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ko-KR" altLang="en-US" sz="1100" dirty="0" err="1" smtClean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모아보조</a:t>
            </a:r>
            <a:r>
              <a:rPr lang="ko-KR" altLang="en-US" sz="1100" dirty="0" smtClean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100" dirty="0" smtClean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MongoDB </a:t>
            </a:r>
            <a:r>
              <a:rPr lang="ko-KR" altLang="en-US" sz="1100" dirty="0" smtClean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서버</a:t>
            </a:r>
            <a:endParaRPr lang="en-US" sz="1100" dirty="0"/>
          </a:p>
        </p:txBody>
      </p:sp>
      <p:sp>
        <p:nvSpPr>
          <p:cNvPr id="57" name="순서도: 병합 56"/>
          <p:cNvSpPr/>
          <p:nvPr/>
        </p:nvSpPr>
        <p:spPr>
          <a:xfrm>
            <a:off x="9161327" y="2918753"/>
            <a:ext cx="89825" cy="133350"/>
          </a:xfrm>
          <a:prstGeom prst="flowChartMerg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0" name="Image 2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085528" y="5791835"/>
            <a:ext cx="869791" cy="266700"/>
          </a:xfrm>
          <a:prstGeom prst="rect">
            <a:avLst/>
          </a:prstGeom>
        </p:spPr>
      </p:pic>
      <p:pic>
        <p:nvPicPr>
          <p:cNvPr id="61" name="Image 2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176289" y="5858510"/>
            <a:ext cx="105888" cy="133350"/>
          </a:xfrm>
          <a:prstGeom prst="rect">
            <a:avLst/>
          </a:prstGeom>
        </p:spPr>
      </p:pic>
      <p:sp>
        <p:nvSpPr>
          <p:cNvPr id="62" name="Text 20"/>
          <p:cNvSpPr/>
          <p:nvPr/>
        </p:nvSpPr>
        <p:spPr>
          <a:xfrm>
            <a:off x="5290496" y="5829935"/>
            <a:ext cx="6262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연결 테스트</a:t>
            </a:r>
            <a:endParaRPr lang="en-US" sz="1000" dirty="0"/>
          </a:p>
        </p:txBody>
      </p:sp>
      <p:pic>
        <p:nvPicPr>
          <p:cNvPr id="64" name="Image 55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852254" y="1239520"/>
            <a:ext cx="2265332" cy="5008880"/>
          </a:xfrm>
          <a:prstGeom prst="rect">
            <a:avLst/>
          </a:prstGeom>
        </p:spPr>
      </p:pic>
      <p:sp>
        <p:nvSpPr>
          <p:cNvPr id="65" name="Text 46"/>
          <p:cNvSpPr/>
          <p:nvPr/>
        </p:nvSpPr>
        <p:spPr>
          <a:xfrm>
            <a:off x="9924297" y="931338"/>
            <a:ext cx="208874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 smtClean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UI </a:t>
            </a:r>
            <a:r>
              <a:rPr lang="ko-KR" altLang="en-US" sz="1350" b="1" dirty="0" smtClean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설명</a:t>
            </a:r>
            <a:r>
              <a:rPr lang="en-US" sz="1350" b="1" dirty="0" smtClean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en-US" sz="1350" b="1" dirty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영역</a:t>
            </a:r>
            <a:endParaRPr lang="en-US" sz="1350" dirty="0"/>
          </a:p>
        </p:txBody>
      </p:sp>
      <p:sp>
        <p:nvSpPr>
          <p:cNvPr id="66" name="Text 20"/>
          <p:cNvSpPr/>
          <p:nvPr/>
        </p:nvSpPr>
        <p:spPr>
          <a:xfrm>
            <a:off x="9877290" y="1255189"/>
            <a:ext cx="2184606" cy="49932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r>
              <a:rPr 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1.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탭으로 구성 </a:t>
            </a: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-&gt;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탭에 따라 </a:t>
            </a: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Source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설정 부분이 변경됨</a:t>
            </a:r>
            <a:endParaRPr lang="en-US" altLang="ko-KR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endParaRPr lang="en-US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r>
              <a:rPr 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2.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새로운 </a:t>
            </a: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Source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추가 </a:t>
            </a:r>
            <a:r>
              <a:rPr lang="ko-KR" altLang="en-US" sz="1000" dirty="0" err="1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팝업창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띄우기</a:t>
            </a:r>
            <a:endParaRPr lang="en-US" altLang="ko-KR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endParaRPr lang="en-US" sz="1000" dirty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r>
              <a:rPr 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3.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기존 등록된 목록 중 선택</a:t>
            </a:r>
            <a:endParaRPr lang="en-US" altLang="ko-KR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r>
              <a:rPr 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 -&gt;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아래 항목을 등록된 값으로 채움</a:t>
            </a:r>
            <a:endParaRPr lang="en-US" altLang="ko-KR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endParaRPr lang="en-US" sz="1000" dirty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r>
              <a:rPr 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4.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소스 타입 선택</a:t>
            </a:r>
            <a:endParaRPr lang="en-US" altLang="ko-KR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r>
              <a:rPr lang="en-US" sz="10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-&gt;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선택된 소스 타입에 따라 </a:t>
            </a: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Port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변경  </a:t>
            </a: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(MySQL: </a:t>
            </a:r>
            <a:r>
              <a:rPr lang="en-US" altLang="ko-KR" sz="10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3306</a:t>
            </a: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, </a:t>
            </a:r>
            <a:r>
              <a:rPr lang="en-US" altLang="ko-KR" sz="1000" dirty="0" err="1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MariaDB</a:t>
            </a: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: </a:t>
            </a:r>
            <a:r>
              <a:rPr lang="en-US" altLang="ko-KR" sz="10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3306</a:t>
            </a: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, Oracle: </a:t>
            </a:r>
            <a:r>
              <a:rPr lang="en-US" altLang="ko-KR" sz="10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1521</a:t>
            </a: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, PostgreSQL: 5432)</a:t>
            </a:r>
          </a:p>
          <a:p>
            <a:pPr>
              <a:lnSpc>
                <a:spcPts val="1200"/>
              </a:lnSpc>
            </a:pPr>
            <a:endParaRPr lang="en-US" sz="1000" dirty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r>
              <a:rPr 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5.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디폴트 값은 </a:t>
            </a: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localhost</a:t>
            </a:r>
          </a:p>
          <a:p>
            <a:pPr>
              <a:lnSpc>
                <a:spcPts val="1200"/>
              </a:lnSpc>
            </a:pPr>
            <a:endParaRPr lang="en-US" sz="1000" dirty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r>
              <a:rPr 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6, 12.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연결 테스트 수행</a:t>
            </a:r>
            <a:endParaRPr lang="en-US" altLang="ko-KR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endParaRPr lang="en-US" sz="1000" dirty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r>
              <a:rPr 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7. </a:t>
            </a:r>
            <a:r>
              <a:rPr lang="ko-KR" altLang="en-US" sz="10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새로운 </a:t>
            </a: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Target </a:t>
            </a:r>
            <a:r>
              <a:rPr lang="ko-KR" altLang="en-US" sz="10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추가 </a:t>
            </a:r>
            <a:r>
              <a:rPr lang="ko-KR" altLang="en-US" sz="1000" dirty="0" err="1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팝업창</a:t>
            </a:r>
            <a:r>
              <a:rPr lang="ko-KR" altLang="en-US" sz="10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띄우기</a:t>
            </a:r>
            <a:endParaRPr lang="en-US" altLang="ko-KR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endParaRPr lang="en-US" sz="1000" dirty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r>
              <a:rPr 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8.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기존 등록된 목록 중 선택</a:t>
            </a:r>
            <a:endParaRPr lang="en-US" altLang="ko-KR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-&gt; </a:t>
            </a:r>
            <a:r>
              <a:rPr lang="ko-KR" altLang="en-US" sz="10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아래 항목을 등록된 값으로 채움</a:t>
            </a:r>
            <a:endParaRPr lang="en-US" altLang="ko-KR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endParaRPr lang="en-US" sz="1000" dirty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r>
              <a:rPr 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9. MongoDB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에 접속 가능한 </a:t>
            </a: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URI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입력</a:t>
            </a:r>
            <a:endParaRPr lang="en-US" altLang="ko-KR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endParaRPr lang="en-US" sz="1000" dirty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r>
              <a:rPr 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10. MongoDB Compass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도구의 새로운 커넥션 생성 참조 </a:t>
            </a: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-&gt;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버튼 선택 또는 값 변경하면 위의 </a:t>
            </a: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URI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변경</a:t>
            </a:r>
            <a:endParaRPr lang="en-US" altLang="ko-KR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endParaRPr lang="en-US" sz="1000" dirty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r>
              <a:rPr 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11. Atlas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일 경우 </a:t>
            </a:r>
            <a:r>
              <a:rPr lang="en-US" altLang="ko-KR" sz="1000" dirty="0" err="1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mongodb+srv</a:t>
            </a: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선택</a:t>
            </a:r>
            <a:endParaRPr lang="en-US" altLang="ko-KR" sz="1000" dirty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r>
              <a:rPr 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-&gt;</a:t>
            </a:r>
            <a:r>
              <a:rPr lang="en-US" sz="1000" dirty="0" err="1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mongodb</a:t>
            </a:r>
            <a:r>
              <a:rPr 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: Host, localhost:27017</a:t>
            </a:r>
          </a:p>
          <a:p>
            <a:pPr>
              <a:lnSpc>
                <a:spcPts val="1200"/>
              </a:lnSpc>
            </a:pPr>
            <a:r>
              <a:rPr 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-&gt;</a:t>
            </a:r>
            <a:r>
              <a:rPr lang="en-US" sz="1000" dirty="0" err="1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mongodb+srv</a:t>
            </a:r>
            <a:r>
              <a:rPr 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: Hostname, localhost</a:t>
            </a:r>
            <a:endParaRPr lang="en-US" sz="1000" dirty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</p:txBody>
      </p:sp>
      <p:pic>
        <p:nvPicPr>
          <p:cNvPr id="69" name="Image 2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842924" y="2625270"/>
            <a:ext cx="472782" cy="163932"/>
          </a:xfrm>
          <a:prstGeom prst="rect">
            <a:avLst/>
          </a:prstGeom>
        </p:spPr>
      </p:pic>
      <p:pic>
        <p:nvPicPr>
          <p:cNvPr id="70" name="Image 22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903684" y="2640166"/>
            <a:ext cx="116169" cy="139403"/>
          </a:xfrm>
          <a:prstGeom prst="rect">
            <a:avLst/>
          </a:prstGeom>
        </p:spPr>
      </p:pic>
      <p:sp>
        <p:nvSpPr>
          <p:cNvPr id="71" name="Text 12"/>
          <p:cNvSpPr/>
          <p:nvPr/>
        </p:nvSpPr>
        <p:spPr>
          <a:xfrm>
            <a:off x="8892789" y="2649019"/>
            <a:ext cx="487740" cy="1333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en-US" sz="900" dirty="0" err="1" smtClean="0">
                <a:solidFill>
                  <a:srgbClr val="FFFFFF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추가</a:t>
            </a:r>
            <a:endParaRPr lang="en-US" sz="900" dirty="0"/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4D9049EB-70D8-4995-9DBA-68C2EE93E2F4}"/>
              </a:ext>
            </a:extLst>
          </p:cNvPr>
          <p:cNvSpPr/>
          <p:nvPr/>
        </p:nvSpPr>
        <p:spPr>
          <a:xfrm>
            <a:off x="608393" y="1464373"/>
            <a:ext cx="183750" cy="178979"/>
          </a:xfrm>
          <a:prstGeom prst="ellipse">
            <a:avLst/>
          </a:prstGeom>
          <a:solidFill>
            <a:srgbClr val="FF0000"/>
          </a:solidFill>
          <a:ln w="15875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sz="10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73" name="Image 85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126045" y="3865465"/>
            <a:ext cx="95250" cy="152400"/>
          </a:xfrm>
          <a:prstGeom prst="rect">
            <a:avLst/>
          </a:prstGeom>
        </p:spPr>
      </p:pic>
      <p:pic>
        <p:nvPicPr>
          <p:cNvPr id="74" name="Image 4" descr="preencoded.png"/>
          <p:cNvPicPr>
            <a:picLocks noChangeAspect="1"/>
          </p:cNvPicPr>
          <p:nvPr/>
        </p:nvPicPr>
        <p:blipFill>
          <a:blip r:embed="rId24">
            <a:extLst>
              <a:ext uri="{BEBA8EAE-BF5A-486C-A8C5-ECC9F3942E4B}">
                <a14:imgProps xmlns:a14="http://schemas.microsoft.com/office/drawing/2010/main">
                  <a14:imgLayer r:embed="rId25">
                    <a14:imgEffect>
                      <a14:colorTemperature colorTemp="7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243512" y="3985366"/>
            <a:ext cx="4085841" cy="375531"/>
          </a:xfrm>
          <a:prstGeom prst="rect">
            <a:avLst/>
          </a:prstGeom>
        </p:spPr>
      </p:pic>
      <p:pic>
        <p:nvPicPr>
          <p:cNvPr id="7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62847" y="4082735"/>
            <a:ext cx="589945" cy="271240"/>
          </a:xfrm>
          <a:prstGeom prst="rect">
            <a:avLst/>
          </a:prstGeom>
        </p:spPr>
      </p:pic>
      <p:sp>
        <p:nvSpPr>
          <p:cNvPr id="76" name="Text 2"/>
          <p:cNvSpPr/>
          <p:nvPr/>
        </p:nvSpPr>
        <p:spPr>
          <a:xfrm>
            <a:off x="5300840" y="4090630"/>
            <a:ext cx="528260" cy="21892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000" dirty="0" smtClean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General</a:t>
            </a:r>
            <a:endParaRPr lang="en-US" sz="1050" dirty="0"/>
          </a:p>
        </p:txBody>
      </p:sp>
      <p:sp>
        <p:nvSpPr>
          <p:cNvPr id="77" name="Text 3"/>
          <p:cNvSpPr/>
          <p:nvPr/>
        </p:nvSpPr>
        <p:spPr>
          <a:xfrm>
            <a:off x="6009142" y="4082735"/>
            <a:ext cx="1144650" cy="16147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11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Authentication</a:t>
            </a:r>
          </a:p>
        </p:txBody>
      </p:sp>
      <p:sp>
        <p:nvSpPr>
          <p:cNvPr id="78" name="Text 4"/>
          <p:cNvSpPr/>
          <p:nvPr/>
        </p:nvSpPr>
        <p:spPr>
          <a:xfrm>
            <a:off x="7181417" y="4082735"/>
            <a:ext cx="652808" cy="15289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altLang="ko-KR" sz="11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TLS/SSL</a:t>
            </a:r>
            <a:endParaRPr lang="en-US" altLang="ko-KR" sz="1100" dirty="0"/>
          </a:p>
        </p:txBody>
      </p:sp>
      <p:sp>
        <p:nvSpPr>
          <p:cNvPr id="79" name="Text 5"/>
          <p:cNvSpPr/>
          <p:nvPr/>
        </p:nvSpPr>
        <p:spPr>
          <a:xfrm>
            <a:off x="7964329" y="4082734"/>
            <a:ext cx="878595" cy="23018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 smtClean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Advanced</a:t>
            </a:r>
            <a:endParaRPr lang="en-US" sz="1100" dirty="0"/>
          </a:p>
        </p:txBody>
      </p:sp>
      <p:pic>
        <p:nvPicPr>
          <p:cNvPr id="86" name="Image 20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60591" y="2789202"/>
            <a:ext cx="4235505" cy="230806"/>
          </a:xfrm>
          <a:prstGeom prst="rect">
            <a:avLst/>
          </a:prstGeom>
        </p:spPr>
      </p:pic>
      <p:sp>
        <p:nvSpPr>
          <p:cNvPr id="87" name="Text 14"/>
          <p:cNvSpPr/>
          <p:nvPr/>
        </p:nvSpPr>
        <p:spPr>
          <a:xfrm>
            <a:off x="560591" y="2607257"/>
            <a:ext cx="423550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Connection</a:t>
            </a:r>
            <a:r>
              <a:rPr lang="en-US" altLang="ko-KR" sz="1050" dirty="0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Name</a:t>
            </a:r>
            <a:endParaRPr lang="en-US" sz="1050" dirty="0">
              <a:solidFill>
                <a:srgbClr val="4B5563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</p:txBody>
      </p:sp>
      <p:sp>
        <p:nvSpPr>
          <p:cNvPr id="88" name="순서도: 병합 87"/>
          <p:cNvSpPr/>
          <p:nvPr/>
        </p:nvSpPr>
        <p:spPr>
          <a:xfrm>
            <a:off x="4628070" y="2850744"/>
            <a:ext cx="89825" cy="133350"/>
          </a:xfrm>
          <a:prstGeom prst="flowChartMerg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3" name="그룹 22"/>
          <p:cNvGrpSpPr/>
          <p:nvPr/>
        </p:nvGrpSpPr>
        <p:grpSpPr>
          <a:xfrm>
            <a:off x="4309667" y="2596695"/>
            <a:ext cx="544832" cy="146507"/>
            <a:chOff x="4309667" y="2596695"/>
            <a:chExt cx="544832" cy="146507"/>
          </a:xfrm>
        </p:grpSpPr>
        <p:pic>
          <p:nvPicPr>
            <p:cNvPr id="89" name="Image 21" descr="preencoded.png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4309667" y="2596695"/>
              <a:ext cx="472782" cy="146507"/>
            </a:xfrm>
            <a:prstGeom prst="rect">
              <a:avLst/>
            </a:prstGeom>
          </p:spPr>
        </p:pic>
        <p:sp>
          <p:nvSpPr>
            <p:cNvPr id="90" name="Text 12"/>
            <p:cNvSpPr/>
            <p:nvPr/>
          </p:nvSpPr>
          <p:spPr>
            <a:xfrm>
              <a:off x="4366759" y="2609852"/>
              <a:ext cx="487740" cy="13335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 algn="ctr">
                <a:lnSpc>
                  <a:spcPts val="1200"/>
                </a:lnSpc>
                <a:buNone/>
              </a:pPr>
              <a:r>
                <a:rPr lang="en-US" sz="900" dirty="0">
                  <a:solidFill>
                    <a:srgbClr val="FFFFFF"/>
                  </a:solidFill>
                  <a:latin typeface="Nanum Gothic" pitchFamily="34" charset="0"/>
                  <a:ea typeface="Nanum Gothic" pitchFamily="34" charset="-122"/>
                  <a:cs typeface="Nanum Gothic" pitchFamily="34" charset="-120"/>
                </a:rPr>
                <a:t> </a:t>
              </a:r>
              <a:r>
                <a:rPr lang="en-US" sz="900" dirty="0" err="1" smtClean="0">
                  <a:solidFill>
                    <a:srgbClr val="FFFFFF"/>
                  </a:solidFill>
                  <a:latin typeface="Nanum Gothic" pitchFamily="34" charset="0"/>
                  <a:ea typeface="Nanum Gothic" pitchFamily="34" charset="-122"/>
                  <a:cs typeface="Nanum Gothic" pitchFamily="34" charset="-120"/>
                </a:rPr>
                <a:t>추가</a:t>
              </a:r>
              <a:endParaRPr lang="en-US" sz="900" dirty="0"/>
            </a:p>
          </p:txBody>
        </p:sp>
        <p:pic>
          <p:nvPicPr>
            <p:cNvPr id="91" name="Image 22" descr="preencoded.png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4366759" y="2629760"/>
              <a:ext cx="90000" cy="108000"/>
            </a:xfrm>
            <a:prstGeom prst="rect">
              <a:avLst/>
            </a:prstGeom>
          </p:spPr>
        </p:pic>
      </p:grpSp>
      <p:sp>
        <p:nvSpPr>
          <p:cNvPr id="83" name="Text 8"/>
          <p:cNvSpPr/>
          <p:nvPr/>
        </p:nvSpPr>
        <p:spPr>
          <a:xfrm>
            <a:off x="626940" y="2801035"/>
            <a:ext cx="4235505" cy="21105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ko-KR" altLang="en-US" sz="1100" dirty="0" smtClean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</a:rPr>
              <a:t>선택</a:t>
            </a:r>
            <a:endParaRPr lang="en-US" sz="1100" dirty="0"/>
          </a:p>
        </p:txBody>
      </p:sp>
      <p:pic>
        <p:nvPicPr>
          <p:cNvPr id="92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62960" y="3354195"/>
            <a:ext cx="4235505" cy="254596"/>
          </a:xfrm>
          <a:prstGeom prst="rect">
            <a:avLst/>
          </a:prstGeom>
        </p:spPr>
      </p:pic>
      <p:sp>
        <p:nvSpPr>
          <p:cNvPr id="93" name="Text 7"/>
          <p:cNvSpPr/>
          <p:nvPr/>
        </p:nvSpPr>
        <p:spPr>
          <a:xfrm>
            <a:off x="562960" y="3172250"/>
            <a:ext cx="423550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Source Type</a:t>
            </a:r>
            <a:endParaRPr lang="en-US" sz="1050" dirty="0"/>
          </a:p>
        </p:txBody>
      </p:sp>
      <p:sp>
        <p:nvSpPr>
          <p:cNvPr id="94" name="Text 8"/>
          <p:cNvSpPr/>
          <p:nvPr/>
        </p:nvSpPr>
        <p:spPr>
          <a:xfrm>
            <a:off x="653721" y="3354195"/>
            <a:ext cx="4235505" cy="22306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 smtClean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MySQL</a:t>
            </a:r>
            <a:endParaRPr lang="en-US" sz="1100" dirty="0"/>
          </a:p>
        </p:txBody>
      </p:sp>
      <p:sp>
        <p:nvSpPr>
          <p:cNvPr id="95" name="순서도: 병합 94"/>
          <p:cNvSpPr/>
          <p:nvPr/>
        </p:nvSpPr>
        <p:spPr>
          <a:xfrm>
            <a:off x="4616263" y="3408792"/>
            <a:ext cx="89825" cy="133350"/>
          </a:xfrm>
          <a:prstGeom prst="flowChartMerg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6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645962" y="4478585"/>
            <a:ext cx="2129792" cy="236194"/>
          </a:xfrm>
          <a:prstGeom prst="rect">
            <a:avLst/>
          </a:prstGeom>
        </p:spPr>
      </p:pic>
      <p:sp>
        <p:nvSpPr>
          <p:cNvPr id="97" name="Text 9"/>
          <p:cNvSpPr/>
          <p:nvPr/>
        </p:nvSpPr>
        <p:spPr>
          <a:xfrm>
            <a:off x="2645962" y="4273651"/>
            <a:ext cx="197589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Password</a:t>
            </a:r>
            <a:endParaRPr lang="en-US" sz="1050" dirty="0"/>
          </a:p>
        </p:txBody>
      </p:sp>
      <p:sp>
        <p:nvSpPr>
          <p:cNvPr id="98" name="Text 10"/>
          <p:cNvSpPr/>
          <p:nvPr/>
        </p:nvSpPr>
        <p:spPr>
          <a:xfrm>
            <a:off x="2736723" y="4447041"/>
            <a:ext cx="1975895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100" dirty="0"/>
          </a:p>
        </p:txBody>
      </p:sp>
      <p:sp>
        <p:nvSpPr>
          <p:cNvPr id="101" name="Text 12"/>
          <p:cNvSpPr/>
          <p:nvPr/>
        </p:nvSpPr>
        <p:spPr>
          <a:xfrm>
            <a:off x="666156" y="4318800"/>
            <a:ext cx="4235505" cy="2283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100" dirty="0"/>
          </a:p>
        </p:txBody>
      </p:sp>
      <p:pic>
        <p:nvPicPr>
          <p:cNvPr id="102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626596" y="3928997"/>
            <a:ext cx="2110686" cy="221510"/>
          </a:xfrm>
          <a:prstGeom prst="rect">
            <a:avLst/>
          </a:prstGeom>
        </p:spPr>
      </p:pic>
      <p:sp>
        <p:nvSpPr>
          <p:cNvPr id="103" name="Text 7"/>
          <p:cNvSpPr/>
          <p:nvPr/>
        </p:nvSpPr>
        <p:spPr>
          <a:xfrm>
            <a:off x="2626598" y="3737768"/>
            <a:ext cx="7109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Port</a:t>
            </a:r>
            <a:endParaRPr lang="en-US" sz="1050" dirty="0"/>
          </a:p>
        </p:txBody>
      </p:sp>
      <p:sp>
        <p:nvSpPr>
          <p:cNvPr id="104" name="Text 8"/>
          <p:cNvSpPr/>
          <p:nvPr/>
        </p:nvSpPr>
        <p:spPr>
          <a:xfrm>
            <a:off x="2717359" y="3891720"/>
            <a:ext cx="1089129" cy="24129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 smtClean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3306</a:t>
            </a:r>
            <a:endParaRPr lang="en-US" sz="1100" dirty="0"/>
          </a:p>
        </p:txBody>
      </p:sp>
      <p:sp>
        <p:nvSpPr>
          <p:cNvPr id="105" name="타원 104">
            <a:extLst>
              <a:ext uri="{FF2B5EF4-FFF2-40B4-BE49-F238E27FC236}">
                <a16:creationId xmlns:a16="http://schemas.microsoft.com/office/drawing/2014/main" id="{4D9049EB-70D8-4995-9DBA-68C2EE93E2F4}"/>
              </a:ext>
            </a:extLst>
          </p:cNvPr>
          <p:cNvSpPr/>
          <p:nvPr/>
        </p:nvSpPr>
        <p:spPr>
          <a:xfrm>
            <a:off x="387467" y="2822567"/>
            <a:ext cx="183750" cy="178979"/>
          </a:xfrm>
          <a:prstGeom prst="ellipse">
            <a:avLst/>
          </a:prstGeom>
          <a:solidFill>
            <a:srgbClr val="FF0000"/>
          </a:solidFill>
          <a:ln w="15875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endParaRPr lang="ko-KR" altLang="en-US" sz="10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6" name="타원 105">
            <a:extLst>
              <a:ext uri="{FF2B5EF4-FFF2-40B4-BE49-F238E27FC236}">
                <a16:creationId xmlns:a16="http://schemas.microsoft.com/office/drawing/2014/main" id="{4D9049EB-70D8-4995-9DBA-68C2EE93E2F4}"/>
              </a:ext>
            </a:extLst>
          </p:cNvPr>
          <p:cNvSpPr/>
          <p:nvPr/>
        </p:nvSpPr>
        <p:spPr>
          <a:xfrm>
            <a:off x="377368" y="3392003"/>
            <a:ext cx="183750" cy="178979"/>
          </a:xfrm>
          <a:prstGeom prst="ellipse">
            <a:avLst/>
          </a:prstGeom>
          <a:solidFill>
            <a:srgbClr val="FF0000"/>
          </a:solidFill>
          <a:ln w="15875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endParaRPr lang="ko-KR" altLang="en-US" sz="10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7" name="타원 106">
            <a:extLst>
              <a:ext uri="{FF2B5EF4-FFF2-40B4-BE49-F238E27FC236}">
                <a16:creationId xmlns:a16="http://schemas.microsoft.com/office/drawing/2014/main" id="{4D9049EB-70D8-4995-9DBA-68C2EE93E2F4}"/>
              </a:ext>
            </a:extLst>
          </p:cNvPr>
          <p:cNvSpPr/>
          <p:nvPr/>
        </p:nvSpPr>
        <p:spPr>
          <a:xfrm>
            <a:off x="394447" y="3933554"/>
            <a:ext cx="183750" cy="178979"/>
          </a:xfrm>
          <a:prstGeom prst="ellipse">
            <a:avLst/>
          </a:prstGeom>
          <a:solidFill>
            <a:srgbClr val="FF0000"/>
          </a:solidFill>
          <a:ln w="15875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5</a:t>
            </a:r>
            <a:endParaRPr lang="ko-KR" altLang="en-US" sz="10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8" name="타원 107">
            <a:extLst>
              <a:ext uri="{FF2B5EF4-FFF2-40B4-BE49-F238E27FC236}">
                <a16:creationId xmlns:a16="http://schemas.microsoft.com/office/drawing/2014/main" id="{4D9049EB-70D8-4995-9DBA-68C2EE93E2F4}"/>
              </a:ext>
            </a:extLst>
          </p:cNvPr>
          <p:cNvSpPr/>
          <p:nvPr/>
        </p:nvSpPr>
        <p:spPr>
          <a:xfrm>
            <a:off x="365416" y="5859187"/>
            <a:ext cx="183750" cy="178979"/>
          </a:xfrm>
          <a:prstGeom prst="ellipse">
            <a:avLst/>
          </a:prstGeom>
          <a:solidFill>
            <a:srgbClr val="FF0000"/>
          </a:solidFill>
          <a:ln w="15875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6</a:t>
            </a:r>
            <a:endParaRPr lang="ko-KR" altLang="en-US" sz="10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9" name="타원 108">
            <a:extLst>
              <a:ext uri="{FF2B5EF4-FFF2-40B4-BE49-F238E27FC236}">
                <a16:creationId xmlns:a16="http://schemas.microsoft.com/office/drawing/2014/main" id="{4D9049EB-70D8-4995-9DBA-68C2EE93E2F4}"/>
              </a:ext>
            </a:extLst>
          </p:cNvPr>
          <p:cNvSpPr/>
          <p:nvPr/>
        </p:nvSpPr>
        <p:spPr>
          <a:xfrm>
            <a:off x="4152755" y="2582274"/>
            <a:ext cx="183750" cy="178979"/>
          </a:xfrm>
          <a:prstGeom prst="ellipse">
            <a:avLst/>
          </a:prstGeom>
          <a:solidFill>
            <a:srgbClr val="FF0000"/>
          </a:solidFill>
          <a:ln w="15875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endParaRPr lang="ko-KR" altLang="en-US" sz="10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0" name="타원 109">
            <a:extLst>
              <a:ext uri="{FF2B5EF4-FFF2-40B4-BE49-F238E27FC236}">
                <a16:creationId xmlns:a16="http://schemas.microsoft.com/office/drawing/2014/main" id="{4D9049EB-70D8-4995-9DBA-68C2EE93E2F4}"/>
              </a:ext>
            </a:extLst>
          </p:cNvPr>
          <p:cNvSpPr/>
          <p:nvPr/>
        </p:nvSpPr>
        <p:spPr>
          <a:xfrm>
            <a:off x="8714487" y="2619062"/>
            <a:ext cx="183750" cy="178979"/>
          </a:xfrm>
          <a:prstGeom prst="ellipse">
            <a:avLst/>
          </a:prstGeom>
          <a:solidFill>
            <a:srgbClr val="FF0000"/>
          </a:solidFill>
          <a:ln w="15875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7</a:t>
            </a:r>
            <a:endParaRPr lang="ko-KR" altLang="en-US" sz="10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1" name="타원 110">
            <a:extLst>
              <a:ext uri="{FF2B5EF4-FFF2-40B4-BE49-F238E27FC236}">
                <a16:creationId xmlns:a16="http://schemas.microsoft.com/office/drawing/2014/main" id="{4D9049EB-70D8-4995-9DBA-68C2EE93E2F4}"/>
              </a:ext>
            </a:extLst>
          </p:cNvPr>
          <p:cNvSpPr/>
          <p:nvPr/>
        </p:nvSpPr>
        <p:spPr>
          <a:xfrm>
            <a:off x="4955479" y="2905573"/>
            <a:ext cx="183750" cy="178979"/>
          </a:xfrm>
          <a:prstGeom prst="ellipse">
            <a:avLst/>
          </a:prstGeom>
          <a:solidFill>
            <a:srgbClr val="FF0000"/>
          </a:solidFill>
          <a:ln w="15875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8</a:t>
            </a:r>
            <a:endParaRPr lang="ko-KR" altLang="en-US" sz="10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2" name="타원 111">
            <a:extLst>
              <a:ext uri="{FF2B5EF4-FFF2-40B4-BE49-F238E27FC236}">
                <a16:creationId xmlns:a16="http://schemas.microsoft.com/office/drawing/2014/main" id="{4D9049EB-70D8-4995-9DBA-68C2EE93E2F4}"/>
              </a:ext>
            </a:extLst>
          </p:cNvPr>
          <p:cNvSpPr/>
          <p:nvPr/>
        </p:nvSpPr>
        <p:spPr>
          <a:xfrm>
            <a:off x="4963042" y="3443582"/>
            <a:ext cx="183750" cy="178979"/>
          </a:xfrm>
          <a:prstGeom prst="ellipse">
            <a:avLst/>
          </a:prstGeom>
          <a:solidFill>
            <a:srgbClr val="FF0000"/>
          </a:solidFill>
          <a:ln w="15875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9</a:t>
            </a:r>
            <a:endParaRPr lang="ko-KR" altLang="en-US" sz="10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15" name="Image 2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112123" y="4687984"/>
            <a:ext cx="1368000" cy="190472"/>
          </a:xfrm>
          <a:prstGeom prst="rect">
            <a:avLst/>
          </a:prstGeom>
          <a:ln>
            <a:solidFill>
              <a:srgbClr val="00B050"/>
            </a:solidFill>
          </a:ln>
        </p:spPr>
      </p:pic>
      <p:sp>
        <p:nvSpPr>
          <p:cNvPr id="116" name="Text 18"/>
          <p:cNvSpPr/>
          <p:nvPr/>
        </p:nvSpPr>
        <p:spPr>
          <a:xfrm>
            <a:off x="5075430" y="4438064"/>
            <a:ext cx="423550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Connection String Scheme</a:t>
            </a:r>
            <a:endParaRPr lang="en-US" sz="1050" dirty="0"/>
          </a:p>
        </p:txBody>
      </p:sp>
      <p:sp>
        <p:nvSpPr>
          <p:cNvPr id="118" name="Text 19"/>
          <p:cNvSpPr/>
          <p:nvPr/>
        </p:nvSpPr>
        <p:spPr>
          <a:xfrm>
            <a:off x="5390476" y="4643095"/>
            <a:ext cx="966474" cy="20300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 err="1" smtClean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mongodb</a:t>
            </a:r>
            <a:endParaRPr lang="en-US" sz="1100" dirty="0"/>
          </a:p>
        </p:txBody>
      </p:sp>
      <p:pic>
        <p:nvPicPr>
          <p:cNvPr id="119" name="Image 2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671996" y="4676540"/>
            <a:ext cx="1368000" cy="19047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20" name="Text 19"/>
          <p:cNvSpPr/>
          <p:nvPr/>
        </p:nvSpPr>
        <p:spPr>
          <a:xfrm>
            <a:off x="6950349" y="4631651"/>
            <a:ext cx="966474" cy="20300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</a:t>
            </a:r>
            <a:r>
              <a:rPr lang="en-US" sz="1100" dirty="0" err="1" smtClean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ongodb+srv</a:t>
            </a:r>
            <a:endParaRPr lang="en-US" sz="1100" dirty="0"/>
          </a:p>
        </p:txBody>
      </p:sp>
      <p:grpSp>
        <p:nvGrpSpPr>
          <p:cNvPr id="25" name="그룹 24"/>
          <p:cNvGrpSpPr/>
          <p:nvPr/>
        </p:nvGrpSpPr>
        <p:grpSpPr>
          <a:xfrm>
            <a:off x="4898483" y="5830152"/>
            <a:ext cx="196010" cy="178979"/>
            <a:chOff x="4935427" y="5397241"/>
            <a:chExt cx="196010" cy="178979"/>
          </a:xfrm>
        </p:grpSpPr>
        <p:sp>
          <p:nvSpPr>
            <p:cNvPr id="122" name="타원 121">
              <a:extLst>
                <a:ext uri="{FF2B5EF4-FFF2-40B4-BE49-F238E27FC236}">
                  <a16:creationId xmlns:a16="http://schemas.microsoft.com/office/drawing/2014/main" id="{4D9049EB-70D8-4995-9DBA-68C2EE93E2F4}"/>
                </a:ext>
              </a:extLst>
            </p:cNvPr>
            <p:cNvSpPr/>
            <p:nvPr/>
          </p:nvSpPr>
          <p:spPr>
            <a:xfrm>
              <a:off x="4935427" y="5397241"/>
              <a:ext cx="183750" cy="178979"/>
            </a:xfrm>
            <a:prstGeom prst="ellipse">
              <a:avLst/>
            </a:prstGeom>
            <a:solidFill>
              <a:srgbClr val="FF0000"/>
            </a:solidFill>
            <a:ln w="15875">
              <a:noFill/>
              <a:prstDash val="solid"/>
              <a:round/>
              <a:headEnd/>
              <a:tailEnd/>
            </a:ln>
          </p:spPr>
          <p:txBody>
            <a:bodyPr rtlCol="0" anchor="ctr"/>
            <a:lstStyle>
              <a:defPPr rtl="0">
                <a:defRPr lang="ko-K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latinLnBrk="0"/>
              <a:endParaRPr lang="ko-KR" altLang="en-US" sz="1200" dirty="0">
                <a:solidFill>
                  <a:schemeClr val="bg1"/>
                </a:solidFill>
                <a:latin typeface="카카오 OTF Regular" panose="020B0600000101010101" pitchFamily="34" charset="-127"/>
                <a:ea typeface="카카오 OTF Regular" panose="020B0600000101010101" pitchFamily="34" charset="-127"/>
              </a:endParaRPr>
            </a:p>
          </p:txBody>
        </p:sp>
        <p:sp>
          <p:nvSpPr>
            <p:cNvPr id="123" name="Text 14"/>
            <p:cNvSpPr/>
            <p:nvPr/>
          </p:nvSpPr>
          <p:spPr>
            <a:xfrm>
              <a:off x="4950823" y="5407785"/>
              <a:ext cx="180614" cy="166108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500"/>
                </a:lnSpc>
                <a:buNone/>
              </a:pPr>
              <a:r>
                <a:rPr lang="en-US" altLang="ko-KR" sz="1050" dirty="0" smtClean="0">
                  <a:solidFill>
                    <a:schemeClr val="bg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12</a:t>
              </a:r>
            </a:p>
          </p:txBody>
        </p:sp>
      </p:grpSp>
      <p:grpSp>
        <p:nvGrpSpPr>
          <p:cNvPr id="125" name="그룹 124"/>
          <p:cNvGrpSpPr/>
          <p:nvPr/>
        </p:nvGrpSpPr>
        <p:grpSpPr>
          <a:xfrm>
            <a:off x="4898522" y="3856229"/>
            <a:ext cx="196010" cy="178979"/>
            <a:chOff x="4935427" y="5397241"/>
            <a:chExt cx="196010" cy="178979"/>
          </a:xfrm>
        </p:grpSpPr>
        <p:sp>
          <p:nvSpPr>
            <p:cNvPr id="126" name="타원 125">
              <a:extLst>
                <a:ext uri="{FF2B5EF4-FFF2-40B4-BE49-F238E27FC236}">
                  <a16:creationId xmlns:a16="http://schemas.microsoft.com/office/drawing/2014/main" id="{4D9049EB-70D8-4995-9DBA-68C2EE93E2F4}"/>
                </a:ext>
              </a:extLst>
            </p:cNvPr>
            <p:cNvSpPr/>
            <p:nvPr/>
          </p:nvSpPr>
          <p:spPr>
            <a:xfrm>
              <a:off x="4935427" y="5397241"/>
              <a:ext cx="183750" cy="178979"/>
            </a:xfrm>
            <a:prstGeom prst="ellipse">
              <a:avLst/>
            </a:prstGeom>
            <a:solidFill>
              <a:srgbClr val="FF0000"/>
            </a:solidFill>
            <a:ln w="15875">
              <a:noFill/>
              <a:prstDash val="solid"/>
              <a:round/>
              <a:headEnd/>
              <a:tailEnd/>
            </a:ln>
          </p:spPr>
          <p:txBody>
            <a:bodyPr rtlCol="0" anchor="ctr"/>
            <a:lstStyle>
              <a:defPPr rtl="0">
                <a:defRPr lang="ko-K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latinLnBrk="0"/>
              <a:endParaRPr lang="ko-KR" altLang="en-US" sz="1200" dirty="0">
                <a:solidFill>
                  <a:schemeClr val="bg1"/>
                </a:solidFill>
                <a:latin typeface="카카오 OTF Regular" panose="020B0600000101010101" pitchFamily="34" charset="-127"/>
                <a:ea typeface="카카오 OTF Regular" panose="020B0600000101010101" pitchFamily="34" charset="-127"/>
              </a:endParaRPr>
            </a:p>
          </p:txBody>
        </p:sp>
        <p:sp>
          <p:nvSpPr>
            <p:cNvPr id="127" name="Text 14"/>
            <p:cNvSpPr/>
            <p:nvPr/>
          </p:nvSpPr>
          <p:spPr>
            <a:xfrm>
              <a:off x="4950823" y="5407785"/>
              <a:ext cx="180614" cy="166108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500"/>
                </a:lnSpc>
                <a:buNone/>
              </a:pPr>
              <a:r>
                <a:rPr lang="en-US" altLang="ko-KR" sz="1050" dirty="0" smtClean="0">
                  <a:solidFill>
                    <a:schemeClr val="bg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10</a:t>
              </a:r>
            </a:p>
          </p:txBody>
        </p:sp>
      </p:grpSp>
      <p:grpSp>
        <p:nvGrpSpPr>
          <p:cNvPr id="128" name="그룹 127"/>
          <p:cNvGrpSpPr/>
          <p:nvPr/>
        </p:nvGrpSpPr>
        <p:grpSpPr>
          <a:xfrm>
            <a:off x="4899106" y="4687984"/>
            <a:ext cx="196010" cy="178979"/>
            <a:chOff x="4935427" y="5397241"/>
            <a:chExt cx="196010" cy="178979"/>
          </a:xfrm>
        </p:grpSpPr>
        <p:sp>
          <p:nvSpPr>
            <p:cNvPr id="129" name="타원 128">
              <a:extLst>
                <a:ext uri="{FF2B5EF4-FFF2-40B4-BE49-F238E27FC236}">
                  <a16:creationId xmlns:a16="http://schemas.microsoft.com/office/drawing/2014/main" id="{4D9049EB-70D8-4995-9DBA-68C2EE93E2F4}"/>
                </a:ext>
              </a:extLst>
            </p:cNvPr>
            <p:cNvSpPr/>
            <p:nvPr/>
          </p:nvSpPr>
          <p:spPr>
            <a:xfrm>
              <a:off x="4935427" y="5397241"/>
              <a:ext cx="183750" cy="178979"/>
            </a:xfrm>
            <a:prstGeom prst="ellipse">
              <a:avLst/>
            </a:prstGeom>
            <a:solidFill>
              <a:srgbClr val="FF0000"/>
            </a:solidFill>
            <a:ln w="15875">
              <a:noFill/>
              <a:prstDash val="solid"/>
              <a:round/>
              <a:headEnd/>
              <a:tailEnd/>
            </a:ln>
          </p:spPr>
          <p:txBody>
            <a:bodyPr rtlCol="0" anchor="ctr"/>
            <a:lstStyle>
              <a:defPPr rtl="0">
                <a:defRPr lang="ko-K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latinLnBrk="0"/>
              <a:endParaRPr lang="ko-KR" altLang="en-US" sz="1200" dirty="0">
                <a:solidFill>
                  <a:schemeClr val="bg1"/>
                </a:solidFill>
                <a:latin typeface="카카오 OTF Regular" panose="020B0600000101010101" pitchFamily="34" charset="-127"/>
                <a:ea typeface="카카오 OTF Regular" panose="020B0600000101010101" pitchFamily="34" charset="-127"/>
              </a:endParaRPr>
            </a:p>
          </p:txBody>
        </p:sp>
        <p:sp>
          <p:nvSpPr>
            <p:cNvPr id="130" name="Text 14"/>
            <p:cNvSpPr/>
            <p:nvPr/>
          </p:nvSpPr>
          <p:spPr>
            <a:xfrm>
              <a:off x="4950823" y="5407785"/>
              <a:ext cx="180614" cy="166108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500"/>
                </a:lnSpc>
                <a:buNone/>
              </a:pPr>
              <a:r>
                <a:rPr lang="en-US" altLang="ko-KR" sz="1050" dirty="0" smtClean="0">
                  <a:solidFill>
                    <a:schemeClr val="bg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11</a:t>
              </a:r>
            </a:p>
          </p:txBody>
        </p:sp>
      </p:grpSp>
      <p:pic>
        <p:nvPicPr>
          <p:cNvPr id="131" name="Image 52" descr="preencoded.png"/>
          <p:cNvPicPr>
            <a:picLocks noChangeAspect="1"/>
          </p:cNvPicPr>
          <p:nvPr/>
        </p:nvPicPr>
        <p:blipFill>
          <a:blip r:embed="rId26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 rot="5400000">
            <a:off x="4431199" y="2843055"/>
            <a:ext cx="114300" cy="114300"/>
          </a:xfrm>
          <a:prstGeom prst="rect">
            <a:avLst/>
          </a:prstGeom>
        </p:spPr>
      </p:pic>
      <p:sp>
        <p:nvSpPr>
          <p:cNvPr id="134" name="Text 8"/>
          <p:cNvSpPr/>
          <p:nvPr/>
        </p:nvSpPr>
        <p:spPr>
          <a:xfrm>
            <a:off x="5155209" y="3502191"/>
            <a:ext cx="1089129" cy="24129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100" dirty="0"/>
          </a:p>
        </p:txBody>
      </p:sp>
      <p:sp>
        <p:nvSpPr>
          <p:cNvPr id="137" name="Text 8"/>
          <p:cNvSpPr/>
          <p:nvPr/>
        </p:nvSpPr>
        <p:spPr>
          <a:xfrm>
            <a:off x="7272179" y="3493083"/>
            <a:ext cx="1089129" cy="24129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100" dirty="0"/>
          </a:p>
        </p:txBody>
      </p:sp>
      <p:grpSp>
        <p:nvGrpSpPr>
          <p:cNvPr id="5" name="그룹 4"/>
          <p:cNvGrpSpPr/>
          <p:nvPr/>
        </p:nvGrpSpPr>
        <p:grpSpPr>
          <a:xfrm>
            <a:off x="8816936" y="5762368"/>
            <a:ext cx="645384" cy="258067"/>
            <a:chOff x="8641449" y="5762368"/>
            <a:chExt cx="645384" cy="258067"/>
          </a:xfrm>
        </p:grpSpPr>
        <p:pic>
          <p:nvPicPr>
            <p:cNvPr id="121" name="Image 18" descr="preencoded.png"/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8641449" y="5762368"/>
              <a:ext cx="645384" cy="258067"/>
            </a:xfrm>
            <a:prstGeom prst="rect">
              <a:avLst/>
            </a:prstGeom>
          </p:spPr>
        </p:pic>
        <p:pic>
          <p:nvPicPr>
            <p:cNvPr id="124" name="Image 19" descr="preencoded.png"/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9082489" y="5830488"/>
              <a:ext cx="111984" cy="127982"/>
            </a:xfrm>
            <a:prstGeom prst="rect">
              <a:avLst/>
            </a:prstGeom>
          </p:spPr>
        </p:pic>
        <p:sp>
          <p:nvSpPr>
            <p:cNvPr id="138" name="Text 13"/>
            <p:cNvSpPr/>
            <p:nvPr/>
          </p:nvSpPr>
          <p:spPr>
            <a:xfrm>
              <a:off x="8717189" y="5783152"/>
              <a:ext cx="307157" cy="187257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 algn="ctr">
                <a:lnSpc>
                  <a:spcPts val="1800"/>
                </a:lnSpc>
                <a:buNone/>
              </a:pPr>
              <a:r>
                <a:rPr lang="en-US" sz="1200" dirty="0">
                  <a:solidFill>
                    <a:srgbClr val="FFFFFF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다음</a:t>
              </a:r>
              <a:endParaRPr 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466701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1239520"/>
            <a:ext cx="9442386" cy="5008880"/>
          </a:xfrm>
          <a:prstGeom prst="rect">
            <a:avLst/>
          </a:prstGeom>
        </p:spPr>
      </p:pic>
      <p:sp>
        <p:nvSpPr>
          <p:cNvPr id="50" name="Text 21"/>
          <p:cNvSpPr/>
          <p:nvPr/>
        </p:nvSpPr>
        <p:spPr>
          <a:xfrm>
            <a:off x="304800" y="6362700"/>
            <a:ext cx="115824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50" dirty="0" smtClean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7/10</a:t>
            </a:r>
            <a:endParaRPr lang="en-US" sz="1050" dirty="0"/>
          </a:p>
        </p:txBody>
      </p:sp>
      <p:pic>
        <p:nvPicPr>
          <p:cNvPr id="51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800100"/>
            <a:ext cx="762000" cy="38100"/>
          </a:xfrm>
          <a:prstGeom prst="rect">
            <a:avLst/>
          </a:prstGeom>
        </p:spPr>
      </p:pic>
      <p:sp>
        <p:nvSpPr>
          <p:cNvPr id="52" name="Text 0"/>
          <p:cNvSpPr/>
          <p:nvPr/>
        </p:nvSpPr>
        <p:spPr>
          <a:xfrm>
            <a:off x="381000" y="381000"/>
            <a:ext cx="114300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indent="0">
              <a:lnSpc>
                <a:spcPts val="2700"/>
              </a:lnSpc>
              <a:buNone/>
            </a:pPr>
            <a:r>
              <a:rPr lang="ko-KR" altLang="en-US" sz="2250" b="1" dirty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커넥션 생성 </a:t>
            </a:r>
            <a:r>
              <a:rPr lang="en-US" altLang="ko-KR" sz="2250" b="1" dirty="0" smtClean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- </a:t>
            </a:r>
            <a:r>
              <a:rPr lang="en-US" altLang="ko-KR" sz="2250" b="1" dirty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Source/Target </a:t>
            </a:r>
            <a:r>
              <a:rPr lang="ko-KR" altLang="en-US" sz="2250" b="1" dirty="0" smtClean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설정 </a:t>
            </a:r>
            <a:r>
              <a:rPr lang="en-US" altLang="ko-KR" sz="2250" b="1" dirty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- </a:t>
            </a:r>
            <a:r>
              <a:rPr lang="ko-KR" altLang="en-US" sz="2250" b="1" dirty="0" smtClean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파일 소스</a:t>
            </a:r>
            <a:endParaRPr lang="en-US" sz="2250" b="1" dirty="0">
              <a:solidFill>
                <a:srgbClr val="000000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</p:txBody>
      </p:sp>
      <p:sp>
        <p:nvSpPr>
          <p:cNvPr id="53" name="Text 1"/>
          <p:cNvSpPr/>
          <p:nvPr/>
        </p:nvSpPr>
        <p:spPr>
          <a:xfrm>
            <a:off x="457200" y="914400"/>
            <a:ext cx="11277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선택된 소스와 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MongoDB 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타겟에 대한 접속 정보 입력 및 연결 테스트 기능을 제공하는 화면입니다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200" dirty="0"/>
          </a:p>
        </p:txBody>
      </p:sp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299" y="1694180"/>
            <a:ext cx="8994299" cy="304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35698" y="1770380"/>
            <a:ext cx="151268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18079" y="1770380"/>
            <a:ext cx="121014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5300" y="2151380"/>
            <a:ext cx="136141" cy="1905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5300" y="2456180"/>
            <a:ext cx="4356519" cy="32131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54170" y="3593438"/>
            <a:ext cx="1944000" cy="204017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5807" y="5286465"/>
            <a:ext cx="4235505" cy="24405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/>
          </p:cNvPicPr>
          <p:nvPr/>
        </p:nvPicPr>
        <p:blipFill>
          <a:blip r:embed="rId13"/>
          <a:stretch>
            <a:fillRect/>
          </a:stretch>
        </p:blipFill>
        <p:spPr>
          <a:xfrm>
            <a:off x="584602" y="4834185"/>
            <a:ext cx="4237200" cy="219127"/>
          </a:xfrm>
          <a:prstGeom prst="rect">
            <a:avLst/>
          </a:prstGeom>
        </p:spPr>
      </p:pic>
      <p:sp>
        <p:nvSpPr>
          <p:cNvPr id="33" name="Text 4"/>
          <p:cNvSpPr/>
          <p:nvPr/>
        </p:nvSpPr>
        <p:spPr>
          <a:xfrm>
            <a:off x="1947473" y="1732280"/>
            <a:ext cx="22690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API</a:t>
            </a:r>
            <a:endParaRPr lang="en-US" sz="1100" dirty="0"/>
          </a:p>
        </p:txBody>
      </p:sp>
      <p:sp>
        <p:nvSpPr>
          <p:cNvPr id="34" name="Text 5"/>
          <p:cNvSpPr/>
          <p:nvPr/>
        </p:nvSpPr>
        <p:spPr>
          <a:xfrm>
            <a:off x="2499601" y="1732280"/>
            <a:ext cx="38119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Kafka</a:t>
            </a:r>
            <a:endParaRPr lang="en-US" sz="1100" dirty="0"/>
          </a:p>
        </p:txBody>
      </p:sp>
      <p:sp>
        <p:nvSpPr>
          <p:cNvPr id="35" name="Text 6"/>
          <p:cNvSpPr/>
          <p:nvPr/>
        </p:nvSpPr>
        <p:spPr>
          <a:xfrm>
            <a:off x="691948" y="2113280"/>
            <a:ext cx="435651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Source 설정</a:t>
            </a:r>
            <a:endParaRPr lang="en-US" sz="1500" dirty="0"/>
          </a:p>
        </p:txBody>
      </p:sp>
      <p:sp>
        <p:nvSpPr>
          <p:cNvPr id="36" name="Text 7"/>
          <p:cNvSpPr/>
          <p:nvPr/>
        </p:nvSpPr>
        <p:spPr>
          <a:xfrm>
            <a:off x="555807" y="3596324"/>
            <a:ext cx="1789567" cy="19986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Storage Provider</a:t>
            </a:r>
            <a:endParaRPr lang="en-US" sz="1050" dirty="0"/>
          </a:p>
        </p:txBody>
      </p:sp>
      <p:sp>
        <p:nvSpPr>
          <p:cNvPr id="37" name="Text 8"/>
          <p:cNvSpPr/>
          <p:nvPr/>
        </p:nvSpPr>
        <p:spPr>
          <a:xfrm>
            <a:off x="1844932" y="3556161"/>
            <a:ext cx="1480159" cy="2400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110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KR" pitchFamily="34" charset="-120"/>
              </a:rPr>
              <a:t>HTTPS: Public Web</a:t>
            </a:r>
          </a:p>
        </p:txBody>
      </p:sp>
      <p:sp>
        <p:nvSpPr>
          <p:cNvPr id="38" name="Text 9"/>
          <p:cNvSpPr/>
          <p:nvPr/>
        </p:nvSpPr>
        <p:spPr>
          <a:xfrm>
            <a:off x="584603" y="4629251"/>
            <a:ext cx="197589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URL</a:t>
            </a:r>
            <a:endParaRPr lang="en-US" sz="1050" dirty="0"/>
          </a:p>
        </p:txBody>
      </p:sp>
      <p:sp>
        <p:nvSpPr>
          <p:cNvPr id="39" name="Text 10"/>
          <p:cNvSpPr/>
          <p:nvPr/>
        </p:nvSpPr>
        <p:spPr>
          <a:xfrm>
            <a:off x="675364" y="4802641"/>
            <a:ext cx="1975895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100" dirty="0"/>
          </a:p>
        </p:txBody>
      </p:sp>
      <p:sp>
        <p:nvSpPr>
          <p:cNvPr id="40" name="Text 11"/>
          <p:cNvSpPr/>
          <p:nvPr/>
        </p:nvSpPr>
        <p:spPr>
          <a:xfrm>
            <a:off x="555807" y="5101414"/>
            <a:ext cx="423550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Reader Options</a:t>
            </a:r>
            <a:endParaRPr lang="en-US" sz="1050" dirty="0"/>
          </a:p>
        </p:txBody>
      </p:sp>
      <p:sp>
        <p:nvSpPr>
          <p:cNvPr id="41" name="Text 12"/>
          <p:cNvSpPr/>
          <p:nvPr/>
        </p:nvSpPr>
        <p:spPr>
          <a:xfrm>
            <a:off x="646568" y="5283359"/>
            <a:ext cx="4235505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100" dirty="0"/>
          </a:p>
        </p:txBody>
      </p:sp>
      <p:pic>
        <p:nvPicPr>
          <p:cNvPr id="64" name="Image 5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852254" y="1239520"/>
            <a:ext cx="2265332" cy="5008880"/>
          </a:xfrm>
          <a:prstGeom prst="rect">
            <a:avLst/>
          </a:prstGeom>
        </p:spPr>
      </p:pic>
      <p:sp>
        <p:nvSpPr>
          <p:cNvPr id="65" name="Text 46"/>
          <p:cNvSpPr/>
          <p:nvPr/>
        </p:nvSpPr>
        <p:spPr>
          <a:xfrm>
            <a:off x="9924297" y="931338"/>
            <a:ext cx="208874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 smtClean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UI </a:t>
            </a:r>
            <a:r>
              <a:rPr lang="ko-KR" altLang="en-US" sz="1350" b="1" dirty="0" smtClean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설명</a:t>
            </a:r>
            <a:r>
              <a:rPr lang="en-US" sz="1350" b="1" dirty="0" smtClean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en-US" sz="1350" b="1" dirty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영역</a:t>
            </a:r>
            <a:endParaRPr lang="en-US" sz="1350" dirty="0"/>
          </a:p>
        </p:txBody>
      </p:sp>
      <p:sp>
        <p:nvSpPr>
          <p:cNvPr id="66" name="Text 20"/>
          <p:cNvSpPr/>
          <p:nvPr/>
        </p:nvSpPr>
        <p:spPr>
          <a:xfrm>
            <a:off x="9877290" y="1255189"/>
            <a:ext cx="2184606" cy="49932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200"/>
              </a:lnSpc>
            </a:pPr>
            <a:r>
              <a:rPr 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1.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새로운 </a:t>
            </a: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Source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추가 </a:t>
            </a:r>
            <a:r>
              <a:rPr lang="ko-KR" altLang="en-US" sz="1000" dirty="0" err="1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팝업창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띄우기</a:t>
            </a:r>
            <a:endParaRPr lang="en-US" altLang="ko-KR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endParaRPr lang="en-US" sz="1000" dirty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r>
              <a:rPr lang="en-US" sz="10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2</a:t>
            </a:r>
            <a:r>
              <a:rPr 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.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기존 등록된 목록 중 선택</a:t>
            </a:r>
            <a:endParaRPr lang="en-US" altLang="ko-KR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r>
              <a:rPr 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 -&gt;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아래 항목을 등록된 값으로 채움</a:t>
            </a:r>
            <a:endParaRPr lang="en-US" altLang="ko-KR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endParaRPr lang="en-US" sz="1000" dirty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r>
              <a:rPr lang="en-US" sz="10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3</a:t>
            </a:r>
            <a:r>
              <a:rPr 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.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소스 타입 선택</a:t>
            </a:r>
            <a:endParaRPr lang="en-US" altLang="ko-KR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r>
              <a:rPr lang="en-US" sz="10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-&gt; csv, </a:t>
            </a:r>
            <a:r>
              <a:rPr lang="en-US" sz="1000" dirty="0" err="1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json</a:t>
            </a:r>
            <a:r>
              <a:rPr 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, </a:t>
            </a:r>
            <a:r>
              <a:rPr lang="en-US" sz="10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e</a:t>
            </a:r>
            <a:r>
              <a:rPr 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xcel, parquet, </a:t>
            </a:r>
            <a:r>
              <a:rPr lang="en-US" sz="1000" dirty="0" err="1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yaml</a:t>
            </a:r>
            <a:endParaRPr lang="en-US" altLang="ko-KR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endParaRPr lang="en-US" sz="1000" dirty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r>
              <a:rPr lang="en-US" sz="10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4</a:t>
            </a:r>
            <a:r>
              <a:rPr 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. </a:t>
            </a: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provider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선택</a:t>
            </a:r>
            <a:endParaRPr lang="en-US" altLang="ko-KR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r>
              <a:rPr lang="en-US" altLang="ko-KR" sz="10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  (Local, HTTPS, S3, </a:t>
            </a:r>
            <a:r>
              <a:rPr lang="en-US" altLang="ko-KR" sz="1000" dirty="0" err="1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AzBlob</a:t>
            </a: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, SSH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등</a:t>
            </a: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)</a:t>
            </a:r>
          </a:p>
          <a:p>
            <a:pPr>
              <a:lnSpc>
                <a:spcPts val="1200"/>
              </a:lnSpc>
            </a:pPr>
            <a:endParaRPr lang="en-US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r>
              <a:rPr lang="en-US" sz="10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5</a:t>
            </a:r>
            <a:r>
              <a:rPr 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. provider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에 따라 파일 접근에 필요한 추가 정보 제공</a:t>
            </a:r>
            <a:endParaRPr lang="en-US" altLang="ko-KR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r>
              <a:rPr 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 - Local: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필수</a:t>
            </a: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(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파일 찾아보기</a:t>
            </a: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)</a:t>
            </a:r>
          </a:p>
          <a:p>
            <a:pPr>
              <a:lnSpc>
                <a:spcPts val="1200"/>
              </a:lnSpc>
            </a:pPr>
            <a:r>
              <a:rPr lang="en-US" sz="10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- HTTPS: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옵션</a:t>
            </a: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(</a:t>
            </a:r>
            <a:r>
              <a:rPr 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User-Agent)</a:t>
            </a:r>
          </a:p>
          <a:p>
            <a:pPr>
              <a:lnSpc>
                <a:spcPts val="1200"/>
              </a:lnSpc>
            </a:pPr>
            <a:r>
              <a:rPr lang="en-US" sz="10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- S3: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옵션</a:t>
            </a: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(</a:t>
            </a:r>
            <a:r>
              <a:rPr 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AWS Access Key ID, AWS Secret Access Key)</a:t>
            </a:r>
            <a:endParaRPr lang="en-US" sz="1000" dirty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r>
              <a:rPr 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 - </a:t>
            </a:r>
            <a:r>
              <a:rPr lang="en-US" sz="10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GCS: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옵션</a:t>
            </a: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(</a:t>
            </a:r>
            <a:r>
              <a:rPr 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Service Account JSON</a:t>
            </a: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)</a:t>
            </a:r>
            <a:endParaRPr lang="en-US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r>
              <a:rPr lang="en-US" sz="10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- </a:t>
            </a:r>
            <a:r>
              <a:rPr lang="en-US" sz="1000" dirty="0" err="1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AzBlob</a:t>
            </a:r>
            <a:r>
              <a:rPr 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: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필수</a:t>
            </a: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(</a:t>
            </a:r>
            <a:r>
              <a:rPr 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Storage Account),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옵션</a:t>
            </a: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(</a:t>
            </a:r>
            <a:r>
              <a:rPr 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SAS Token, Shared Key)</a:t>
            </a:r>
          </a:p>
          <a:p>
            <a:pPr>
              <a:lnSpc>
                <a:spcPts val="1200"/>
              </a:lnSpc>
            </a:pPr>
            <a:r>
              <a:rPr lang="en-US" sz="10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- SSH, SCP, SFTP: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필수</a:t>
            </a: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(</a:t>
            </a:r>
            <a:r>
              <a:rPr 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Host, User),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옵션</a:t>
            </a: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(</a:t>
            </a:r>
            <a:r>
              <a:rPr 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Password, Port-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디폴트 </a:t>
            </a: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22</a:t>
            </a:r>
            <a:r>
              <a:rPr 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)</a:t>
            </a:r>
          </a:p>
          <a:p>
            <a:pPr>
              <a:lnSpc>
                <a:spcPts val="1200"/>
              </a:lnSpc>
            </a:pPr>
            <a:endParaRPr lang="en-US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r>
              <a:rPr lang="en-US" sz="10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6</a:t>
            </a:r>
            <a:r>
              <a:rPr 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.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파일의 </a:t>
            </a: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URL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경로 입력</a:t>
            </a:r>
            <a:endParaRPr lang="en-US" altLang="ko-KR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endParaRPr lang="en-US" sz="1000" dirty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r>
              <a:rPr 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7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소스 타입에 따라 파일을 읽는 데 필요한 추가 옵션을 </a:t>
            </a:r>
            <a:r>
              <a:rPr lang="en-US" altLang="ko-KR" sz="1000" dirty="0" err="1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json</a:t>
            </a: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형식으로 입력</a:t>
            </a:r>
            <a:endParaRPr lang="en-US" altLang="ko-KR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endParaRPr lang="en-US" sz="1000" dirty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r>
              <a:rPr 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8.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마우스 올리면 </a:t>
            </a:r>
            <a:r>
              <a:rPr lang="ko-KR" altLang="en-US" sz="1000" dirty="0" err="1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설명창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표출 </a:t>
            </a:r>
            <a:endParaRPr lang="en-US" sz="1000" dirty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</p:txBody>
      </p:sp>
      <p:pic>
        <p:nvPicPr>
          <p:cNvPr id="86" name="Image 2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0591" y="2789202"/>
            <a:ext cx="4235505" cy="230806"/>
          </a:xfrm>
          <a:prstGeom prst="rect">
            <a:avLst/>
          </a:prstGeom>
        </p:spPr>
      </p:pic>
      <p:sp>
        <p:nvSpPr>
          <p:cNvPr id="87" name="Text 14"/>
          <p:cNvSpPr/>
          <p:nvPr/>
        </p:nvSpPr>
        <p:spPr>
          <a:xfrm>
            <a:off x="560591" y="2607257"/>
            <a:ext cx="423550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altLang="ko-KR" sz="1050" dirty="0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Connection Name</a:t>
            </a:r>
            <a:endParaRPr lang="en-US" sz="1050" dirty="0">
              <a:solidFill>
                <a:srgbClr val="4B5563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</p:txBody>
      </p:sp>
      <p:sp>
        <p:nvSpPr>
          <p:cNvPr id="88" name="순서도: 병합 87"/>
          <p:cNvSpPr/>
          <p:nvPr/>
        </p:nvSpPr>
        <p:spPr>
          <a:xfrm>
            <a:off x="4628070" y="2850744"/>
            <a:ext cx="89825" cy="133350"/>
          </a:xfrm>
          <a:prstGeom prst="flowChartMerg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3" name="그룹 22"/>
          <p:cNvGrpSpPr/>
          <p:nvPr/>
        </p:nvGrpSpPr>
        <p:grpSpPr>
          <a:xfrm>
            <a:off x="4309667" y="2596695"/>
            <a:ext cx="544832" cy="146507"/>
            <a:chOff x="4309667" y="2596695"/>
            <a:chExt cx="544832" cy="146507"/>
          </a:xfrm>
        </p:grpSpPr>
        <p:pic>
          <p:nvPicPr>
            <p:cNvPr id="89" name="Image 21" descr="preencoded.png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4309667" y="2596695"/>
              <a:ext cx="472782" cy="146507"/>
            </a:xfrm>
            <a:prstGeom prst="rect">
              <a:avLst/>
            </a:prstGeom>
          </p:spPr>
        </p:pic>
        <p:sp>
          <p:nvSpPr>
            <p:cNvPr id="90" name="Text 12"/>
            <p:cNvSpPr/>
            <p:nvPr/>
          </p:nvSpPr>
          <p:spPr>
            <a:xfrm>
              <a:off x="4366759" y="2609852"/>
              <a:ext cx="487740" cy="13335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 algn="ctr">
                <a:lnSpc>
                  <a:spcPts val="1200"/>
                </a:lnSpc>
                <a:buNone/>
              </a:pPr>
              <a:r>
                <a:rPr lang="en-US" sz="900" dirty="0">
                  <a:solidFill>
                    <a:srgbClr val="FFFFFF"/>
                  </a:solidFill>
                  <a:latin typeface="Nanum Gothic" pitchFamily="34" charset="0"/>
                  <a:ea typeface="Nanum Gothic" pitchFamily="34" charset="-122"/>
                  <a:cs typeface="Nanum Gothic" pitchFamily="34" charset="-120"/>
                </a:rPr>
                <a:t> </a:t>
              </a:r>
              <a:r>
                <a:rPr lang="en-US" sz="900" dirty="0" err="1" smtClean="0">
                  <a:solidFill>
                    <a:srgbClr val="FFFFFF"/>
                  </a:solidFill>
                  <a:latin typeface="Nanum Gothic" pitchFamily="34" charset="0"/>
                  <a:ea typeface="Nanum Gothic" pitchFamily="34" charset="-122"/>
                  <a:cs typeface="Nanum Gothic" pitchFamily="34" charset="-120"/>
                </a:rPr>
                <a:t>추가</a:t>
              </a:r>
              <a:endParaRPr lang="en-US" sz="900" dirty="0"/>
            </a:p>
          </p:txBody>
        </p:sp>
        <p:pic>
          <p:nvPicPr>
            <p:cNvPr id="91" name="Image 22" descr="preencoded.png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4366759" y="2629760"/>
              <a:ext cx="90000" cy="108000"/>
            </a:xfrm>
            <a:prstGeom prst="rect">
              <a:avLst/>
            </a:prstGeom>
          </p:spPr>
        </p:pic>
      </p:grpSp>
      <p:sp>
        <p:nvSpPr>
          <p:cNvPr id="83" name="Text 8"/>
          <p:cNvSpPr/>
          <p:nvPr/>
        </p:nvSpPr>
        <p:spPr>
          <a:xfrm>
            <a:off x="626940" y="2801035"/>
            <a:ext cx="4235505" cy="21105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ko-KR" altLang="en-US" sz="1100" dirty="0" smtClean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</a:rPr>
              <a:t>선택</a:t>
            </a:r>
            <a:endParaRPr lang="en-US" sz="1100" dirty="0"/>
          </a:p>
        </p:txBody>
      </p:sp>
      <p:pic>
        <p:nvPicPr>
          <p:cNvPr id="92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2960" y="3283075"/>
            <a:ext cx="4235505" cy="254596"/>
          </a:xfrm>
          <a:prstGeom prst="rect">
            <a:avLst/>
          </a:prstGeom>
        </p:spPr>
      </p:pic>
      <p:sp>
        <p:nvSpPr>
          <p:cNvPr id="93" name="Text 7"/>
          <p:cNvSpPr/>
          <p:nvPr/>
        </p:nvSpPr>
        <p:spPr>
          <a:xfrm>
            <a:off x="562960" y="3101130"/>
            <a:ext cx="423550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Source Type</a:t>
            </a:r>
            <a:endParaRPr lang="en-US" sz="1050" dirty="0"/>
          </a:p>
        </p:txBody>
      </p:sp>
      <p:sp>
        <p:nvSpPr>
          <p:cNvPr id="94" name="Text 8"/>
          <p:cNvSpPr/>
          <p:nvPr/>
        </p:nvSpPr>
        <p:spPr>
          <a:xfrm>
            <a:off x="653721" y="3283075"/>
            <a:ext cx="4235505" cy="22306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 smtClean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csv</a:t>
            </a:r>
            <a:endParaRPr lang="en-US" sz="1100" dirty="0"/>
          </a:p>
        </p:txBody>
      </p:sp>
      <p:sp>
        <p:nvSpPr>
          <p:cNvPr id="95" name="순서도: 병합 94"/>
          <p:cNvSpPr/>
          <p:nvPr/>
        </p:nvSpPr>
        <p:spPr>
          <a:xfrm>
            <a:off x="4616263" y="3337672"/>
            <a:ext cx="89825" cy="133350"/>
          </a:xfrm>
          <a:prstGeom prst="flowChartMerg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8" name="Text 10"/>
          <p:cNvSpPr/>
          <p:nvPr/>
        </p:nvSpPr>
        <p:spPr>
          <a:xfrm>
            <a:off x="2736723" y="4802641"/>
            <a:ext cx="1975895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100" dirty="0"/>
          </a:p>
        </p:txBody>
      </p:sp>
      <p:sp>
        <p:nvSpPr>
          <p:cNvPr id="101" name="Text 12"/>
          <p:cNvSpPr/>
          <p:nvPr/>
        </p:nvSpPr>
        <p:spPr>
          <a:xfrm>
            <a:off x="666156" y="4318800"/>
            <a:ext cx="4235505" cy="2283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100" dirty="0"/>
          </a:p>
        </p:txBody>
      </p:sp>
      <p:sp>
        <p:nvSpPr>
          <p:cNvPr id="105" name="타원 104">
            <a:extLst>
              <a:ext uri="{FF2B5EF4-FFF2-40B4-BE49-F238E27FC236}">
                <a16:creationId xmlns:a16="http://schemas.microsoft.com/office/drawing/2014/main" id="{4D9049EB-70D8-4995-9DBA-68C2EE93E2F4}"/>
              </a:ext>
            </a:extLst>
          </p:cNvPr>
          <p:cNvSpPr/>
          <p:nvPr/>
        </p:nvSpPr>
        <p:spPr>
          <a:xfrm>
            <a:off x="387467" y="2822567"/>
            <a:ext cx="183750" cy="178979"/>
          </a:xfrm>
          <a:prstGeom prst="ellipse">
            <a:avLst/>
          </a:prstGeom>
          <a:solidFill>
            <a:srgbClr val="FF0000"/>
          </a:solidFill>
          <a:ln w="15875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endParaRPr lang="ko-KR" altLang="en-US" sz="10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6" name="타원 105">
            <a:extLst>
              <a:ext uri="{FF2B5EF4-FFF2-40B4-BE49-F238E27FC236}">
                <a16:creationId xmlns:a16="http://schemas.microsoft.com/office/drawing/2014/main" id="{4D9049EB-70D8-4995-9DBA-68C2EE93E2F4}"/>
              </a:ext>
            </a:extLst>
          </p:cNvPr>
          <p:cNvSpPr/>
          <p:nvPr/>
        </p:nvSpPr>
        <p:spPr>
          <a:xfrm>
            <a:off x="377368" y="3320883"/>
            <a:ext cx="183750" cy="178979"/>
          </a:xfrm>
          <a:prstGeom prst="ellipse">
            <a:avLst/>
          </a:prstGeom>
          <a:solidFill>
            <a:srgbClr val="FF0000"/>
          </a:solidFill>
          <a:ln w="15875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endParaRPr lang="ko-KR" altLang="en-US" sz="10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9" name="타원 108">
            <a:extLst>
              <a:ext uri="{FF2B5EF4-FFF2-40B4-BE49-F238E27FC236}">
                <a16:creationId xmlns:a16="http://schemas.microsoft.com/office/drawing/2014/main" id="{4D9049EB-70D8-4995-9DBA-68C2EE93E2F4}"/>
              </a:ext>
            </a:extLst>
          </p:cNvPr>
          <p:cNvSpPr/>
          <p:nvPr/>
        </p:nvSpPr>
        <p:spPr>
          <a:xfrm>
            <a:off x="4152755" y="2582274"/>
            <a:ext cx="183750" cy="178979"/>
          </a:xfrm>
          <a:prstGeom prst="ellipse">
            <a:avLst/>
          </a:prstGeom>
          <a:solidFill>
            <a:srgbClr val="FF0000"/>
          </a:solidFill>
          <a:ln w="15875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sz="10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13" name="Image 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91396" y="1697813"/>
            <a:ext cx="589945" cy="304800"/>
          </a:xfrm>
          <a:prstGeom prst="rect">
            <a:avLst/>
          </a:prstGeom>
        </p:spPr>
      </p:pic>
      <p:grpSp>
        <p:nvGrpSpPr>
          <p:cNvPr id="5" name="그룹 4"/>
          <p:cNvGrpSpPr/>
          <p:nvPr/>
        </p:nvGrpSpPr>
        <p:grpSpPr>
          <a:xfrm>
            <a:off x="1176006" y="1732280"/>
            <a:ext cx="423550" cy="228600"/>
            <a:chOff x="1176006" y="1732280"/>
            <a:chExt cx="423550" cy="228600"/>
          </a:xfrm>
        </p:grpSpPr>
        <p:pic>
          <p:nvPicPr>
            <p:cNvPr id="9" name="Image 7" descr="preencoded.png"/>
            <p:cNvPicPr>
              <a:picLocks noChangeAspect="1"/>
            </p:cNvPicPr>
            <p:nvPr/>
          </p:nvPicPr>
          <p:blipFill>
            <a:blip r:embed="rId18">
              <a:lum bright="70000" contrast="-70000"/>
            </a:blip>
            <a:stretch>
              <a:fillRect/>
            </a:stretch>
          </p:blipFill>
          <p:spPr>
            <a:xfrm>
              <a:off x="1176006" y="1770380"/>
              <a:ext cx="90761" cy="152400"/>
            </a:xfrm>
            <a:prstGeom prst="rect">
              <a:avLst/>
            </a:prstGeom>
          </p:spPr>
        </p:pic>
        <p:sp>
          <p:nvSpPr>
            <p:cNvPr id="32" name="Text 3"/>
            <p:cNvSpPr/>
            <p:nvPr/>
          </p:nvSpPr>
          <p:spPr>
            <a:xfrm>
              <a:off x="1327274" y="1732280"/>
              <a:ext cx="272282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100" dirty="0">
                  <a:solidFill>
                    <a:schemeClr val="bg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파일</a:t>
              </a:r>
              <a:endParaRPr lang="en-US" sz="11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5" name="그룹 14"/>
          <p:cNvGrpSpPr/>
          <p:nvPr/>
        </p:nvGrpSpPr>
        <p:grpSpPr>
          <a:xfrm>
            <a:off x="603701" y="1741733"/>
            <a:ext cx="456829" cy="228600"/>
            <a:chOff x="586061" y="1732280"/>
            <a:chExt cx="456829" cy="228600"/>
          </a:xfrm>
        </p:grpSpPr>
        <p:pic>
          <p:nvPicPr>
            <p:cNvPr id="8" name="Image 6" descr="preencoded.png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586061" y="1770380"/>
              <a:ext cx="105888" cy="15240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</p:pic>
        <p:sp>
          <p:nvSpPr>
            <p:cNvPr id="31" name="Text 2"/>
            <p:cNvSpPr/>
            <p:nvPr/>
          </p:nvSpPr>
          <p:spPr>
            <a:xfrm>
              <a:off x="752455" y="1732280"/>
              <a:ext cx="290435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100" dirty="0">
                  <a:solidFill>
                    <a:srgbClr val="33333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RDB</a:t>
              </a:r>
            </a:p>
          </p:txBody>
        </p:sp>
      </p:grpSp>
      <p:sp>
        <p:nvSpPr>
          <p:cNvPr id="121" name="순서도: 병합 120"/>
          <p:cNvSpPr/>
          <p:nvPr/>
        </p:nvSpPr>
        <p:spPr>
          <a:xfrm>
            <a:off x="3564773" y="3623252"/>
            <a:ext cx="89825" cy="133350"/>
          </a:xfrm>
          <a:prstGeom prst="flowChartMerg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4" name="Image 27" descr="preencoded.png"/>
          <p:cNvPicPr>
            <a:picLocks noChangeAspect="1"/>
          </p:cNvPicPr>
          <p:nvPr/>
        </p:nvPicPr>
        <p:blipFill>
          <a:blip r:embed="rId20">
            <a:clrChange>
              <a:clrFrom>
                <a:srgbClr val="F3F4F6"/>
              </a:clrFrom>
              <a:clrTo>
                <a:srgbClr val="F3F4F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71217" y="3843951"/>
            <a:ext cx="3871020" cy="703241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33" name="Text 16"/>
          <p:cNvSpPr/>
          <p:nvPr/>
        </p:nvSpPr>
        <p:spPr>
          <a:xfrm>
            <a:off x="905163" y="3920151"/>
            <a:ext cx="3460873" cy="17174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900" dirty="0" smtClean="0">
                <a:solidFill>
                  <a:srgbClr val="37415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Option fields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15774" y="4201786"/>
            <a:ext cx="366199" cy="207452"/>
          </a:xfrm>
          <a:prstGeom prst="rect">
            <a:avLst/>
          </a:prstGeom>
        </p:spPr>
      </p:pic>
      <p:pic>
        <p:nvPicPr>
          <p:cNvPr id="138" name="Image 85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 rot="5400000">
            <a:off x="691949" y="3942854"/>
            <a:ext cx="95250" cy="152400"/>
          </a:xfrm>
          <a:prstGeom prst="rect">
            <a:avLst/>
          </a:prstGeom>
        </p:spPr>
      </p:pic>
      <p:sp>
        <p:nvSpPr>
          <p:cNvPr id="139" name="Text 7"/>
          <p:cNvSpPr/>
          <p:nvPr/>
        </p:nvSpPr>
        <p:spPr>
          <a:xfrm>
            <a:off x="1257152" y="4208493"/>
            <a:ext cx="1789567" cy="19986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User-Agent</a:t>
            </a:r>
            <a:endParaRPr lang="en-US" sz="1050" dirty="0"/>
          </a:p>
        </p:txBody>
      </p:sp>
      <p:sp>
        <p:nvSpPr>
          <p:cNvPr id="140" name="타원 139">
            <a:extLst>
              <a:ext uri="{FF2B5EF4-FFF2-40B4-BE49-F238E27FC236}">
                <a16:creationId xmlns:a16="http://schemas.microsoft.com/office/drawing/2014/main" id="{4D9049EB-70D8-4995-9DBA-68C2EE93E2F4}"/>
              </a:ext>
            </a:extLst>
          </p:cNvPr>
          <p:cNvSpPr/>
          <p:nvPr/>
        </p:nvSpPr>
        <p:spPr>
          <a:xfrm>
            <a:off x="349509" y="3606766"/>
            <a:ext cx="183750" cy="178979"/>
          </a:xfrm>
          <a:prstGeom prst="ellipse">
            <a:avLst/>
          </a:prstGeom>
          <a:solidFill>
            <a:srgbClr val="FF0000"/>
          </a:solidFill>
          <a:ln w="15875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endParaRPr lang="ko-KR" altLang="en-US" sz="10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1" name="타원 140">
            <a:extLst>
              <a:ext uri="{FF2B5EF4-FFF2-40B4-BE49-F238E27FC236}">
                <a16:creationId xmlns:a16="http://schemas.microsoft.com/office/drawing/2014/main" id="{4D9049EB-70D8-4995-9DBA-68C2EE93E2F4}"/>
              </a:ext>
            </a:extLst>
          </p:cNvPr>
          <p:cNvSpPr/>
          <p:nvPr/>
        </p:nvSpPr>
        <p:spPr>
          <a:xfrm>
            <a:off x="469541" y="3912513"/>
            <a:ext cx="183750" cy="178979"/>
          </a:xfrm>
          <a:prstGeom prst="ellipse">
            <a:avLst/>
          </a:prstGeom>
          <a:solidFill>
            <a:srgbClr val="FF0000"/>
          </a:solidFill>
          <a:ln w="15875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5</a:t>
            </a:r>
            <a:endParaRPr lang="ko-KR" altLang="en-US" sz="10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2" name="타원 141">
            <a:extLst>
              <a:ext uri="{FF2B5EF4-FFF2-40B4-BE49-F238E27FC236}">
                <a16:creationId xmlns:a16="http://schemas.microsoft.com/office/drawing/2014/main" id="{4D9049EB-70D8-4995-9DBA-68C2EE93E2F4}"/>
              </a:ext>
            </a:extLst>
          </p:cNvPr>
          <p:cNvSpPr/>
          <p:nvPr/>
        </p:nvSpPr>
        <p:spPr>
          <a:xfrm>
            <a:off x="349509" y="4865551"/>
            <a:ext cx="183750" cy="178979"/>
          </a:xfrm>
          <a:prstGeom prst="ellipse">
            <a:avLst/>
          </a:prstGeom>
          <a:solidFill>
            <a:srgbClr val="FF0000"/>
          </a:solidFill>
          <a:ln w="15875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6</a:t>
            </a:r>
            <a:endParaRPr lang="ko-KR" altLang="en-US" sz="10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3" name="타원 142">
            <a:extLst>
              <a:ext uri="{FF2B5EF4-FFF2-40B4-BE49-F238E27FC236}">
                <a16:creationId xmlns:a16="http://schemas.microsoft.com/office/drawing/2014/main" id="{4D9049EB-70D8-4995-9DBA-68C2EE93E2F4}"/>
              </a:ext>
            </a:extLst>
          </p:cNvPr>
          <p:cNvSpPr/>
          <p:nvPr/>
        </p:nvSpPr>
        <p:spPr>
          <a:xfrm>
            <a:off x="339458" y="5346269"/>
            <a:ext cx="183750" cy="178979"/>
          </a:xfrm>
          <a:prstGeom prst="ellipse">
            <a:avLst/>
          </a:prstGeom>
          <a:solidFill>
            <a:srgbClr val="FF0000"/>
          </a:solidFill>
          <a:ln w="15875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7</a:t>
            </a:r>
            <a:endParaRPr lang="ko-KR" altLang="en-US" sz="10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4" name="타원 143">
            <a:extLst>
              <a:ext uri="{FF2B5EF4-FFF2-40B4-BE49-F238E27FC236}">
                <a16:creationId xmlns:a16="http://schemas.microsoft.com/office/drawing/2014/main" id="{4D9049EB-70D8-4995-9DBA-68C2EE93E2F4}"/>
              </a:ext>
            </a:extLst>
          </p:cNvPr>
          <p:cNvSpPr/>
          <p:nvPr/>
        </p:nvSpPr>
        <p:spPr>
          <a:xfrm>
            <a:off x="1599556" y="5104380"/>
            <a:ext cx="183750" cy="17897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5875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r>
              <a:rPr lang="en-US" altLang="ko-KR" sz="1000" dirty="0" err="1" smtClean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i</a:t>
            </a:r>
            <a:endParaRPr lang="ko-KR" altLang="en-US" sz="10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7" name="타원 146">
            <a:extLst>
              <a:ext uri="{FF2B5EF4-FFF2-40B4-BE49-F238E27FC236}">
                <a16:creationId xmlns:a16="http://schemas.microsoft.com/office/drawing/2014/main" id="{4D9049EB-70D8-4995-9DBA-68C2EE93E2F4}"/>
              </a:ext>
            </a:extLst>
          </p:cNvPr>
          <p:cNvSpPr/>
          <p:nvPr/>
        </p:nvSpPr>
        <p:spPr>
          <a:xfrm>
            <a:off x="1447174" y="4993633"/>
            <a:ext cx="183750" cy="178979"/>
          </a:xfrm>
          <a:prstGeom prst="ellipse">
            <a:avLst/>
          </a:prstGeom>
          <a:solidFill>
            <a:srgbClr val="FF0000"/>
          </a:solidFill>
          <a:ln w="15875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8</a:t>
            </a:r>
            <a:endParaRPr lang="ko-KR" altLang="en-US" sz="10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48" name="Image 27" descr="preencoded.png"/>
          <p:cNvPicPr>
            <a:picLocks noChangeAspect="1"/>
          </p:cNvPicPr>
          <p:nvPr/>
        </p:nvPicPr>
        <p:blipFill>
          <a:blip r:embed="rId20">
            <a:clrChange>
              <a:clrFrom>
                <a:srgbClr val="F3F4F6"/>
              </a:clrFrom>
              <a:clrTo>
                <a:srgbClr val="F3F4F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91425" y="5736747"/>
            <a:ext cx="3871020" cy="703241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49" name="Text 7"/>
          <p:cNvSpPr/>
          <p:nvPr/>
        </p:nvSpPr>
        <p:spPr>
          <a:xfrm>
            <a:off x="1073210" y="6053507"/>
            <a:ext cx="1789567" cy="19986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Example values</a:t>
            </a:r>
            <a:endParaRPr lang="en-US" sz="900" dirty="0"/>
          </a:p>
        </p:txBody>
      </p:sp>
      <p:sp>
        <p:nvSpPr>
          <p:cNvPr id="150" name="Text 11"/>
          <p:cNvSpPr/>
          <p:nvPr/>
        </p:nvSpPr>
        <p:spPr>
          <a:xfrm>
            <a:off x="1085216" y="5782763"/>
            <a:ext cx="3682218" cy="35118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100"/>
              </a:lnSpc>
            </a:pPr>
            <a:r>
              <a:rPr lang="en-US" altLang="ko-KR" sz="900" dirty="0">
                <a:solidFill>
                  <a:srgbClr val="4B5563"/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JSON </a:t>
            </a:r>
            <a:r>
              <a:rPr lang="ko-KR" altLang="en-US" sz="900" dirty="0">
                <a:solidFill>
                  <a:srgbClr val="4B5563"/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형식의 문자열이어야 합니다</a:t>
            </a:r>
            <a:r>
              <a:rPr lang="en-US" altLang="ko-KR" sz="900" dirty="0">
                <a:solidFill>
                  <a:srgbClr val="4B5563"/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. </a:t>
            </a:r>
            <a:r>
              <a:rPr lang="ko-KR" altLang="en-US" sz="900" dirty="0">
                <a:solidFill>
                  <a:srgbClr val="4B5563"/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선택한 </a:t>
            </a:r>
            <a:r>
              <a:rPr lang="ko-KR" altLang="en-US" sz="900" dirty="0" smtClean="0">
                <a:solidFill>
                  <a:srgbClr val="4B5563"/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소스 타입에 </a:t>
            </a:r>
            <a:r>
              <a:rPr lang="ko-KR" altLang="en-US" sz="900" dirty="0">
                <a:solidFill>
                  <a:srgbClr val="4B5563"/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따라 추가 옵션을 제공하고 동작을 </a:t>
            </a:r>
            <a:r>
              <a:rPr lang="ko-KR" altLang="en-US" sz="900" dirty="0" smtClean="0">
                <a:solidFill>
                  <a:srgbClr val="4B5563"/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조정합니다</a:t>
            </a:r>
            <a:r>
              <a:rPr lang="en-US" altLang="ko-KR" sz="900" dirty="0" smtClean="0">
                <a:solidFill>
                  <a:srgbClr val="4B5563"/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.</a:t>
            </a:r>
            <a:endParaRPr lang="en-US" sz="900" dirty="0">
              <a:latin typeface="Noto Sans KR Light" panose="020B0200000000000000" pitchFamily="50" charset="-127"/>
              <a:ea typeface="Noto Sans KR Light" panose="020B0200000000000000" pitchFamily="50" charset="-127"/>
            </a:endParaRPr>
          </a:p>
        </p:txBody>
      </p:sp>
      <p:sp>
        <p:nvSpPr>
          <p:cNvPr id="151" name="Text 11"/>
          <p:cNvSpPr/>
          <p:nvPr/>
        </p:nvSpPr>
        <p:spPr>
          <a:xfrm>
            <a:off x="1073210" y="6235420"/>
            <a:ext cx="3682218" cy="35118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100"/>
              </a:lnSpc>
            </a:pPr>
            <a:r>
              <a:rPr lang="en-US" altLang="ko-KR" sz="900" dirty="0" smtClean="0">
                <a:solidFill>
                  <a:srgbClr val="4B5563"/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{}, {"</a:t>
            </a:r>
            <a:r>
              <a:rPr lang="en-US" altLang="ko-KR" sz="900" dirty="0" err="1">
                <a:solidFill>
                  <a:srgbClr val="4B5563"/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sep</a:t>
            </a:r>
            <a:r>
              <a:rPr lang="en-US" altLang="ko-KR" sz="900" dirty="0">
                <a:solidFill>
                  <a:srgbClr val="4B5563"/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": " </a:t>
            </a:r>
            <a:r>
              <a:rPr lang="en-US" altLang="ko-KR" sz="900" dirty="0" smtClean="0">
                <a:solidFill>
                  <a:srgbClr val="4B5563"/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"}, {"</a:t>
            </a:r>
            <a:r>
              <a:rPr lang="en-US" altLang="ko-KR" sz="900" dirty="0" err="1">
                <a:solidFill>
                  <a:srgbClr val="4B5563"/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sep</a:t>
            </a:r>
            <a:r>
              <a:rPr lang="en-US" altLang="ko-KR" sz="900" dirty="0">
                <a:solidFill>
                  <a:srgbClr val="4B5563"/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": " ", "header": 0, "names": ["column1", "column2"] }</a:t>
            </a:r>
            <a:endParaRPr lang="en-US" sz="900" dirty="0">
              <a:latin typeface="Noto Sans KR Light" panose="020B0200000000000000" pitchFamily="50" charset="-127"/>
              <a:ea typeface="Noto Sans KR Light" panose="020B0200000000000000" pitchFamily="50" charset="-127"/>
            </a:endParaRPr>
          </a:p>
        </p:txBody>
      </p:sp>
      <p:cxnSp>
        <p:nvCxnSpPr>
          <p:cNvPr id="24" name="직선 화살표 연결선 23"/>
          <p:cNvCxnSpPr>
            <a:stCxn id="144" idx="5"/>
          </p:cNvCxnSpPr>
          <p:nvPr/>
        </p:nvCxnSpPr>
        <p:spPr>
          <a:xfrm>
            <a:off x="1756396" y="5257148"/>
            <a:ext cx="191077" cy="4897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0" name="그룹 69"/>
          <p:cNvGrpSpPr/>
          <p:nvPr/>
        </p:nvGrpSpPr>
        <p:grpSpPr>
          <a:xfrm>
            <a:off x="8816936" y="5762368"/>
            <a:ext cx="645384" cy="258067"/>
            <a:chOff x="8641449" y="5762368"/>
            <a:chExt cx="645384" cy="258067"/>
          </a:xfrm>
        </p:grpSpPr>
        <p:pic>
          <p:nvPicPr>
            <p:cNvPr id="71" name="Image 18" descr="preencoded.png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8641449" y="5762368"/>
              <a:ext cx="645384" cy="258067"/>
            </a:xfrm>
            <a:prstGeom prst="rect">
              <a:avLst/>
            </a:prstGeom>
          </p:spPr>
        </p:pic>
        <p:pic>
          <p:nvPicPr>
            <p:cNvPr id="72" name="Image 19" descr="preencoded.png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9082489" y="5830488"/>
              <a:ext cx="111984" cy="127982"/>
            </a:xfrm>
            <a:prstGeom prst="rect">
              <a:avLst/>
            </a:prstGeom>
          </p:spPr>
        </p:pic>
        <p:sp>
          <p:nvSpPr>
            <p:cNvPr id="73" name="Text 13"/>
            <p:cNvSpPr/>
            <p:nvPr/>
          </p:nvSpPr>
          <p:spPr>
            <a:xfrm>
              <a:off x="8717189" y="5783152"/>
              <a:ext cx="307157" cy="187257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 algn="ctr">
                <a:lnSpc>
                  <a:spcPts val="1800"/>
                </a:lnSpc>
                <a:buNone/>
              </a:pPr>
              <a:r>
                <a:rPr lang="en-US" sz="1200" dirty="0">
                  <a:solidFill>
                    <a:srgbClr val="FFFFFF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다음</a:t>
              </a:r>
              <a:endParaRPr 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184403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1239520"/>
            <a:ext cx="9442386" cy="5008880"/>
          </a:xfrm>
          <a:prstGeom prst="rect">
            <a:avLst/>
          </a:prstGeom>
        </p:spPr>
      </p:pic>
      <p:sp>
        <p:nvSpPr>
          <p:cNvPr id="50" name="Text 21"/>
          <p:cNvSpPr/>
          <p:nvPr/>
        </p:nvSpPr>
        <p:spPr>
          <a:xfrm>
            <a:off x="304800" y="6362700"/>
            <a:ext cx="115824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50" dirty="0" smtClean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7/10</a:t>
            </a:r>
            <a:endParaRPr lang="en-US" sz="1050" dirty="0"/>
          </a:p>
        </p:txBody>
      </p:sp>
      <p:pic>
        <p:nvPicPr>
          <p:cNvPr id="51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800100"/>
            <a:ext cx="762000" cy="38100"/>
          </a:xfrm>
          <a:prstGeom prst="rect">
            <a:avLst/>
          </a:prstGeom>
        </p:spPr>
      </p:pic>
      <p:sp>
        <p:nvSpPr>
          <p:cNvPr id="52" name="Text 0"/>
          <p:cNvSpPr/>
          <p:nvPr/>
        </p:nvSpPr>
        <p:spPr>
          <a:xfrm>
            <a:off x="381000" y="381000"/>
            <a:ext cx="114300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indent="0">
              <a:lnSpc>
                <a:spcPts val="2700"/>
              </a:lnSpc>
              <a:buNone/>
            </a:pPr>
            <a:r>
              <a:rPr lang="ko-KR" altLang="en-US" sz="2250" b="1" dirty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커넥션 생성 </a:t>
            </a:r>
            <a:r>
              <a:rPr lang="en-US" altLang="ko-KR" sz="2250" b="1" dirty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- Source/Target </a:t>
            </a:r>
            <a:r>
              <a:rPr lang="ko-KR" altLang="en-US" sz="2250" b="1" dirty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설정 </a:t>
            </a:r>
            <a:r>
              <a:rPr lang="en-US" altLang="ko-KR" sz="2250" b="1" dirty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- API</a:t>
            </a:r>
            <a:r>
              <a:rPr lang="ko-KR" altLang="en-US" sz="2250" b="1" dirty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소스</a:t>
            </a:r>
            <a:endParaRPr lang="en-US" sz="2250" b="1" dirty="0">
              <a:solidFill>
                <a:srgbClr val="000000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</p:txBody>
      </p:sp>
      <p:sp>
        <p:nvSpPr>
          <p:cNvPr id="53" name="Text 1"/>
          <p:cNvSpPr/>
          <p:nvPr/>
        </p:nvSpPr>
        <p:spPr>
          <a:xfrm>
            <a:off x="457200" y="914400"/>
            <a:ext cx="11277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선택된 소스와 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MongoDB 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타겟에 대한 접속 정보 입력 및 연결 테스트 기능을 제공하는 화면입니다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200" dirty="0"/>
          </a:p>
        </p:txBody>
      </p:sp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299" y="1694180"/>
            <a:ext cx="8994299" cy="304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18079" y="1770380"/>
            <a:ext cx="121014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5300" y="2151380"/>
            <a:ext cx="136141" cy="190500"/>
          </a:xfrm>
          <a:prstGeom prst="rect">
            <a:avLst/>
          </a:prstGeom>
        </p:spPr>
      </p:pic>
      <p:sp>
        <p:nvSpPr>
          <p:cNvPr id="34" name="Text 5"/>
          <p:cNvSpPr/>
          <p:nvPr/>
        </p:nvSpPr>
        <p:spPr>
          <a:xfrm>
            <a:off x="2499601" y="1732280"/>
            <a:ext cx="38119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Kafka</a:t>
            </a:r>
            <a:endParaRPr lang="en-US" sz="1100" dirty="0"/>
          </a:p>
        </p:txBody>
      </p:sp>
      <p:sp>
        <p:nvSpPr>
          <p:cNvPr id="35" name="Text 6"/>
          <p:cNvSpPr/>
          <p:nvPr/>
        </p:nvSpPr>
        <p:spPr>
          <a:xfrm>
            <a:off x="691948" y="2113280"/>
            <a:ext cx="435651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Source 설정</a:t>
            </a:r>
            <a:endParaRPr lang="en-US" sz="1500" dirty="0"/>
          </a:p>
        </p:txBody>
      </p:sp>
      <p:pic>
        <p:nvPicPr>
          <p:cNvPr id="64" name="Image 5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52254" y="1239520"/>
            <a:ext cx="2265332" cy="5123180"/>
          </a:xfrm>
          <a:prstGeom prst="rect">
            <a:avLst/>
          </a:prstGeom>
        </p:spPr>
      </p:pic>
      <p:sp>
        <p:nvSpPr>
          <p:cNvPr id="65" name="Text 46"/>
          <p:cNvSpPr/>
          <p:nvPr/>
        </p:nvSpPr>
        <p:spPr>
          <a:xfrm>
            <a:off x="9924297" y="931338"/>
            <a:ext cx="208874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 smtClean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UI </a:t>
            </a:r>
            <a:r>
              <a:rPr lang="ko-KR" altLang="en-US" sz="1350" b="1" dirty="0" smtClean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설명</a:t>
            </a:r>
            <a:r>
              <a:rPr lang="en-US" sz="1350" b="1" dirty="0" smtClean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en-US" sz="1350" b="1" dirty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영역</a:t>
            </a:r>
            <a:endParaRPr lang="en-US" sz="1350" dirty="0"/>
          </a:p>
        </p:txBody>
      </p:sp>
      <p:sp>
        <p:nvSpPr>
          <p:cNvPr id="66" name="Text 20"/>
          <p:cNvSpPr/>
          <p:nvPr/>
        </p:nvSpPr>
        <p:spPr>
          <a:xfrm>
            <a:off x="9877290" y="1255188"/>
            <a:ext cx="2184606" cy="512444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200"/>
              </a:lnSpc>
            </a:pPr>
            <a:r>
              <a:rPr 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1.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새로운 </a:t>
            </a: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Source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추가 </a:t>
            </a:r>
            <a:r>
              <a:rPr lang="ko-KR" altLang="en-US" sz="1000" dirty="0" err="1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팝업창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띄우기</a:t>
            </a:r>
            <a:endParaRPr lang="en-US" altLang="ko-KR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endParaRPr lang="en-US" sz="1000" dirty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r>
              <a:rPr lang="en-US" sz="10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2</a:t>
            </a:r>
            <a:r>
              <a:rPr 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.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기존 등록된 목록 중 선택</a:t>
            </a:r>
            <a:endParaRPr lang="en-US" altLang="ko-KR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r>
              <a:rPr 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 -&gt;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아래 항목을 등록된 값으로 채움</a:t>
            </a:r>
            <a:endParaRPr lang="en-US" altLang="ko-KR" sz="1000" dirty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endParaRPr lang="en-US" sz="1000" dirty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r>
              <a:rPr lang="en-US" sz="10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3</a:t>
            </a:r>
            <a:r>
              <a:rPr 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.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소스 타입 선택</a:t>
            </a:r>
            <a:endParaRPr lang="en-US" altLang="ko-KR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r>
              <a:rPr lang="en-US" sz="10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-&gt; REST API, SOAP, </a:t>
            </a:r>
            <a:r>
              <a:rPr lang="en-US" sz="1000" dirty="0" err="1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GraphQL</a:t>
            </a:r>
            <a:r>
              <a:rPr 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, </a:t>
            </a:r>
            <a:r>
              <a:rPr lang="en-US" sz="1000" dirty="0" err="1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WebSocket</a:t>
            </a:r>
            <a:r>
              <a:rPr 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등</a:t>
            </a:r>
            <a:endParaRPr lang="en-US" altLang="ko-KR" sz="1000" dirty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 -&gt; REST API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제외 </a:t>
            </a: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API Action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확인</a:t>
            </a:r>
            <a:endParaRPr lang="en-US" altLang="ko-KR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endParaRPr lang="en-US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r>
              <a:rPr 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4. API Action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의 </a:t>
            </a: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Endpoint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와 합쳐서 실제 </a:t>
            </a: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Action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이 수행됨</a:t>
            </a:r>
            <a:endParaRPr lang="en-US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endParaRPr lang="en-US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r>
              <a:rPr 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5. GET, POST, PUT, DELETE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등 선택</a:t>
            </a:r>
            <a:endParaRPr lang="en-US" sz="1000" dirty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r>
              <a:rPr lang="en-US" sz="10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-&gt; GET: Request </a:t>
            </a:r>
            <a:r>
              <a:rPr lang="en-US" sz="1000" dirty="0" err="1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Param</a:t>
            </a:r>
            <a:r>
              <a:rPr 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노출</a:t>
            </a:r>
            <a:endParaRPr lang="en-US" altLang="ko-KR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r>
              <a:rPr lang="en-US" sz="10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-&gt; GET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이외</a:t>
            </a: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: Request Body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노출</a:t>
            </a:r>
            <a:endParaRPr lang="en-US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endParaRPr lang="en-US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r>
              <a:rPr 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6. Authentication</a:t>
            </a: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선택</a:t>
            </a:r>
            <a:endParaRPr lang="en-US" altLang="ko-KR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r>
              <a:rPr lang="en-US" altLang="ko-KR" sz="10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  (</a:t>
            </a:r>
            <a:r>
              <a:rPr lang="en-US" altLang="ko-KR" sz="10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API </a:t>
            </a: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Key, Bearer Token, </a:t>
            </a:r>
            <a:r>
              <a:rPr lang="en-US" altLang="ko-KR" sz="10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Basic </a:t>
            </a:r>
            <a:r>
              <a:rPr lang="en-US" altLang="ko-KR" sz="1000" dirty="0" err="1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Auth</a:t>
            </a: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, OAuth 2.0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등</a:t>
            </a: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)</a:t>
            </a:r>
          </a:p>
          <a:p>
            <a:pPr>
              <a:lnSpc>
                <a:spcPts val="1200"/>
              </a:lnSpc>
            </a:pPr>
            <a:r>
              <a:rPr lang="en-US" altLang="ko-KR" sz="10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-&gt;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선택한 값에 따라 아래 항목 변경</a:t>
            </a:r>
            <a:endParaRPr lang="en-US" altLang="ko-KR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endParaRPr lang="en-US" altLang="ko-KR" sz="1000" dirty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7.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솔루션 서버에서 </a:t>
            </a: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JWT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토큰을 발생하는 기능 추가</a:t>
            </a: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,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전달 받은 토큰을 솔루션 서버에 전송</a:t>
            </a:r>
            <a:endParaRPr lang="en-US" altLang="ko-KR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endParaRPr lang="en-US" altLang="ko-KR" sz="1000" dirty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8. Header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의 </a:t>
            </a:r>
            <a:r>
              <a:rPr lang="en-US" altLang="ko-KR" sz="1000" dirty="0" err="1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id:pwd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를 </a:t>
            </a: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Encryption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에서 선택한 방식으로 암호화 후 전송</a:t>
            </a:r>
            <a:endParaRPr lang="en-US" altLang="ko-KR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endParaRPr lang="en-US" altLang="ko-KR" sz="1000" dirty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9. Client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토큰 발생 후 응답 받은 </a:t>
            </a: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access token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으로 </a:t>
            </a: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Bearer Token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처럼</a:t>
            </a: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사용</a:t>
            </a:r>
            <a:r>
              <a:rPr lang="en-US" altLang="ko-KR" sz="10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, </a:t>
            </a:r>
            <a:r>
              <a:rPr lang="en-US" altLang="ko-KR" sz="1000" dirty="0" err="1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authorization_code</a:t>
            </a: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고려 필요</a:t>
            </a:r>
            <a:endParaRPr lang="en-US" altLang="ko-KR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-&gt; </a:t>
            </a:r>
            <a:r>
              <a:rPr lang="en-US" altLang="ko-KR" sz="1000" dirty="0" err="1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refresh_token</a:t>
            </a: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사용해 </a:t>
            </a:r>
            <a:r>
              <a:rPr lang="ko-KR" altLang="en-US" sz="1000" dirty="0" err="1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만료시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새 토큰 생성 기능 추가</a:t>
            </a:r>
            <a:endParaRPr lang="en-US" altLang="ko-KR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</p:txBody>
      </p:sp>
      <p:pic>
        <p:nvPicPr>
          <p:cNvPr id="113" name="Image 5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52068" y="1689489"/>
            <a:ext cx="589945" cy="304800"/>
          </a:xfrm>
          <a:prstGeom prst="rect">
            <a:avLst/>
          </a:prstGeom>
        </p:spPr>
      </p:pic>
      <p:grpSp>
        <p:nvGrpSpPr>
          <p:cNvPr id="5" name="그룹 4"/>
          <p:cNvGrpSpPr/>
          <p:nvPr/>
        </p:nvGrpSpPr>
        <p:grpSpPr>
          <a:xfrm>
            <a:off x="1176006" y="1732280"/>
            <a:ext cx="423550" cy="228600"/>
            <a:chOff x="1176006" y="1732280"/>
            <a:chExt cx="423550" cy="228600"/>
          </a:xfrm>
        </p:grpSpPr>
        <p:pic>
          <p:nvPicPr>
            <p:cNvPr id="9" name="Image 7" descr="preencoded.png"/>
            <p:cNvPicPr>
              <a:picLocks noChangeAspect="1"/>
            </p:cNvPicPr>
            <p:nvPr/>
          </p:nvPicPr>
          <p:blipFill>
            <a:blip r:embed="rId12">
              <a:duotone>
                <a:prstClr val="black"/>
                <a:srgbClr val="D9C3A5">
                  <a:tint val="50000"/>
                  <a:satMod val="180000"/>
                </a:srgbClr>
              </a:duotone>
            </a:blip>
            <a:stretch>
              <a:fillRect/>
            </a:stretch>
          </p:blipFill>
          <p:spPr>
            <a:xfrm>
              <a:off x="1176006" y="1770380"/>
              <a:ext cx="90761" cy="152400"/>
            </a:xfrm>
            <a:prstGeom prst="rect">
              <a:avLst/>
            </a:prstGeom>
          </p:spPr>
        </p:pic>
        <p:sp>
          <p:nvSpPr>
            <p:cNvPr id="32" name="Text 3"/>
            <p:cNvSpPr/>
            <p:nvPr/>
          </p:nvSpPr>
          <p:spPr>
            <a:xfrm>
              <a:off x="1327274" y="1732280"/>
              <a:ext cx="272282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100" dirty="0"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파일</a:t>
              </a:r>
              <a:endParaRPr lang="en-US" sz="1100" dirty="0"/>
            </a:p>
          </p:txBody>
        </p:sp>
      </p:grpSp>
      <p:grpSp>
        <p:nvGrpSpPr>
          <p:cNvPr id="15" name="그룹 14"/>
          <p:cNvGrpSpPr/>
          <p:nvPr/>
        </p:nvGrpSpPr>
        <p:grpSpPr>
          <a:xfrm>
            <a:off x="603701" y="1741733"/>
            <a:ext cx="456829" cy="228600"/>
            <a:chOff x="586061" y="1732280"/>
            <a:chExt cx="456829" cy="228600"/>
          </a:xfrm>
        </p:grpSpPr>
        <p:pic>
          <p:nvPicPr>
            <p:cNvPr id="8" name="Image 6" descr="preencoded.pn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586061" y="1770380"/>
              <a:ext cx="105888" cy="15240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</p:pic>
        <p:sp>
          <p:nvSpPr>
            <p:cNvPr id="31" name="Text 2"/>
            <p:cNvSpPr/>
            <p:nvPr/>
          </p:nvSpPr>
          <p:spPr>
            <a:xfrm>
              <a:off x="752455" y="1732280"/>
              <a:ext cx="290435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100" dirty="0">
                  <a:solidFill>
                    <a:srgbClr val="33333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RDB</a:t>
              </a:r>
            </a:p>
          </p:txBody>
        </p:sp>
      </p:grpSp>
      <p:grpSp>
        <p:nvGrpSpPr>
          <p:cNvPr id="7" name="그룹 6"/>
          <p:cNvGrpSpPr/>
          <p:nvPr/>
        </p:nvGrpSpPr>
        <p:grpSpPr>
          <a:xfrm>
            <a:off x="1735698" y="1732280"/>
            <a:ext cx="438677" cy="228600"/>
            <a:chOff x="1735698" y="1732280"/>
            <a:chExt cx="438677" cy="228600"/>
          </a:xfrm>
        </p:grpSpPr>
        <p:pic>
          <p:nvPicPr>
            <p:cNvPr id="10" name="Image 8" descr="preencoded.png"/>
            <p:cNvPicPr>
              <a:picLocks noChangeAspect="1"/>
            </p:cNvPicPr>
            <p:nvPr/>
          </p:nvPicPr>
          <p:blipFill>
            <a:blip r:embed="rId14">
              <a:lum bright="70000" contrast="-70000"/>
            </a:blip>
            <a:stretch>
              <a:fillRect/>
            </a:stretch>
          </p:blipFill>
          <p:spPr>
            <a:xfrm>
              <a:off x="1735698" y="1770380"/>
              <a:ext cx="151268" cy="152400"/>
            </a:xfrm>
            <a:prstGeom prst="rect">
              <a:avLst/>
            </a:prstGeom>
          </p:spPr>
        </p:pic>
        <p:sp>
          <p:nvSpPr>
            <p:cNvPr id="33" name="Text 4"/>
            <p:cNvSpPr/>
            <p:nvPr/>
          </p:nvSpPr>
          <p:spPr>
            <a:xfrm>
              <a:off x="1947473" y="1732280"/>
              <a:ext cx="226902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100" dirty="0">
                  <a:solidFill>
                    <a:schemeClr val="bg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API</a:t>
              </a:r>
              <a:endParaRPr lang="en-US" sz="1100" dirty="0">
                <a:solidFill>
                  <a:schemeClr val="bg1"/>
                </a:solidFill>
              </a:endParaRPr>
            </a:p>
          </p:txBody>
        </p:sp>
      </p:grpSp>
      <p:pic>
        <p:nvPicPr>
          <p:cNvPr id="119" name="Image 11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5300" y="2456180"/>
            <a:ext cx="4356519" cy="3601720"/>
          </a:xfrm>
          <a:prstGeom prst="rect">
            <a:avLst/>
          </a:prstGeom>
        </p:spPr>
      </p:pic>
      <p:pic>
        <p:nvPicPr>
          <p:cNvPr id="122" name="Image 20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60591" y="2789202"/>
            <a:ext cx="4235505" cy="230806"/>
          </a:xfrm>
          <a:prstGeom prst="rect">
            <a:avLst/>
          </a:prstGeom>
        </p:spPr>
      </p:pic>
      <p:sp>
        <p:nvSpPr>
          <p:cNvPr id="123" name="Text 14"/>
          <p:cNvSpPr/>
          <p:nvPr/>
        </p:nvSpPr>
        <p:spPr>
          <a:xfrm>
            <a:off x="560591" y="2607257"/>
            <a:ext cx="423550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Connection</a:t>
            </a:r>
            <a:r>
              <a:rPr lang="en-US" altLang="ko-KR" sz="1050" dirty="0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Name</a:t>
            </a:r>
            <a:endParaRPr lang="en-US" sz="1050" dirty="0">
              <a:solidFill>
                <a:srgbClr val="4B5563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</p:txBody>
      </p:sp>
      <p:sp>
        <p:nvSpPr>
          <p:cNvPr id="125" name="순서도: 병합 124"/>
          <p:cNvSpPr/>
          <p:nvPr/>
        </p:nvSpPr>
        <p:spPr>
          <a:xfrm>
            <a:off x="4628070" y="2850744"/>
            <a:ext cx="89825" cy="133350"/>
          </a:xfrm>
          <a:prstGeom prst="flowChartMerg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26" name="그룹 125"/>
          <p:cNvGrpSpPr/>
          <p:nvPr/>
        </p:nvGrpSpPr>
        <p:grpSpPr>
          <a:xfrm>
            <a:off x="4309667" y="2596695"/>
            <a:ext cx="544832" cy="146507"/>
            <a:chOff x="4309667" y="2596695"/>
            <a:chExt cx="544832" cy="146507"/>
          </a:xfrm>
        </p:grpSpPr>
        <p:pic>
          <p:nvPicPr>
            <p:cNvPr id="127" name="Image 21" descr="preencoded.png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4309667" y="2596695"/>
              <a:ext cx="472782" cy="146507"/>
            </a:xfrm>
            <a:prstGeom prst="rect">
              <a:avLst/>
            </a:prstGeom>
          </p:spPr>
        </p:pic>
        <p:sp>
          <p:nvSpPr>
            <p:cNvPr id="128" name="Text 12"/>
            <p:cNvSpPr/>
            <p:nvPr/>
          </p:nvSpPr>
          <p:spPr>
            <a:xfrm>
              <a:off x="4366759" y="2609852"/>
              <a:ext cx="487740" cy="13335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 algn="ctr">
                <a:lnSpc>
                  <a:spcPts val="1200"/>
                </a:lnSpc>
                <a:buNone/>
              </a:pPr>
              <a:r>
                <a:rPr lang="en-US" sz="900" dirty="0">
                  <a:solidFill>
                    <a:srgbClr val="FFFFFF"/>
                  </a:solidFill>
                  <a:latin typeface="Nanum Gothic" pitchFamily="34" charset="0"/>
                  <a:ea typeface="Nanum Gothic" pitchFamily="34" charset="-122"/>
                  <a:cs typeface="Nanum Gothic" pitchFamily="34" charset="-120"/>
                </a:rPr>
                <a:t> </a:t>
              </a:r>
              <a:r>
                <a:rPr lang="en-US" sz="900" dirty="0" err="1" smtClean="0">
                  <a:solidFill>
                    <a:srgbClr val="FFFFFF"/>
                  </a:solidFill>
                  <a:latin typeface="Nanum Gothic" pitchFamily="34" charset="0"/>
                  <a:ea typeface="Nanum Gothic" pitchFamily="34" charset="-122"/>
                  <a:cs typeface="Nanum Gothic" pitchFamily="34" charset="-120"/>
                </a:rPr>
                <a:t>추가</a:t>
              </a:r>
              <a:endParaRPr lang="en-US" sz="900" dirty="0"/>
            </a:p>
          </p:txBody>
        </p:sp>
        <p:pic>
          <p:nvPicPr>
            <p:cNvPr id="129" name="Image 22" descr="preencoded.png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4366759" y="2629760"/>
              <a:ext cx="90000" cy="108000"/>
            </a:xfrm>
            <a:prstGeom prst="rect">
              <a:avLst/>
            </a:prstGeom>
          </p:spPr>
        </p:pic>
      </p:grpSp>
      <p:sp>
        <p:nvSpPr>
          <p:cNvPr id="130" name="Text 8"/>
          <p:cNvSpPr/>
          <p:nvPr/>
        </p:nvSpPr>
        <p:spPr>
          <a:xfrm>
            <a:off x="626940" y="2801035"/>
            <a:ext cx="4235505" cy="21105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ko-KR" altLang="en-US" sz="1100" dirty="0" smtClean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</a:rPr>
              <a:t>선택</a:t>
            </a:r>
            <a:endParaRPr lang="en-US" sz="1100" dirty="0"/>
          </a:p>
        </p:txBody>
      </p:sp>
      <p:pic>
        <p:nvPicPr>
          <p:cNvPr id="131" name="Image 12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62960" y="3283075"/>
            <a:ext cx="4235505" cy="254596"/>
          </a:xfrm>
          <a:prstGeom prst="rect">
            <a:avLst/>
          </a:prstGeom>
        </p:spPr>
      </p:pic>
      <p:sp>
        <p:nvSpPr>
          <p:cNvPr id="132" name="Text 7"/>
          <p:cNvSpPr/>
          <p:nvPr/>
        </p:nvSpPr>
        <p:spPr>
          <a:xfrm>
            <a:off x="562960" y="3101130"/>
            <a:ext cx="423550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Source Type</a:t>
            </a:r>
            <a:endParaRPr lang="en-US" altLang="ko-KR" sz="1050" dirty="0"/>
          </a:p>
        </p:txBody>
      </p:sp>
      <p:sp>
        <p:nvSpPr>
          <p:cNvPr id="134" name="Text 8"/>
          <p:cNvSpPr/>
          <p:nvPr/>
        </p:nvSpPr>
        <p:spPr>
          <a:xfrm>
            <a:off x="653721" y="3283075"/>
            <a:ext cx="4235505" cy="22306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altLang="ko-KR" sz="1100" dirty="0" smtClean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REST API</a:t>
            </a:r>
            <a:endParaRPr lang="en-US" sz="1100" dirty="0"/>
          </a:p>
        </p:txBody>
      </p:sp>
      <p:sp>
        <p:nvSpPr>
          <p:cNvPr id="135" name="순서도: 병합 134"/>
          <p:cNvSpPr/>
          <p:nvPr/>
        </p:nvSpPr>
        <p:spPr>
          <a:xfrm>
            <a:off x="4616263" y="3337672"/>
            <a:ext cx="89825" cy="133350"/>
          </a:xfrm>
          <a:prstGeom prst="flowChartMerg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7" name="타원 136">
            <a:extLst>
              <a:ext uri="{FF2B5EF4-FFF2-40B4-BE49-F238E27FC236}">
                <a16:creationId xmlns:a16="http://schemas.microsoft.com/office/drawing/2014/main" id="{4D9049EB-70D8-4995-9DBA-68C2EE93E2F4}"/>
              </a:ext>
            </a:extLst>
          </p:cNvPr>
          <p:cNvSpPr/>
          <p:nvPr/>
        </p:nvSpPr>
        <p:spPr>
          <a:xfrm>
            <a:off x="387467" y="2822567"/>
            <a:ext cx="183750" cy="178979"/>
          </a:xfrm>
          <a:prstGeom prst="ellipse">
            <a:avLst/>
          </a:prstGeom>
          <a:solidFill>
            <a:srgbClr val="FF0000"/>
          </a:solidFill>
          <a:ln w="15875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endParaRPr lang="ko-KR" altLang="en-US" sz="10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5" name="타원 144">
            <a:extLst>
              <a:ext uri="{FF2B5EF4-FFF2-40B4-BE49-F238E27FC236}">
                <a16:creationId xmlns:a16="http://schemas.microsoft.com/office/drawing/2014/main" id="{4D9049EB-70D8-4995-9DBA-68C2EE93E2F4}"/>
              </a:ext>
            </a:extLst>
          </p:cNvPr>
          <p:cNvSpPr/>
          <p:nvPr/>
        </p:nvSpPr>
        <p:spPr>
          <a:xfrm>
            <a:off x="377368" y="3320883"/>
            <a:ext cx="183750" cy="178979"/>
          </a:xfrm>
          <a:prstGeom prst="ellipse">
            <a:avLst/>
          </a:prstGeom>
          <a:solidFill>
            <a:srgbClr val="FF0000"/>
          </a:solidFill>
          <a:ln w="15875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endParaRPr lang="ko-KR" altLang="en-US" sz="10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6" name="타원 145">
            <a:extLst>
              <a:ext uri="{FF2B5EF4-FFF2-40B4-BE49-F238E27FC236}">
                <a16:creationId xmlns:a16="http://schemas.microsoft.com/office/drawing/2014/main" id="{4D9049EB-70D8-4995-9DBA-68C2EE93E2F4}"/>
              </a:ext>
            </a:extLst>
          </p:cNvPr>
          <p:cNvSpPr/>
          <p:nvPr/>
        </p:nvSpPr>
        <p:spPr>
          <a:xfrm>
            <a:off x="4152755" y="2582274"/>
            <a:ext cx="183750" cy="178979"/>
          </a:xfrm>
          <a:prstGeom prst="ellipse">
            <a:avLst/>
          </a:prstGeom>
          <a:solidFill>
            <a:srgbClr val="FF0000"/>
          </a:solidFill>
          <a:ln w="15875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sz="10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63" name="Image 12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54403" y="3751235"/>
            <a:ext cx="4235505" cy="220517"/>
          </a:xfrm>
          <a:prstGeom prst="rect">
            <a:avLst/>
          </a:prstGeom>
        </p:spPr>
      </p:pic>
      <p:sp>
        <p:nvSpPr>
          <p:cNvPr id="164" name="Text 7"/>
          <p:cNvSpPr/>
          <p:nvPr/>
        </p:nvSpPr>
        <p:spPr>
          <a:xfrm>
            <a:off x="554403" y="3569290"/>
            <a:ext cx="423550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API Bae URL</a:t>
            </a:r>
          </a:p>
        </p:txBody>
      </p:sp>
      <p:sp>
        <p:nvSpPr>
          <p:cNvPr id="165" name="Text 8"/>
          <p:cNvSpPr/>
          <p:nvPr/>
        </p:nvSpPr>
        <p:spPr>
          <a:xfrm>
            <a:off x="645164" y="3751235"/>
            <a:ext cx="4235505" cy="22306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100" dirty="0"/>
          </a:p>
        </p:txBody>
      </p:sp>
      <p:pic>
        <p:nvPicPr>
          <p:cNvPr id="198" name="Image 11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071991" y="2456180"/>
            <a:ext cx="4356519" cy="3601720"/>
          </a:xfrm>
          <a:prstGeom prst="rect">
            <a:avLst/>
          </a:prstGeom>
        </p:spPr>
      </p:pic>
      <p:sp>
        <p:nvSpPr>
          <p:cNvPr id="212" name="Text 12"/>
          <p:cNvSpPr/>
          <p:nvPr/>
        </p:nvSpPr>
        <p:spPr>
          <a:xfrm>
            <a:off x="708416" y="4272591"/>
            <a:ext cx="4235505" cy="2283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100" dirty="0"/>
          </a:p>
        </p:txBody>
      </p:sp>
      <p:sp>
        <p:nvSpPr>
          <p:cNvPr id="222" name="Text 7"/>
          <p:cNvSpPr/>
          <p:nvPr/>
        </p:nvSpPr>
        <p:spPr>
          <a:xfrm>
            <a:off x="598067" y="4085830"/>
            <a:ext cx="1789567" cy="19986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API Action</a:t>
            </a:r>
            <a:endParaRPr lang="en-US" sz="1050" dirty="0"/>
          </a:p>
        </p:txBody>
      </p:sp>
      <p:sp>
        <p:nvSpPr>
          <p:cNvPr id="223" name="Text 12"/>
          <p:cNvSpPr/>
          <p:nvPr/>
        </p:nvSpPr>
        <p:spPr>
          <a:xfrm>
            <a:off x="708416" y="4808306"/>
            <a:ext cx="4235505" cy="2283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100" dirty="0"/>
          </a:p>
        </p:txBody>
      </p:sp>
      <p:pic>
        <p:nvPicPr>
          <p:cNvPr id="224" name="Image 27" descr="preencoded.png"/>
          <p:cNvPicPr>
            <a:picLocks noChangeAspect="1"/>
          </p:cNvPicPr>
          <p:nvPr/>
        </p:nvPicPr>
        <p:blipFill>
          <a:blip r:embed="rId19">
            <a:clrChange>
              <a:clrFrom>
                <a:srgbClr val="F3F4F6"/>
              </a:clrFrom>
              <a:clrTo>
                <a:srgbClr val="F3F4F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78312" y="4333457"/>
            <a:ext cx="4204137" cy="1191757"/>
          </a:xfrm>
          <a:prstGeom prst="rect">
            <a:avLst/>
          </a:prstGeom>
          <a:solidFill>
            <a:schemeClr val="bg1"/>
          </a:solidFill>
        </p:spPr>
      </p:pic>
      <p:grpSp>
        <p:nvGrpSpPr>
          <p:cNvPr id="226" name="그룹 225"/>
          <p:cNvGrpSpPr/>
          <p:nvPr/>
        </p:nvGrpSpPr>
        <p:grpSpPr>
          <a:xfrm>
            <a:off x="1486186" y="4398660"/>
            <a:ext cx="975394" cy="228942"/>
            <a:chOff x="1388510" y="4773101"/>
            <a:chExt cx="720000" cy="175706"/>
          </a:xfrm>
        </p:grpSpPr>
        <p:pic>
          <p:nvPicPr>
            <p:cNvPr id="227" name="Image 12" descr="preencoded.png"/>
            <p:cNvPicPr>
              <a:picLocks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388510" y="4804807"/>
              <a:ext cx="720000" cy="144000"/>
            </a:xfrm>
            <a:prstGeom prst="rect">
              <a:avLst/>
            </a:prstGeom>
            <a:ln>
              <a:solidFill>
                <a:schemeClr val="bg2">
                  <a:lumMod val="50000"/>
                </a:schemeClr>
              </a:solidFill>
            </a:ln>
          </p:spPr>
        </p:pic>
        <p:sp>
          <p:nvSpPr>
            <p:cNvPr id="228" name="Text 8"/>
            <p:cNvSpPr/>
            <p:nvPr/>
          </p:nvSpPr>
          <p:spPr>
            <a:xfrm>
              <a:off x="1425386" y="4773101"/>
              <a:ext cx="673888" cy="1728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800" dirty="0" smtClean="0">
                  <a:solidFill>
                    <a:srgbClr val="333333"/>
                  </a:solidFill>
                  <a:latin typeface="Noto Sans KR" pitchFamily="34" charset="0"/>
                  <a:ea typeface="Noto Sans KR" pitchFamily="34" charset="-122"/>
                </a:rPr>
                <a:t>GET</a:t>
              </a:r>
              <a:endParaRPr lang="en-US" sz="800" dirty="0"/>
            </a:p>
          </p:txBody>
        </p:sp>
      </p:grpSp>
      <p:sp>
        <p:nvSpPr>
          <p:cNvPr id="229" name="Text 7"/>
          <p:cNvSpPr/>
          <p:nvPr/>
        </p:nvSpPr>
        <p:spPr>
          <a:xfrm>
            <a:off x="684604" y="4415217"/>
            <a:ext cx="648081" cy="1534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800" dirty="0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HTTP Method</a:t>
            </a:r>
            <a:endParaRPr lang="en-US" sz="800" dirty="0">
              <a:solidFill>
                <a:srgbClr val="4B5563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</p:txBody>
      </p:sp>
      <p:grpSp>
        <p:nvGrpSpPr>
          <p:cNvPr id="230" name="그룹 229"/>
          <p:cNvGrpSpPr/>
          <p:nvPr/>
        </p:nvGrpSpPr>
        <p:grpSpPr>
          <a:xfrm>
            <a:off x="3014056" y="4400082"/>
            <a:ext cx="1692032" cy="226502"/>
            <a:chOff x="1388510" y="4758925"/>
            <a:chExt cx="720000" cy="182444"/>
          </a:xfrm>
        </p:grpSpPr>
        <p:pic>
          <p:nvPicPr>
            <p:cNvPr id="231" name="Image 12" descr="preencoded.png"/>
            <p:cNvPicPr>
              <a:picLocks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388510" y="4807029"/>
              <a:ext cx="720000" cy="134340"/>
            </a:xfrm>
            <a:prstGeom prst="rect">
              <a:avLst/>
            </a:prstGeom>
            <a:ln>
              <a:solidFill>
                <a:schemeClr val="bg2">
                  <a:lumMod val="50000"/>
                </a:schemeClr>
              </a:solidFill>
            </a:ln>
          </p:spPr>
        </p:pic>
        <p:sp>
          <p:nvSpPr>
            <p:cNvPr id="232" name="Text 8"/>
            <p:cNvSpPr/>
            <p:nvPr/>
          </p:nvSpPr>
          <p:spPr>
            <a:xfrm>
              <a:off x="1425386" y="4758925"/>
              <a:ext cx="673888" cy="1728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800" dirty="0" smtClean="0">
                  <a:solidFill>
                    <a:srgbClr val="33333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/v1/users</a:t>
              </a:r>
              <a:endParaRPr lang="en-US" sz="800" dirty="0"/>
            </a:p>
          </p:txBody>
        </p:sp>
      </p:grpSp>
      <p:sp>
        <p:nvSpPr>
          <p:cNvPr id="233" name="Text 7"/>
          <p:cNvSpPr/>
          <p:nvPr/>
        </p:nvSpPr>
        <p:spPr>
          <a:xfrm>
            <a:off x="2517270" y="4416611"/>
            <a:ext cx="648081" cy="1534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800" dirty="0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Endpoint</a:t>
            </a:r>
            <a:endParaRPr lang="en-US" sz="800" dirty="0">
              <a:solidFill>
                <a:srgbClr val="4B5563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</p:txBody>
      </p:sp>
      <p:sp>
        <p:nvSpPr>
          <p:cNvPr id="234" name="Text 7"/>
          <p:cNvSpPr/>
          <p:nvPr/>
        </p:nvSpPr>
        <p:spPr>
          <a:xfrm>
            <a:off x="668817" y="4701513"/>
            <a:ext cx="761885" cy="13143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800" dirty="0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Request </a:t>
            </a:r>
            <a:r>
              <a:rPr lang="en-US" sz="800" dirty="0" err="1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Param</a:t>
            </a:r>
            <a:endParaRPr lang="en-US" sz="800" dirty="0">
              <a:solidFill>
                <a:srgbClr val="4B5563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</p:txBody>
      </p:sp>
      <p:sp>
        <p:nvSpPr>
          <p:cNvPr id="235" name="Text 7"/>
          <p:cNvSpPr/>
          <p:nvPr/>
        </p:nvSpPr>
        <p:spPr>
          <a:xfrm>
            <a:off x="679574" y="4924521"/>
            <a:ext cx="761885" cy="13143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800" dirty="0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Request Body</a:t>
            </a:r>
            <a:endParaRPr lang="en-US" sz="800" dirty="0">
              <a:solidFill>
                <a:srgbClr val="4B5563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</p:txBody>
      </p:sp>
      <p:grpSp>
        <p:nvGrpSpPr>
          <p:cNvPr id="236" name="그룹 235"/>
          <p:cNvGrpSpPr/>
          <p:nvPr/>
        </p:nvGrpSpPr>
        <p:grpSpPr>
          <a:xfrm>
            <a:off x="1505674" y="4650302"/>
            <a:ext cx="3210077" cy="226403"/>
            <a:chOff x="1388510" y="4758925"/>
            <a:chExt cx="720000" cy="218760"/>
          </a:xfrm>
        </p:grpSpPr>
        <p:pic>
          <p:nvPicPr>
            <p:cNvPr id="237" name="Image 12" descr="preencoded.png"/>
            <p:cNvPicPr>
              <a:picLocks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388510" y="4804807"/>
              <a:ext cx="720000" cy="172878"/>
            </a:xfrm>
            <a:prstGeom prst="rect">
              <a:avLst/>
            </a:prstGeom>
            <a:ln>
              <a:solidFill>
                <a:schemeClr val="bg2">
                  <a:lumMod val="50000"/>
                </a:schemeClr>
              </a:solidFill>
            </a:ln>
          </p:spPr>
        </p:pic>
        <p:sp>
          <p:nvSpPr>
            <p:cNvPr id="238" name="Text 8"/>
            <p:cNvSpPr/>
            <p:nvPr/>
          </p:nvSpPr>
          <p:spPr>
            <a:xfrm>
              <a:off x="1398005" y="4758925"/>
              <a:ext cx="701269" cy="21876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>
                <a:lnSpc>
                  <a:spcPts val="1800"/>
                </a:lnSpc>
              </a:pPr>
              <a:r>
                <a:rPr lang="en-US" sz="800" dirty="0">
                  <a:solidFill>
                    <a:srgbClr val="333333"/>
                  </a:solidFill>
                  <a:latin typeface="Noto Sans KR" pitchFamily="34" charset="0"/>
                  <a:ea typeface="Noto Sans KR" pitchFamily="34" charset="-122"/>
                </a:rPr>
                <a:t>?page=2&amp;limit=10</a:t>
              </a:r>
              <a:endParaRPr lang="en-US" sz="800" dirty="0"/>
            </a:p>
          </p:txBody>
        </p:sp>
      </p:grpSp>
      <p:grpSp>
        <p:nvGrpSpPr>
          <p:cNvPr id="239" name="그룹 238"/>
          <p:cNvGrpSpPr/>
          <p:nvPr/>
        </p:nvGrpSpPr>
        <p:grpSpPr>
          <a:xfrm>
            <a:off x="1487401" y="4905761"/>
            <a:ext cx="3230494" cy="492992"/>
            <a:chOff x="1388510" y="4758925"/>
            <a:chExt cx="2891364" cy="492992"/>
          </a:xfrm>
        </p:grpSpPr>
        <p:pic>
          <p:nvPicPr>
            <p:cNvPr id="240" name="Image 12" descr="preencoded.png"/>
            <p:cNvPicPr>
              <a:picLocks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388510" y="4804807"/>
              <a:ext cx="2891364" cy="447110"/>
            </a:xfrm>
            <a:prstGeom prst="rect">
              <a:avLst/>
            </a:prstGeom>
            <a:ln>
              <a:solidFill>
                <a:schemeClr val="bg2">
                  <a:lumMod val="50000"/>
                </a:schemeClr>
              </a:solidFill>
            </a:ln>
          </p:spPr>
        </p:pic>
        <p:sp>
          <p:nvSpPr>
            <p:cNvPr id="241" name="Text 8"/>
            <p:cNvSpPr/>
            <p:nvPr/>
          </p:nvSpPr>
          <p:spPr>
            <a:xfrm>
              <a:off x="1434621" y="4758925"/>
              <a:ext cx="2817633" cy="492992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r>
                <a:rPr lang="en-US" sz="800" dirty="0">
                  <a:solidFill>
                    <a:srgbClr val="333333"/>
                  </a:solidFill>
                  <a:latin typeface="Noto Sans KR" pitchFamily="34" charset="0"/>
                  <a:ea typeface="Noto Sans KR" pitchFamily="34" charset="-122"/>
                </a:rPr>
                <a:t>{</a:t>
              </a:r>
            </a:p>
            <a:p>
              <a:r>
                <a:rPr lang="en-US" sz="800" dirty="0">
                  <a:solidFill>
                    <a:srgbClr val="333333"/>
                  </a:solidFill>
                  <a:latin typeface="Noto Sans KR" pitchFamily="34" charset="0"/>
                  <a:ea typeface="Noto Sans KR" pitchFamily="34" charset="-122"/>
                </a:rPr>
                <a:t>  "name": "</a:t>
              </a:r>
              <a:r>
                <a:rPr lang="en-US" sz="800" dirty="0" err="1">
                  <a:solidFill>
                    <a:srgbClr val="333333"/>
                  </a:solidFill>
                  <a:latin typeface="Noto Sans KR" pitchFamily="34" charset="0"/>
                  <a:ea typeface="Noto Sans KR" pitchFamily="34" charset="-122"/>
                </a:rPr>
                <a:t>hong</a:t>
              </a:r>
              <a:r>
                <a:rPr lang="en-US" sz="800" dirty="0">
                  <a:solidFill>
                    <a:srgbClr val="333333"/>
                  </a:solidFill>
                  <a:latin typeface="Noto Sans KR" pitchFamily="34" charset="0"/>
                  <a:ea typeface="Noto Sans KR" pitchFamily="34" charset="-122"/>
                </a:rPr>
                <a:t>", "email": "hong@example.com"</a:t>
              </a:r>
            </a:p>
            <a:p>
              <a:r>
                <a:rPr lang="en-US" sz="800" dirty="0">
                  <a:solidFill>
                    <a:srgbClr val="333333"/>
                  </a:solidFill>
                  <a:latin typeface="Noto Sans KR" pitchFamily="34" charset="0"/>
                  <a:ea typeface="Noto Sans KR" pitchFamily="34" charset="-122"/>
                </a:rPr>
                <a:t>}</a:t>
              </a:r>
              <a:endParaRPr lang="en-US" sz="800" dirty="0"/>
            </a:p>
          </p:txBody>
        </p:sp>
      </p:grpSp>
      <p:sp>
        <p:nvSpPr>
          <p:cNvPr id="243" name="타원 242">
            <a:extLst>
              <a:ext uri="{FF2B5EF4-FFF2-40B4-BE49-F238E27FC236}">
                <a16:creationId xmlns:a16="http://schemas.microsoft.com/office/drawing/2014/main" id="{4D9049EB-70D8-4995-9DBA-68C2EE93E2F4}"/>
              </a:ext>
            </a:extLst>
          </p:cNvPr>
          <p:cNvSpPr/>
          <p:nvPr/>
        </p:nvSpPr>
        <p:spPr>
          <a:xfrm>
            <a:off x="391769" y="3771152"/>
            <a:ext cx="183750" cy="178979"/>
          </a:xfrm>
          <a:prstGeom prst="ellipse">
            <a:avLst/>
          </a:prstGeom>
          <a:solidFill>
            <a:srgbClr val="FF0000"/>
          </a:solidFill>
          <a:ln w="15875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endParaRPr lang="ko-KR" altLang="en-US" sz="10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44" name="타원 243">
            <a:extLst>
              <a:ext uri="{FF2B5EF4-FFF2-40B4-BE49-F238E27FC236}">
                <a16:creationId xmlns:a16="http://schemas.microsoft.com/office/drawing/2014/main" id="{4D9049EB-70D8-4995-9DBA-68C2EE93E2F4}"/>
              </a:ext>
            </a:extLst>
          </p:cNvPr>
          <p:cNvSpPr/>
          <p:nvPr/>
        </p:nvSpPr>
        <p:spPr>
          <a:xfrm>
            <a:off x="1519321" y="4272485"/>
            <a:ext cx="183750" cy="178979"/>
          </a:xfrm>
          <a:prstGeom prst="ellipse">
            <a:avLst/>
          </a:prstGeom>
          <a:solidFill>
            <a:srgbClr val="FF0000"/>
          </a:solidFill>
          <a:ln w="15875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5</a:t>
            </a:r>
            <a:endParaRPr lang="ko-KR" altLang="en-US" sz="10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0" name="Text 7"/>
          <p:cNvSpPr/>
          <p:nvPr/>
        </p:nvSpPr>
        <p:spPr>
          <a:xfrm>
            <a:off x="5127153" y="2626641"/>
            <a:ext cx="1789567" cy="19986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Authentication</a:t>
            </a:r>
            <a:endParaRPr lang="en-US" sz="1050" dirty="0"/>
          </a:p>
        </p:txBody>
      </p:sp>
      <p:sp>
        <p:nvSpPr>
          <p:cNvPr id="136" name="Text 12"/>
          <p:cNvSpPr/>
          <p:nvPr/>
        </p:nvSpPr>
        <p:spPr>
          <a:xfrm>
            <a:off x="5237502" y="3552315"/>
            <a:ext cx="4235505" cy="2283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100" dirty="0"/>
          </a:p>
        </p:txBody>
      </p:sp>
      <p:pic>
        <p:nvPicPr>
          <p:cNvPr id="159" name="Image 12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143791" y="2839402"/>
            <a:ext cx="4235505" cy="254596"/>
          </a:xfrm>
          <a:prstGeom prst="rect">
            <a:avLst/>
          </a:prstGeom>
        </p:spPr>
      </p:pic>
      <p:sp>
        <p:nvSpPr>
          <p:cNvPr id="162" name="순서도: 병합 161"/>
          <p:cNvSpPr/>
          <p:nvPr/>
        </p:nvSpPr>
        <p:spPr>
          <a:xfrm>
            <a:off x="9230602" y="2873625"/>
            <a:ext cx="89825" cy="133350"/>
          </a:xfrm>
          <a:prstGeom prst="flowChartMerg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9" name="Text 12"/>
          <p:cNvSpPr/>
          <p:nvPr/>
        </p:nvSpPr>
        <p:spPr>
          <a:xfrm>
            <a:off x="5237502" y="4122866"/>
            <a:ext cx="4235505" cy="2283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100" dirty="0"/>
          </a:p>
        </p:txBody>
      </p:sp>
      <p:pic>
        <p:nvPicPr>
          <p:cNvPr id="171" name="Image 27" descr="preencoded.png"/>
          <p:cNvPicPr>
            <a:picLocks noChangeAspect="1"/>
          </p:cNvPicPr>
          <p:nvPr/>
        </p:nvPicPr>
        <p:blipFill>
          <a:blip r:embed="rId19">
            <a:clrChange>
              <a:clrFrom>
                <a:srgbClr val="F3F4F6"/>
              </a:clrFrom>
              <a:clrTo>
                <a:srgbClr val="F3F4F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245603" y="3382273"/>
            <a:ext cx="4124207" cy="313584"/>
          </a:xfrm>
          <a:prstGeom prst="rect">
            <a:avLst/>
          </a:prstGeom>
          <a:solidFill>
            <a:schemeClr val="bg1"/>
          </a:solidFill>
        </p:spPr>
      </p:pic>
      <p:grpSp>
        <p:nvGrpSpPr>
          <p:cNvPr id="21" name="그룹 20"/>
          <p:cNvGrpSpPr/>
          <p:nvPr/>
        </p:nvGrpSpPr>
        <p:grpSpPr>
          <a:xfrm>
            <a:off x="5777756" y="3401318"/>
            <a:ext cx="1804193" cy="220751"/>
            <a:chOff x="1388510" y="4758925"/>
            <a:chExt cx="720000" cy="189882"/>
          </a:xfrm>
        </p:grpSpPr>
        <p:pic>
          <p:nvPicPr>
            <p:cNvPr id="179" name="Image 12" descr="preencoded.png"/>
            <p:cNvPicPr>
              <a:picLocks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388510" y="4804807"/>
              <a:ext cx="720000" cy="144000"/>
            </a:xfrm>
            <a:prstGeom prst="rect">
              <a:avLst/>
            </a:prstGeom>
            <a:ln>
              <a:solidFill>
                <a:schemeClr val="bg2">
                  <a:lumMod val="50000"/>
                </a:schemeClr>
              </a:solidFill>
            </a:ln>
          </p:spPr>
        </p:pic>
        <p:sp>
          <p:nvSpPr>
            <p:cNvPr id="180" name="Text 8"/>
            <p:cNvSpPr/>
            <p:nvPr/>
          </p:nvSpPr>
          <p:spPr>
            <a:xfrm>
              <a:off x="1425386" y="4758925"/>
              <a:ext cx="673888" cy="1728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800" dirty="0" smtClean="0">
                  <a:solidFill>
                    <a:srgbClr val="333333"/>
                  </a:solidFill>
                  <a:latin typeface="Noto Sans KR" pitchFamily="34" charset="0"/>
                  <a:ea typeface="Noto Sans KR" pitchFamily="34" charset="-122"/>
                </a:rPr>
                <a:t>Header or Query Parameter</a:t>
              </a:r>
              <a:endParaRPr lang="en-US" sz="800" dirty="0"/>
            </a:p>
          </p:txBody>
        </p:sp>
      </p:grpSp>
      <p:sp>
        <p:nvSpPr>
          <p:cNvPr id="181" name="Text 7"/>
          <p:cNvSpPr/>
          <p:nvPr/>
        </p:nvSpPr>
        <p:spPr>
          <a:xfrm>
            <a:off x="5332966" y="3455129"/>
            <a:ext cx="648081" cy="1534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800" dirty="0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Method</a:t>
            </a:r>
            <a:endParaRPr lang="en-US" sz="800" dirty="0">
              <a:solidFill>
                <a:srgbClr val="4B5563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</p:txBody>
      </p:sp>
      <p:sp>
        <p:nvSpPr>
          <p:cNvPr id="157" name="타원 156">
            <a:extLst>
              <a:ext uri="{FF2B5EF4-FFF2-40B4-BE49-F238E27FC236}">
                <a16:creationId xmlns:a16="http://schemas.microsoft.com/office/drawing/2014/main" id="{4D9049EB-70D8-4995-9DBA-68C2EE93E2F4}"/>
              </a:ext>
            </a:extLst>
          </p:cNvPr>
          <p:cNvSpPr/>
          <p:nvPr/>
        </p:nvSpPr>
        <p:spPr>
          <a:xfrm>
            <a:off x="5040623" y="2885853"/>
            <a:ext cx="175953" cy="171384"/>
          </a:xfrm>
          <a:prstGeom prst="ellipse">
            <a:avLst/>
          </a:prstGeom>
          <a:solidFill>
            <a:srgbClr val="FF0000"/>
          </a:solidFill>
          <a:ln w="15875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6</a:t>
            </a:r>
            <a:endParaRPr lang="ko-KR" altLang="en-US" sz="10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46" name="Text 8"/>
          <p:cNvSpPr/>
          <p:nvPr/>
        </p:nvSpPr>
        <p:spPr>
          <a:xfrm>
            <a:off x="635017" y="3745729"/>
            <a:ext cx="4235505" cy="22306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 smtClean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</a:rPr>
              <a:t>https://www.sample.com</a:t>
            </a:r>
            <a:endParaRPr lang="en-US" sz="1100" dirty="0"/>
          </a:p>
        </p:txBody>
      </p:sp>
      <p:sp>
        <p:nvSpPr>
          <p:cNvPr id="247" name="Text 7"/>
          <p:cNvSpPr/>
          <p:nvPr/>
        </p:nvSpPr>
        <p:spPr>
          <a:xfrm>
            <a:off x="5232108" y="3188669"/>
            <a:ext cx="1789567" cy="19986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1. API Key</a:t>
            </a:r>
            <a:endParaRPr lang="en-US" sz="1050" dirty="0"/>
          </a:p>
        </p:txBody>
      </p:sp>
      <p:grpSp>
        <p:nvGrpSpPr>
          <p:cNvPr id="248" name="그룹 247"/>
          <p:cNvGrpSpPr/>
          <p:nvPr/>
        </p:nvGrpSpPr>
        <p:grpSpPr>
          <a:xfrm>
            <a:off x="8184973" y="3394889"/>
            <a:ext cx="1040737" cy="254888"/>
            <a:chOff x="1388510" y="4758925"/>
            <a:chExt cx="720000" cy="182444"/>
          </a:xfrm>
        </p:grpSpPr>
        <p:pic>
          <p:nvPicPr>
            <p:cNvPr id="249" name="Image 12" descr="preencoded.png"/>
            <p:cNvPicPr>
              <a:picLocks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388510" y="4807029"/>
              <a:ext cx="720000" cy="134340"/>
            </a:xfrm>
            <a:prstGeom prst="rect">
              <a:avLst/>
            </a:prstGeom>
            <a:ln>
              <a:solidFill>
                <a:schemeClr val="bg2">
                  <a:lumMod val="50000"/>
                </a:schemeClr>
              </a:solidFill>
            </a:ln>
          </p:spPr>
        </p:pic>
        <p:sp>
          <p:nvSpPr>
            <p:cNvPr id="250" name="Text 8"/>
            <p:cNvSpPr/>
            <p:nvPr/>
          </p:nvSpPr>
          <p:spPr>
            <a:xfrm>
              <a:off x="1425386" y="4758925"/>
              <a:ext cx="673888" cy="1728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800" dirty="0"/>
                <a:t>x</a:t>
              </a:r>
              <a:r>
                <a:rPr lang="en-US" sz="800" dirty="0" smtClean="0"/>
                <a:t>-</a:t>
              </a:r>
              <a:r>
                <a:rPr lang="en-US" sz="800" dirty="0" err="1" smtClean="0"/>
                <a:t>api</a:t>
              </a:r>
              <a:r>
                <a:rPr lang="en-US" sz="800" dirty="0" smtClean="0"/>
                <a:t>-key</a:t>
              </a:r>
              <a:endParaRPr lang="en-US" sz="800" dirty="0"/>
            </a:p>
          </p:txBody>
        </p:sp>
      </p:grpSp>
      <p:sp>
        <p:nvSpPr>
          <p:cNvPr id="251" name="Text 7"/>
          <p:cNvSpPr/>
          <p:nvPr/>
        </p:nvSpPr>
        <p:spPr>
          <a:xfrm>
            <a:off x="7666960" y="3458729"/>
            <a:ext cx="648081" cy="1534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800" dirty="0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Name</a:t>
            </a:r>
            <a:endParaRPr lang="en-US" sz="800" dirty="0">
              <a:solidFill>
                <a:srgbClr val="4B5563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</p:txBody>
      </p:sp>
      <p:sp>
        <p:nvSpPr>
          <p:cNvPr id="254" name="순서도: 병합 253"/>
          <p:cNvSpPr/>
          <p:nvPr/>
        </p:nvSpPr>
        <p:spPr>
          <a:xfrm>
            <a:off x="7440183" y="3474907"/>
            <a:ext cx="89825" cy="133350"/>
          </a:xfrm>
          <a:prstGeom prst="flowChartMerg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5" name="Text 12"/>
          <p:cNvSpPr/>
          <p:nvPr/>
        </p:nvSpPr>
        <p:spPr>
          <a:xfrm>
            <a:off x="5219319" y="4096565"/>
            <a:ext cx="4235505" cy="2283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100" dirty="0"/>
          </a:p>
        </p:txBody>
      </p:sp>
      <p:pic>
        <p:nvPicPr>
          <p:cNvPr id="257" name="Image 27" descr="preencoded.png"/>
          <p:cNvPicPr>
            <a:picLocks noChangeAspect="1"/>
          </p:cNvPicPr>
          <p:nvPr/>
        </p:nvPicPr>
        <p:blipFill>
          <a:blip r:embed="rId19">
            <a:clrChange>
              <a:clrFrom>
                <a:srgbClr val="F3F4F6"/>
              </a:clrFrom>
              <a:clrTo>
                <a:srgbClr val="F3F4F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227420" y="3891687"/>
            <a:ext cx="4124207" cy="320656"/>
          </a:xfrm>
          <a:prstGeom prst="rect">
            <a:avLst/>
          </a:prstGeom>
          <a:solidFill>
            <a:schemeClr val="bg1"/>
          </a:solidFill>
        </p:spPr>
      </p:pic>
      <p:grpSp>
        <p:nvGrpSpPr>
          <p:cNvPr id="258" name="그룹 257"/>
          <p:cNvGrpSpPr/>
          <p:nvPr/>
        </p:nvGrpSpPr>
        <p:grpSpPr>
          <a:xfrm>
            <a:off x="5777757" y="3910729"/>
            <a:ext cx="3452846" cy="235122"/>
            <a:chOff x="1388510" y="4758925"/>
            <a:chExt cx="720000" cy="196969"/>
          </a:xfrm>
        </p:grpSpPr>
        <p:pic>
          <p:nvPicPr>
            <p:cNvPr id="259" name="Image 12" descr="preencoded.png"/>
            <p:cNvPicPr>
              <a:picLocks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388510" y="4804807"/>
              <a:ext cx="720000" cy="144000"/>
            </a:xfrm>
            <a:prstGeom prst="rect">
              <a:avLst/>
            </a:prstGeom>
            <a:ln>
              <a:solidFill>
                <a:schemeClr val="bg2">
                  <a:lumMod val="50000"/>
                </a:schemeClr>
              </a:solidFill>
            </a:ln>
          </p:spPr>
        </p:pic>
        <p:sp>
          <p:nvSpPr>
            <p:cNvPr id="260" name="Text 8"/>
            <p:cNvSpPr/>
            <p:nvPr/>
          </p:nvSpPr>
          <p:spPr>
            <a:xfrm>
              <a:off x="1395766" y="4758925"/>
              <a:ext cx="703508" cy="196969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>
                <a:lnSpc>
                  <a:spcPts val="1800"/>
                </a:lnSpc>
                <a:buNone/>
              </a:pPr>
              <a:endParaRPr lang="en-US" sz="800" dirty="0"/>
            </a:p>
          </p:txBody>
        </p:sp>
      </p:grpSp>
      <p:sp>
        <p:nvSpPr>
          <p:cNvPr id="261" name="Text 7"/>
          <p:cNvSpPr/>
          <p:nvPr/>
        </p:nvSpPr>
        <p:spPr>
          <a:xfrm>
            <a:off x="5314783" y="3955834"/>
            <a:ext cx="648081" cy="1534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800" dirty="0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Header</a:t>
            </a:r>
            <a:endParaRPr lang="en-US" sz="800" dirty="0">
              <a:solidFill>
                <a:srgbClr val="4B5563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</p:txBody>
      </p:sp>
      <p:sp>
        <p:nvSpPr>
          <p:cNvPr id="266" name="Text 7"/>
          <p:cNvSpPr/>
          <p:nvPr/>
        </p:nvSpPr>
        <p:spPr>
          <a:xfrm>
            <a:off x="5213925" y="3698083"/>
            <a:ext cx="1789567" cy="19986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2. Bearer Token</a:t>
            </a:r>
            <a:endParaRPr lang="en-US" sz="1050" dirty="0"/>
          </a:p>
        </p:txBody>
      </p:sp>
      <p:pic>
        <p:nvPicPr>
          <p:cNvPr id="273" name="Image 27" descr="preencoded.png"/>
          <p:cNvPicPr>
            <a:picLocks noChangeAspect="1"/>
          </p:cNvPicPr>
          <p:nvPr/>
        </p:nvPicPr>
        <p:blipFill>
          <a:blip r:embed="rId19">
            <a:clrChange>
              <a:clrFrom>
                <a:srgbClr val="F3F4F6"/>
              </a:clrFrom>
              <a:clrTo>
                <a:srgbClr val="F3F4F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245603" y="4410389"/>
            <a:ext cx="4124207" cy="320656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275" name="Image 12" descr="preencoded.png"/>
          <p:cNvPicPr>
            <a:picLocks/>
          </p:cNvPicPr>
          <p:nvPr/>
        </p:nvPicPr>
        <p:blipFill>
          <a:blip r:embed="rId16"/>
          <a:stretch>
            <a:fillRect/>
          </a:stretch>
        </p:blipFill>
        <p:spPr>
          <a:xfrm>
            <a:off x="5777758" y="4489462"/>
            <a:ext cx="1662426" cy="166072"/>
          </a:xfrm>
          <a:prstGeom prst="rect">
            <a:avLst/>
          </a:prstGeom>
          <a:ln>
            <a:solidFill>
              <a:schemeClr val="bg2">
                <a:lumMod val="50000"/>
              </a:schemeClr>
            </a:solidFill>
          </a:ln>
        </p:spPr>
      </p:pic>
      <p:sp>
        <p:nvSpPr>
          <p:cNvPr id="276" name="Text 8"/>
          <p:cNvSpPr/>
          <p:nvPr/>
        </p:nvSpPr>
        <p:spPr>
          <a:xfrm>
            <a:off x="5830045" y="4429427"/>
            <a:ext cx="2480844" cy="22610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800"/>
              </a:lnSpc>
            </a:pPr>
            <a:r>
              <a:rPr lang="en-US" sz="8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</a:rPr>
              <a:t>Authorization: </a:t>
            </a:r>
            <a:r>
              <a:rPr lang="en-US" sz="800" dirty="0" smtClean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</a:rPr>
              <a:t>Basic </a:t>
            </a:r>
            <a:r>
              <a:rPr lang="en-US" sz="800" dirty="0" err="1" smtClean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</a:rPr>
              <a:t>id:pwd</a:t>
            </a:r>
            <a:endParaRPr lang="en-US" sz="800" dirty="0"/>
          </a:p>
        </p:txBody>
      </p:sp>
      <p:sp>
        <p:nvSpPr>
          <p:cNvPr id="285" name="Text 8"/>
          <p:cNvSpPr/>
          <p:nvPr/>
        </p:nvSpPr>
        <p:spPr>
          <a:xfrm>
            <a:off x="5834539" y="3904118"/>
            <a:ext cx="2935557" cy="25695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800"/>
              </a:lnSpc>
            </a:pPr>
            <a:r>
              <a:rPr lang="en-US" sz="8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</a:rPr>
              <a:t>Authorization: </a:t>
            </a:r>
            <a:r>
              <a:rPr lang="en-US" sz="800" dirty="0" smtClean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</a:rPr>
              <a:t>Bearer ACCESS_TOKEN</a:t>
            </a:r>
            <a:endParaRPr lang="en-US" sz="800" dirty="0"/>
          </a:p>
        </p:txBody>
      </p:sp>
      <p:sp>
        <p:nvSpPr>
          <p:cNvPr id="277" name="Text 7"/>
          <p:cNvSpPr/>
          <p:nvPr/>
        </p:nvSpPr>
        <p:spPr>
          <a:xfrm>
            <a:off x="5332966" y="4483245"/>
            <a:ext cx="648081" cy="1534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800" dirty="0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Header</a:t>
            </a:r>
            <a:endParaRPr lang="en-US" sz="800" dirty="0">
              <a:solidFill>
                <a:srgbClr val="4B5563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</p:txBody>
      </p:sp>
      <p:sp>
        <p:nvSpPr>
          <p:cNvPr id="278" name="Text 7"/>
          <p:cNvSpPr/>
          <p:nvPr/>
        </p:nvSpPr>
        <p:spPr>
          <a:xfrm>
            <a:off x="5232108" y="4216785"/>
            <a:ext cx="1789567" cy="19986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50" dirty="0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3. </a:t>
            </a: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Basic </a:t>
            </a:r>
            <a:r>
              <a:rPr lang="en-US" sz="1050" dirty="0" err="1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Auth</a:t>
            </a:r>
            <a:endParaRPr lang="en-US" sz="1050" dirty="0"/>
          </a:p>
        </p:txBody>
      </p:sp>
      <p:grpSp>
        <p:nvGrpSpPr>
          <p:cNvPr id="279" name="그룹 278"/>
          <p:cNvGrpSpPr/>
          <p:nvPr/>
        </p:nvGrpSpPr>
        <p:grpSpPr>
          <a:xfrm>
            <a:off x="8184973" y="4419381"/>
            <a:ext cx="1040737" cy="221782"/>
            <a:chOff x="1388510" y="4758925"/>
            <a:chExt cx="720000" cy="182444"/>
          </a:xfrm>
        </p:grpSpPr>
        <p:pic>
          <p:nvPicPr>
            <p:cNvPr id="280" name="Image 12" descr="preencoded.png"/>
            <p:cNvPicPr>
              <a:picLocks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388510" y="4807029"/>
              <a:ext cx="720000" cy="134340"/>
            </a:xfrm>
            <a:prstGeom prst="rect">
              <a:avLst/>
            </a:prstGeom>
            <a:ln>
              <a:solidFill>
                <a:schemeClr val="bg2">
                  <a:lumMod val="50000"/>
                </a:schemeClr>
              </a:solidFill>
            </a:ln>
          </p:spPr>
        </p:pic>
        <p:sp>
          <p:nvSpPr>
            <p:cNvPr id="281" name="Text 8"/>
            <p:cNvSpPr/>
            <p:nvPr/>
          </p:nvSpPr>
          <p:spPr>
            <a:xfrm>
              <a:off x="1445496" y="4758925"/>
              <a:ext cx="653777" cy="182444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>
                <a:lnSpc>
                  <a:spcPts val="1800"/>
                </a:lnSpc>
              </a:pPr>
              <a:r>
                <a:rPr lang="en-US" sz="800" dirty="0"/>
                <a:t>Base64</a:t>
              </a:r>
            </a:p>
          </p:txBody>
        </p:sp>
      </p:grpSp>
      <p:sp>
        <p:nvSpPr>
          <p:cNvPr id="282" name="Text 7"/>
          <p:cNvSpPr/>
          <p:nvPr/>
        </p:nvSpPr>
        <p:spPr>
          <a:xfrm>
            <a:off x="7608847" y="4486845"/>
            <a:ext cx="648081" cy="1534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8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Encryption</a:t>
            </a:r>
          </a:p>
        </p:txBody>
      </p:sp>
      <p:sp>
        <p:nvSpPr>
          <p:cNvPr id="284" name="타원 283">
            <a:extLst>
              <a:ext uri="{FF2B5EF4-FFF2-40B4-BE49-F238E27FC236}">
                <a16:creationId xmlns:a16="http://schemas.microsoft.com/office/drawing/2014/main" id="{4D9049EB-70D8-4995-9DBA-68C2EE93E2F4}"/>
              </a:ext>
            </a:extLst>
          </p:cNvPr>
          <p:cNvSpPr/>
          <p:nvPr/>
        </p:nvSpPr>
        <p:spPr>
          <a:xfrm>
            <a:off x="5040623" y="3713378"/>
            <a:ext cx="175953" cy="171384"/>
          </a:xfrm>
          <a:prstGeom prst="ellipse">
            <a:avLst/>
          </a:prstGeom>
          <a:solidFill>
            <a:srgbClr val="FF0000"/>
          </a:solidFill>
          <a:ln w="15875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7</a:t>
            </a:r>
            <a:endParaRPr lang="ko-KR" altLang="en-US" sz="10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86" name="순서도: 병합 285"/>
          <p:cNvSpPr/>
          <p:nvPr/>
        </p:nvSpPr>
        <p:spPr>
          <a:xfrm>
            <a:off x="9084297" y="4493351"/>
            <a:ext cx="89825" cy="133350"/>
          </a:xfrm>
          <a:prstGeom prst="flowChartMerg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7" name="타원 286">
            <a:extLst>
              <a:ext uri="{FF2B5EF4-FFF2-40B4-BE49-F238E27FC236}">
                <a16:creationId xmlns:a16="http://schemas.microsoft.com/office/drawing/2014/main" id="{4D9049EB-70D8-4995-9DBA-68C2EE93E2F4}"/>
              </a:ext>
            </a:extLst>
          </p:cNvPr>
          <p:cNvSpPr/>
          <p:nvPr/>
        </p:nvSpPr>
        <p:spPr>
          <a:xfrm>
            <a:off x="5075589" y="4487584"/>
            <a:ext cx="175953" cy="171384"/>
          </a:xfrm>
          <a:prstGeom prst="ellipse">
            <a:avLst/>
          </a:prstGeom>
          <a:solidFill>
            <a:srgbClr val="FF0000"/>
          </a:solidFill>
          <a:ln w="15875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8</a:t>
            </a:r>
            <a:endParaRPr lang="ko-KR" altLang="en-US" sz="10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88" name="Text 12"/>
          <p:cNvSpPr/>
          <p:nvPr/>
        </p:nvSpPr>
        <p:spPr>
          <a:xfrm>
            <a:off x="5254093" y="4679692"/>
            <a:ext cx="4235505" cy="2283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100" dirty="0"/>
          </a:p>
        </p:txBody>
      </p:sp>
      <p:sp>
        <p:nvSpPr>
          <p:cNvPr id="289" name="Text 12"/>
          <p:cNvSpPr/>
          <p:nvPr/>
        </p:nvSpPr>
        <p:spPr>
          <a:xfrm>
            <a:off x="5235910" y="4653391"/>
            <a:ext cx="4235505" cy="2283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100" dirty="0"/>
          </a:p>
        </p:txBody>
      </p:sp>
      <p:pic>
        <p:nvPicPr>
          <p:cNvPr id="290" name="Image 27" descr="preencoded.png"/>
          <p:cNvPicPr>
            <a:picLocks noChangeAspect="1"/>
          </p:cNvPicPr>
          <p:nvPr/>
        </p:nvPicPr>
        <p:blipFill>
          <a:blip r:embed="rId19">
            <a:clrChange>
              <a:clrFrom>
                <a:srgbClr val="F3F4F6"/>
              </a:clrFrom>
              <a:clrTo>
                <a:srgbClr val="F3F4F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262194" y="4967214"/>
            <a:ext cx="4124207" cy="540003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293" name="Text 7"/>
          <p:cNvSpPr/>
          <p:nvPr/>
        </p:nvSpPr>
        <p:spPr>
          <a:xfrm>
            <a:off x="5420527" y="5027478"/>
            <a:ext cx="552900" cy="13094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8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grant_type</a:t>
            </a:r>
            <a:endParaRPr lang="en-US" sz="800" dirty="0">
              <a:solidFill>
                <a:srgbClr val="4B5563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</p:txBody>
      </p:sp>
      <p:sp>
        <p:nvSpPr>
          <p:cNvPr id="294" name="Text 7"/>
          <p:cNvSpPr/>
          <p:nvPr/>
        </p:nvSpPr>
        <p:spPr>
          <a:xfrm>
            <a:off x="5248699" y="4773611"/>
            <a:ext cx="1789567" cy="19986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50" dirty="0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4</a:t>
            </a: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. OAuth </a:t>
            </a:r>
            <a:r>
              <a:rPr lang="en-US" sz="1050" dirty="0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2.0</a:t>
            </a:r>
            <a:endParaRPr lang="en-US" sz="1050" dirty="0"/>
          </a:p>
        </p:txBody>
      </p:sp>
      <p:sp>
        <p:nvSpPr>
          <p:cNvPr id="300" name="타원 299">
            <a:extLst>
              <a:ext uri="{FF2B5EF4-FFF2-40B4-BE49-F238E27FC236}">
                <a16:creationId xmlns:a16="http://schemas.microsoft.com/office/drawing/2014/main" id="{4D9049EB-70D8-4995-9DBA-68C2EE93E2F4}"/>
              </a:ext>
            </a:extLst>
          </p:cNvPr>
          <p:cNvSpPr/>
          <p:nvPr/>
        </p:nvSpPr>
        <p:spPr>
          <a:xfrm>
            <a:off x="5092180" y="5044410"/>
            <a:ext cx="175953" cy="171384"/>
          </a:xfrm>
          <a:prstGeom prst="ellipse">
            <a:avLst/>
          </a:prstGeom>
          <a:solidFill>
            <a:srgbClr val="FF0000"/>
          </a:solidFill>
          <a:ln w="15875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9</a:t>
            </a:r>
            <a:endParaRPr lang="ko-KR" altLang="en-US" sz="10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305" name="그룹 304"/>
          <p:cNvGrpSpPr/>
          <p:nvPr/>
        </p:nvGrpSpPr>
        <p:grpSpPr>
          <a:xfrm>
            <a:off x="6122860" y="4991740"/>
            <a:ext cx="1136870" cy="205852"/>
            <a:chOff x="1388510" y="4758925"/>
            <a:chExt cx="720000" cy="182444"/>
          </a:xfrm>
        </p:grpSpPr>
        <p:pic>
          <p:nvPicPr>
            <p:cNvPr id="306" name="Image 12" descr="preencoded.png"/>
            <p:cNvPicPr>
              <a:picLocks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388510" y="4807029"/>
              <a:ext cx="720000" cy="134340"/>
            </a:xfrm>
            <a:prstGeom prst="rect">
              <a:avLst/>
            </a:prstGeom>
            <a:ln>
              <a:solidFill>
                <a:schemeClr val="bg2">
                  <a:lumMod val="50000"/>
                </a:schemeClr>
              </a:solidFill>
            </a:ln>
          </p:spPr>
        </p:pic>
        <p:sp>
          <p:nvSpPr>
            <p:cNvPr id="307" name="Text 8"/>
            <p:cNvSpPr/>
            <p:nvPr/>
          </p:nvSpPr>
          <p:spPr>
            <a:xfrm>
              <a:off x="1445496" y="4758925"/>
              <a:ext cx="653777" cy="182444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>
                <a:lnSpc>
                  <a:spcPts val="1800"/>
                </a:lnSpc>
              </a:pPr>
              <a:r>
                <a:rPr lang="en-US" sz="800" dirty="0" err="1" smtClean="0"/>
                <a:t>client_credentials</a:t>
              </a:r>
              <a:endParaRPr lang="en-US" sz="800" dirty="0"/>
            </a:p>
          </p:txBody>
        </p:sp>
      </p:grpSp>
      <p:sp>
        <p:nvSpPr>
          <p:cNvPr id="308" name="Text 7"/>
          <p:cNvSpPr/>
          <p:nvPr/>
        </p:nvSpPr>
        <p:spPr>
          <a:xfrm>
            <a:off x="5420526" y="5271332"/>
            <a:ext cx="646643" cy="14757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800" dirty="0" err="1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client_secret</a:t>
            </a:r>
            <a:endParaRPr lang="en-US" sz="800" dirty="0">
              <a:solidFill>
                <a:srgbClr val="4B5563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</p:txBody>
      </p:sp>
      <p:grpSp>
        <p:nvGrpSpPr>
          <p:cNvPr id="309" name="그룹 308"/>
          <p:cNvGrpSpPr/>
          <p:nvPr/>
        </p:nvGrpSpPr>
        <p:grpSpPr>
          <a:xfrm>
            <a:off x="6122860" y="5235594"/>
            <a:ext cx="1136870" cy="205852"/>
            <a:chOff x="1388510" y="4758925"/>
            <a:chExt cx="720000" cy="182444"/>
          </a:xfrm>
        </p:grpSpPr>
        <p:pic>
          <p:nvPicPr>
            <p:cNvPr id="310" name="Image 12" descr="preencoded.png"/>
            <p:cNvPicPr>
              <a:picLocks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388510" y="4807029"/>
              <a:ext cx="720000" cy="134340"/>
            </a:xfrm>
            <a:prstGeom prst="rect">
              <a:avLst/>
            </a:prstGeom>
            <a:ln>
              <a:solidFill>
                <a:schemeClr val="bg2">
                  <a:lumMod val="50000"/>
                </a:schemeClr>
              </a:solidFill>
            </a:ln>
          </p:spPr>
        </p:pic>
        <p:sp>
          <p:nvSpPr>
            <p:cNvPr id="311" name="Text 8"/>
            <p:cNvSpPr/>
            <p:nvPr/>
          </p:nvSpPr>
          <p:spPr>
            <a:xfrm>
              <a:off x="1445496" y="4758925"/>
              <a:ext cx="653777" cy="182444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>
                <a:lnSpc>
                  <a:spcPts val="1800"/>
                </a:lnSpc>
              </a:pPr>
              <a:endParaRPr lang="en-US" sz="800" dirty="0"/>
            </a:p>
          </p:txBody>
        </p:sp>
      </p:grpSp>
      <p:sp>
        <p:nvSpPr>
          <p:cNvPr id="312" name="Text 7"/>
          <p:cNvSpPr/>
          <p:nvPr/>
        </p:nvSpPr>
        <p:spPr>
          <a:xfrm>
            <a:off x="7447806" y="5044111"/>
            <a:ext cx="552900" cy="13094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8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client_id</a:t>
            </a:r>
            <a:endParaRPr lang="en-US" sz="800" dirty="0">
              <a:solidFill>
                <a:srgbClr val="4B5563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</p:txBody>
      </p:sp>
      <p:grpSp>
        <p:nvGrpSpPr>
          <p:cNvPr id="313" name="그룹 312"/>
          <p:cNvGrpSpPr/>
          <p:nvPr/>
        </p:nvGrpSpPr>
        <p:grpSpPr>
          <a:xfrm>
            <a:off x="8063047" y="5008373"/>
            <a:ext cx="1045630" cy="199993"/>
            <a:chOff x="1388510" y="4758925"/>
            <a:chExt cx="720000" cy="182444"/>
          </a:xfrm>
        </p:grpSpPr>
        <p:pic>
          <p:nvPicPr>
            <p:cNvPr id="314" name="Image 12" descr="preencoded.png"/>
            <p:cNvPicPr>
              <a:picLocks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388510" y="4807029"/>
              <a:ext cx="720000" cy="134340"/>
            </a:xfrm>
            <a:prstGeom prst="rect">
              <a:avLst/>
            </a:prstGeom>
            <a:ln>
              <a:solidFill>
                <a:schemeClr val="bg2">
                  <a:lumMod val="50000"/>
                </a:schemeClr>
              </a:solidFill>
            </a:ln>
          </p:spPr>
        </p:pic>
        <p:sp>
          <p:nvSpPr>
            <p:cNvPr id="315" name="Text 8"/>
            <p:cNvSpPr/>
            <p:nvPr/>
          </p:nvSpPr>
          <p:spPr>
            <a:xfrm>
              <a:off x="1445496" y="4758925"/>
              <a:ext cx="653777" cy="182444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>
                <a:lnSpc>
                  <a:spcPts val="1800"/>
                </a:lnSpc>
              </a:pPr>
              <a:endParaRPr lang="en-US" sz="800" dirty="0"/>
            </a:p>
          </p:txBody>
        </p:sp>
      </p:grpSp>
      <p:sp>
        <p:nvSpPr>
          <p:cNvPr id="316" name="Text 7"/>
          <p:cNvSpPr/>
          <p:nvPr/>
        </p:nvSpPr>
        <p:spPr>
          <a:xfrm>
            <a:off x="7447806" y="5287965"/>
            <a:ext cx="552900" cy="13094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8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scope</a:t>
            </a:r>
          </a:p>
        </p:txBody>
      </p:sp>
      <p:grpSp>
        <p:nvGrpSpPr>
          <p:cNvPr id="317" name="그룹 316"/>
          <p:cNvGrpSpPr/>
          <p:nvPr/>
        </p:nvGrpSpPr>
        <p:grpSpPr>
          <a:xfrm>
            <a:off x="8063047" y="5252227"/>
            <a:ext cx="1045630" cy="199993"/>
            <a:chOff x="1388510" y="4758925"/>
            <a:chExt cx="720000" cy="182444"/>
          </a:xfrm>
        </p:grpSpPr>
        <p:pic>
          <p:nvPicPr>
            <p:cNvPr id="318" name="Image 12" descr="preencoded.png"/>
            <p:cNvPicPr>
              <a:picLocks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388510" y="4807029"/>
              <a:ext cx="720000" cy="134340"/>
            </a:xfrm>
            <a:prstGeom prst="rect">
              <a:avLst/>
            </a:prstGeom>
            <a:ln>
              <a:solidFill>
                <a:schemeClr val="bg2">
                  <a:lumMod val="50000"/>
                </a:schemeClr>
              </a:solidFill>
            </a:ln>
          </p:spPr>
        </p:pic>
        <p:sp>
          <p:nvSpPr>
            <p:cNvPr id="319" name="Text 8"/>
            <p:cNvSpPr/>
            <p:nvPr/>
          </p:nvSpPr>
          <p:spPr>
            <a:xfrm>
              <a:off x="1445496" y="4758925"/>
              <a:ext cx="653777" cy="182444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>
                <a:lnSpc>
                  <a:spcPts val="1800"/>
                </a:lnSpc>
              </a:pPr>
              <a:endParaRPr lang="en-US" sz="800" dirty="0"/>
            </a:p>
          </p:txBody>
        </p:sp>
      </p:grpSp>
      <p:sp>
        <p:nvSpPr>
          <p:cNvPr id="320" name="타원 319">
            <a:extLst>
              <a:ext uri="{FF2B5EF4-FFF2-40B4-BE49-F238E27FC236}">
                <a16:creationId xmlns:a16="http://schemas.microsoft.com/office/drawing/2014/main" id="{4D9049EB-70D8-4995-9DBA-68C2EE93E2F4}"/>
              </a:ext>
            </a:extLst>
          </p:cNvPr>
          <p:cNvSpPr/>
          <p:nvPr/>
        </p:nvSpPr>
        <p:spPr>
          <a:xfrm>
            <a:off x="6016297" y="4781593"/>
            <a:ext cx="183750" cy="17897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5875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r>
              <a:rPr lang="en-US" altLang="ko-KR" sz="1000" dirty="0" err="1" smtClean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i</a:t>
            </a:r>
            <a:endParaRPr lang="ko-KR" altLang="en-US" sz="10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321" name="Image 27" descr="preencoded.png"/>
          <p:cNvPicPr>
            <a:picLocks noChangeAspect="1"/>
          </p:cNvPicPr>
          <p:nvPr/>
        </p:nvPicPr>
        <p:blipFill>
          <a:blip r:embed="rId19">
            <a:clrChange>
              <a:clrFrom>
                <a:srgbClr val="F3F4F6"/>
              </a:clrFrom>
              <a:clrTo>
                <a:srgbClr val="F3F4F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408166" y="5545218"/>
            <a:ext cx="3871020" cy="895903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322" name="Text 11"/>
          <p:cNvSpPr/>
          <p:nvPr/>
        </p:nvSpPr>
        <p:spPr>
          <a:xfrm>
            <a:off x="5501957" y="5573271"/>
            <a:ext cx="3682218" cy="83405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100"/>
              </a:lnSpc>
            </a:pPr>
            <a:r>
              <a:rPr lang="ko-KR" altLang="en-US" sz="900" dirty="0" smtClean="0">
                <a:solidFill>
                  <a:srgbClr val="4B5563"/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토큰 발급 예제</a:t>
            </a:r>
            <a:r>
              <a:rPr lang="en-US" altLang="ko-KR" sz="900" dirty="0" smtClean="0">
                <a:solidFill>
                  <a:srgbClr val="4B5563"/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:</a:t>
            </a:r>
          </a:p>
          <a:p>
            <a:pPr>
              <a:lnSpc>
                <a:spcPts val="1100"/>
              </a:lnSpc>
            </a:pPr>
            <a:r>
              <a:rPr lang="en-US" altLang="ko-KR" sz="900" dirty="0" smtClean="0">
                <a:solidFill>
                  <a:srgbClr val="4B5563"/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curl -X POST "https://auth.example.com/</a:t>
            </a:r>
            <a:r>
              <a:rPr lang="en-US" altLang="ko-KR" sz="900" dirty="0" err="1" smtClean="0">
                <a:solidFill>
                  <a:srgbClr val="4B5563"/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oauth</a:t>
            </a:r>
            <a:r>
              <a:rPr lang="en-US" altLang="ko-KR" sz="900" dirty="0" smtClean="0">
                <a:solidFill>
                  <a:srgbClr val="4B5563"/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/token" \</a:t>
            </a:r>
          </a:p>
          <a:p>
            <a:pPr>
              <a:lnSpc>
                <a:spcPts val="1100"/>
              </a:lnSpc>
            </a:pPr>
            <a:r>
              <a:rPr lang="en-US" altLang="ko-KR" sz="900" dirty="0" smtClean="0">
                <a:solidFill>
                  <a:srgbClr val="4B5563"/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  </a:t>
            </a:r>
            <a:r>
              <a:rPr lang="en-US" altLang="ko-KR" sz="900" dirty="0">
                <a:solidFill>
                  <a:srgbClr val="4B5563"/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-d "</a:t>
            </a:r>
            <a:r>
              <a:rPr lang="en-US" altLang="ko-KR" sz="900" dirty="0" err="1">
                <a:solidFill>
                  <a:srgbClr val="4B5563"/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grant_type</a:t>
            </a:r>
            <a:r>
              <a:rPr lang="en-US" altLang="ko-KR" sz="900" dirty="0">
                <a:solidFill>
                  <a:srgbClr val="4B5563"/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=</a:t>
            </a:r>
            <a:r>
              <a:rPr lang="en-US" altLang="ko-KR" sz="900" dirty="0" err="1">
                <a:solidFill>
                  <a:srgbClr val="4B5563"/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client_credentials</a:t>
            </a:r>
            <a:r>
              <a:rPr lang="en-US" altLang="ko-KR" sz="900" dirty="0">
                <a:solidFill>
                  <a:srgbClr val="4B5563"/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" \</a:t>
            </a:r>
          </a:p>
          <a:p>
            <a:pPr>
              <a:lnSpc>
                <a:spcPts val="1100"/>
              </a:lnSpc>
            </a:pPr>
            <a:r>
              <a:rPr lang="en-US" altLang="ko-KR" sz="900" dirty="0">
                <a:solidFill>
                  <a:srgbClr val="4B5563"/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  -d "</a:t>
            </a:r>
            <a:r>
              <a:rPr lang="en-US" altLang="ko-KR" sz="900" dirty="0" err="1">
                <a:solidFill>
                  <a:srgbClr val="4B5563"/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client_id</a:t>
            </a:r>
            <a:r>
              <a:rPr lang="en-US" altLang="ko-KR" sz="900" dirty="0">
                <a:solidFill>
                  <a:srgbClr val="4B5563"/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=YOUR_CLIENT_ID" \</a:t>
            </a:r>
          </a:p>
          <a:p>
            <a:pPr>
              <a:lnSpc>
                <a:spcPts val="1100"/>
              </a:lnSpc>
            </a:pPr>
            <a:r>
              <a:rPr lang="en-US" altLang="ko-KR" sz="900" dirty="0">
                <a:solidFill>
                  <a:srgbClr val="4B5563"/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  -d "</a:t>
            </a:r>
            <a:r>
              <a:rPr lang="en-US" altLang="ko-KR" sz="900" dirty="0" err="1">
                <a:solidFill>
                  <a:srgbClr val="4B5563"/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client_secret</a:t>
            </a:r>
            <a:r>
              <a:rPr lang="en-US" altLang="ko-KR" sz="900" dirty="0">
                <a:solidFill>
                  <a:srgbClr val="4B5563"/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=YOUR_CLIENT_SECRET" \</a:t>
            </a:r>
          </a:p>
          <a:p>
            <a:pPr>
              <a:lnSpc>
                <a:spcPts val="1100"/>
              </a:lnSpc>
            </a:pPr>
            <a:r>
              <a:rPr lang="en-US" altLang="ko-KR" sz="900" dirty="0">
                <a:solidFill>
                  <a:srgbClr val="4B5563"/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  -d "scope=</a:t>
            </a:r>
            <a:r>
              <a:rPr lang="en-US" altLang="ko-KR" sz="900" dirty="0" err="1">
                <a:solidFill>
                  <a:srgbClr val="4B5563"/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read:users</a:t>
            </a:r>
            <a:r>
              <a:rPr lang="en-US" altLang="ko-KR" sz="900" dirty="0">
                <a:solidFill>
                  <a:srgbClr val="4B5563"/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"</a:t>
            </a:r>
            <a:endParaRPr lang="en-US" sz="900" dirty="0">
              <a:latin typeface="Noto Sans KR Light" panose="020B0200000000000000" pitchFamily="50" charset="-127"/>
              <a:ea typeface="Noto Sans KR Light" panose="020B0200000000000000" pitchFamily="50" charset="-127"/>
            </a:endParaRPr>
          </a:p>
        </p:txBody>
      </p:sp>
      <p:cxnSp>
        <p:nvCxnSpPr>
          <p:cNvPr id="323" name="직선 화살표 연결선 322"/>
          <p:cNvCxnSpPr>
            <a:stCxn id="320" idx="4"/>
          </p:cNvCxnSpPr>
          <p:nvPr/>
        </p:nvCxnSpPr>
        <p:spPr>
          <a:xfrm>
            <a:off x="6108172" y="4960572"/>
            <a:ext cx="256042" cy="5939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3" name="그룹 132"/>
          <p:cNvGrpSpPr/>
          <p:nvPr/>
        </p:nvGrpSpPr>
        <p:grpSpPr>
          <a:xfrm>
            <a:off x="8816936" y="5762368"/>
            <a:ext cx="645384" cy="258067"/>
            <a:chOff x="8641449" y="5762368"/>
            <a:chExt cx="645384" cy="258067"/>
          </a:xfrm>
        </p:grpSpPr>
        <p:pic>
          <p:nvPicPr>
            <p:cNvPr id="138" name="Image 18" descr="preencoded.png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8641449" y="5762368"/>
              <a:ext cx="645384" cy="258067"/>
            </a:xfrm>
            <a:prstGeom prst="rect">
              <a:avLst/>
            </a:prstGeom>
          </p:spPr>
        </p:pic>
        <p:pic>
          <p:nvPicPr>
            <p:cNvPr id="139" name="Image 19" descr="preencoded.png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9082489" y="5830488"/>
              <a:ext cx="111984" cy="127982"/>
            </a:xfrm>
            <a:prstGeom prst="rect">
              <a:avLst/>
            </a:prstGeom>
          </p:spPr>
        </p:pic>
        <p:sp>
          <p:nvSpPr>
            <p:cNvPr id="140" name="Text 13"/>
            <p:cNvSpPr/>
            <p:nvPr/>
          </p:nvSpPr>
          <p:spPr>
            <a:xfrm>
              <a:off x="8717189" y="5783152"/>
              <a:ext cx="307157" cy="187257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 algn="ctr">
                <a:lnSpc>
                  <a:spcPts val="1800"/>
                </a:lnSpc>
                <a:buNone/>
              </a:pPr>
              <a:r>
                <a:rPr lang="en-US" sz="1200" dirty="0">
                  <a:solidFill>
                    <a:srgbClr val="FFFFFF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다음</a:t>
              </a:r>
              <a:endParaRPr 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1738201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1239520"/>
            <a:ext cx="9442386" cy="5008880"/>
          </a:xfrm>
          <a:prstGeom prst="rect">
            <a:avLst/>
          </a:prstGeom>
        </p:spPr>
      </p:pic>
      <p:sp>
        <p:nvSpPr>
          <p:cNvPr id="50" name="Text 21"/>
          <p:cNvSpPr/>
          <p:nvPr/>
        </p:nvSpPr>
        <p:spPr>
          <a:xfrm>
            <a:off x="304800" y="6362700"/>
            <a:ext cx="115824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50" dirty="0" smtClean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7/10</a:t>
            </a:r>
            <a:endParaRPr lang="en-US" sz="1050" dirty="0"/>
          </a:p>
        </p:txBody>
      </p:sp>
      <p:pic>
        <p:nvPicPr>
          <p:cNvPr id="51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800100"/>
            <a:ext cx="762000" cy="38100"/>
          </a:xfrm>
          <a:prstGeom prst="rect">
            <a:avLst/>
          </a:prstGeom>
        </p:spPr>
      </p:pic>
      <p:sp>
        <p:nvSpPr>
          <p:cNvPr id="52" name="Text 0"/>
          <p:cNvSpPr/>
          <p:nvPr/>
        </p:nvSpPr>
        <p:spPr>
          <a:xfrm>
            <a:off x="381000" y="381000"/>
            <a:ext cx="114300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indent="0">
              <a:lnSpc>
                <a:spcPts val="2700"/>
              </a:lnSpc>
              <a:buNone/>
            </a:pPr>
            <a:r>
              <a:rPr lang="ko-KR" altLang="en-US" sz="2250" b="1" dirty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커넥션 </a:t>
            </a:r>
            <a:r>
              <a:rPr lang="ko-KR" altLang="en-US" sz="2250" b="1" dirty="0" smtClean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생성 </a:t>
            </a:r>
            <a:r>
              <a:rPr lang="en-US" altLang="ko-KR" sz="2250" b="1" dirty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- Source/Target </a:t>
            </a:r>
            <a:r>
              <a:rPr lang="ko-KR" altLang="en-US" sz="2250" b="1" dirty="0" smtClean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설정 </a:t>
            </a:r>
            <a:r>
              <a:rPr lang="en-US" altLang="ko-KR" sz="2250" b="1" dirty="0" smtClean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- Kafka</a:t>
            </a:r>
            <a:r>
              <a:rPr lang="ko-KR" altLang="en-US" sz="2250" b="1" dirty="0" smtClean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소스</a:t>
            </a:r>
            <a:endParaRPr lang="en-US" sz="2250" b="1" dirty="0">
              <a:solidFill>
                <a:srgbClr val="000000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</p:txBody>
      </p:sp>
      <p:sp>
        <p:nvSpPr>
          <p:cNvPr id="53" name="Text 1"/>
          <p:cNvSpPr/>
          <p:nvPr/>
        </p:nvSpPr>
        <p:spPr>
          <a:xfrm>
            <a:off x="457200" y="914400"/>
            <a:ext cx="11277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선택된 소스와 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MongoDB 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타겟에 대한 접속 정보 입력 및 연결 테스트 기능을 제공하는 화면입니다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200" dirty="0"/>
          </a:p>
        </p:txBody>
      </p:sp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299" y="1694180"/>
            <a:ext cx="8994299" cy="304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5300" y="2151380"/>
            <a:ext cx="136141" cy="190500"/>
          </a:xfrm>
          <a:prstGeom prst="rect">
            <a:avLst/>
          </a:prstGeom>
        </p:spPr>
      </p:pic>
      <p:sp>
        <p:nvSpPr>
          <p:cNvPr id="35" name="Text 6"/>
          <p:cNvSpPr/>
          <p:nvPr/>
        </p:nvSpPr>
        <p:spPr>
          <a:xfrm>
            <a:off x="691948" y="2113280"/>
            <a:ext cx="435651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Source 설정</a:t>
            </a:r>
            <a:endParaRPr lang="en-US" sz="1500" dirty="0"/>
          </a:p>
        </p:txBody>
      </p:sp>
      <p:pic>
        <p:nvPicPr>
          <p:cNvPr id="64" name="Image 5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52254" y="1239520"/>
            <a:ext cx="2265332" cy="5008880"/>
          </a:xfrm>
          <a:prstGeom prst="rect">
            <a:avLst/>
          </a:prstGeom>
        </p:spPr>
      </p:pic>
      <p:sp>
        <p:nvSpPr>
          <p:cNvPr id="65" name="Text 46"/>
          <p:cNvSpPr/>
          <p:nvPr/>
        </p:nvSpPr>
        <p:spPr>
          <a:xfrm>
            <a:off x="9924297" y="931338"/>
            <a:ext cx="208874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 smtClean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UI </a:t>
            </a:r>
            <a:r>
              <a:rPr lang="ko-KR" altLang="en-US" sz="1350" b="1" dirty="0" smtClean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설명</a:t>
            </a:r>
            <a:r>
              <a:rPr lang="en-US" sz="1350" b="1" dirty="0" smtClean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en-US" sz="1350" b="1" dirty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영역</a:t>
            </a:r>
            <a:endParaRPr lang="en-US" sz="1350" dirty="0"/>
          </a:p>
        </p:txBody>
      </p:sp>
      <p:sp>
        <p:nvSpPr>
          <p:cNvPr id="66" name="Text 20"/>
          <p:cNvSpPr/>
          <p:nvPr/>
        </p:nvSpPr>
        <p:spPr>
          <a:xfrm>
            <a:off x="9877290" y="1255189"/>
            <a:ext cx="2184606" cy="49932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200"/>
              </a:lnSpc>
            </a:pPr>
            <a:r>
              <a:rPr 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1.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새로운 </a:t>
            </a: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Source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추가 </a:t>
            </a:r>
            <a:r>
              <a:rPr lang="ko-KR" altLang="en-US" sz="1000" dirty="0" err="1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팝업창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띄우기</a:t>
            </a:r>
            <a:endParaRPr lang="en-US" altLang="ko-KR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endParaRPr lang="en-US" sz="1000" dirty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r>
              <a:rPr lang="en-US" sz="10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2</a:t>
            </a:r>
            <a:r>
              <a:rPr 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.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기존 등록된 목록 중 선택</a:t>
            </a:r>
            <a:endParaRPr lang="en-US" altLang="ko-KR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r>
              <a:rPr 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 -&gt;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아래 항목을 등록된 값으로 채움</a:t>
            </a:r>
            <a:endParaRPr lang="en-US" altLang="ko-KR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r>
              <a:rPr lang="en-US" sz="10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-&gt;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선택하지 않고 변환 가능</a:t>
            </a:r>
            <a:endParaRPr lang="en-US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endParaRPr lang="en-US" sz="1000" dirty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r>
              <a:rPr lang="en-US" sz="10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3</a:t>
            </a:r>
            <a:r>
              <a:rPr 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. Consumer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가 </a:t>
            </a:r>
            <a:r>
              <a:rPr lang="ko-KR" altLang="en-US" sz="10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메시지를 읽을 때</a:t>
            </a:r>
            <a:r>
              <a:rPr lang="en-US" altLang="ko-KR" sz="10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, </a:t>
            </a:r>
            <a:r>
              <a:rPr lang="ko-KR" altLang="en-US" sz="10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지정된 오프셋 위치부터 다시 처음부터 읽도록 설정하는 기능</a:t>
            </a:r>
            <a:endParaRPr lang="en-US" altLang="ko-KR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r>
              <a:rPr lang="en-US" sz="10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-&gt; earliest, latest (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디폴트</a:t>
            </a: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)</a:t>
            </a:r>
          </a:p>
          <a:p>
            <a:pPr>
              <a:lnSpc>
                <a:spcPts val="1200"/>
              </a:lnSpc>
            </a:pPr>
            <a:endParaRPr lang="en-US" sz="1000" dirty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r>
              <a:rPr lang="en-US" sz="10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4</a:t>
            </a:r>
            <a:r>
              <a:rPr 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. </a:t>
            </a:r>
            <a:r>
              <a:rPr lang="ko-KR" altLang="en-US" sz="10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시스템에서 </a:t>
            </a:r>
            <a:r>
              <a:rPr lang="en-US" altLang="ko-KR" sz="10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Kafka Consumer</a:t>
            </a:r>
            <a:r>
              <a:rPr lang="ko-KR" altLang="en-US" sz="10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의 새 이벤트를 확인하는 빈도</a:t>
            </a:r>
            <a:r>
              <a:rPr lang="en-US" altLang="ko-KR" sz="10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(</a:t>
            </a:r>
            <a:r>
              <a:rPr lang="ko-KR" altLang="en-US" sz="10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초</a:t>
            </a: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),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기본값은 </a:t>
            </a:r>
            <a:r>
              <a:rPr lang="en-US" altLang="ko-KR" sz="10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60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초</a:t>
            </a:r>
            <a:endParaRPr lang="en-US" altLang="ko-KR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endParaRPr lang="en-US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r>
              <a:rPr lang="en-US" sz="10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5</a:t>
            </a:r>
            <a:r>
              <a:rPr 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. SASL_PLAINTEXT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일 경우 </a:t>
            </a:r>
            <a:r>
              <a:rPr lang="en-US" altLang="ko-KR" sz="10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Kafka SSL </a:t>
            </a:r>
            <a:r>
              <a:rPr lang="ko-KR" altLang="en-US" sz="10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자격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증명 필요</a:t>
            </a:r>
            <a:endParaRPr lang="en-US" altLang="ko-KR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r>
              <a:rPr 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-&gt;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인증 고려 필요</a:t>
            </a:r>
            <a:endParaRPr lang="en-US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endParaRPr lang="en-US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</p:txBody>
      </p:sp>
      <p:pic>
        <p:nvPicPr>
          <p:cNvPr id="113" name="Image 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70006" y="1690190"/>
            <a:ext cx="638783" cy="304800"/>
          </a:xfrm>
          <a:prstGeom prst="rect">
            <a:avLst/>
          </a:prstGeom>
        </p:spPr>
      </p:pic>
      <p:grpSp>
        <p:nvGrpSpPr>
          <p:cNvPr id="5" name="그룹 4"/>
          <p:cNvGrpSpPr/>
          <p:nvPr/>
        </p:nvGrpSpPr>
        <p:grpSpPr>
          <a:xfrm>
            <a:off x="1176006" y="1732280"/>
            <a:ext cx="423550" cy="228600"/>
            <a:chOff x="1176006" y="1732280"/>
            <a:chExt cx="423550" cy="228600"/>
          </a:xfrm>
        </p:grpSpPr>
        <p:pic>
          <p:nvPicPr>
            <p:cNvPr id="9" name="Image 7" descr="preencoded.png"/>
            <p:cNvPicPr>
              <a:picLocks noChangeAspect="1"/>
            </p:cNvPicPr>
            <p:nvPr/>
          </p:nvPicPr>
          <p:blipFill>
            <a:blip r:embed="rId11">
              <a:duotone>
                <a:prstClr val="black"/>
                <a:srgbClr val="D9C3A5">
                  <a:tint val="50000"/>
                  <a:satMod val="180000"/>
                </a:srgbClr>
              </a:duotone>
            </a:blip>
            <a:stretch>
              <a:fillRect/>
            </a:stretch>
          </p:blipFill>
          <p:spPr>
            <a:xfrm>
              <a:off x="1176006" y="1770380"/>
              <a:ext cx="90761" cy="152400"/>
            </a:xfrm>
            <a:prstGeom prst="rect">
              <a:avLst/>
            </a:prstGeom>
          </p:spPr>
        </p:pic>
        <p:sp>
          <p:nvSpPr>
            <p:cNvPr id="32" name="Text 3"/>
            <p:cNvSpPr/>
            <p:nvPr/>
          </p:nvSpPr>
          <p:spPr>
            <a:xfrm>
              <a:off x="1327274" y="1732280"/>
              <a:ext cx="272282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100" dirty="0"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파일</a:t>
              </a:r>
              <a:endParaRPr lang="en-US" sz="1100" dirty="0"/>
            </a:p>
          </p:txBody>
        </p:sp>
      </p:grpSp>
      <p:grpSp>
        <p:nvGrpSpPr>
          <p:cNvPr id="15" name="그룹 14"/>
          <p:cNvGrpSpPr/>
          <p:nvPr/>
        </p:nvGrpSpPr>
        <p:grpSpPr>
          <a:xfrm>
            <a:off x="603701" y="1741733"/>
            <a:ext cx="456829" cy="228600"/>
            <a:chOff x="586061" y="1732280"/>
            <a:chExt cx="456829" cy="228600"/>
          </a:xfrm>
        </p:grpSpPr>
        <p:pic>
          <p:nvPicPr>
            <p:cNvPr id="8" name="Image 6" descr="preencoded.pn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586061" y="1770380"/>
              <a:ext cx="105888" cy="15240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</p:pic>
        <p:sp>
          <p:nvSpPr>
            <p:cNvPr id="31" name="Text 2"/>
            <p:cNvSpPr/>
            <p:nvPr/>
          </p:nvSpPr>
          <p:spPr>
            <a:xfrm>
              <a:off x="752455" y="1732280"/>
              <a:ext cx="290435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100" dirty="0">
                  <a:solidFill>
                    <a:srgbClr val="33333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RDB</a:t>
              </a:r>
            </a:p>
          </p:txBody>
        </p:sp>
      </p:grpSp>
      <p:pic>
        <p:nvPicPr>
          <p:cNvPr id="54" name="Image 8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35698" y="1770380"/>
            <a:ext cx="151268" cy="152400"/>
          </a:xfrm>
          <a:prstGeom prst="rect">
            <a:avLst/>
          </a:prstGeom>
        </p:spPr>
      </p:pic>
      <p:sp>
        <p:nvSpPr>
          <p:cNvPr id="55" name="Text 4"/>
          <p:cNvSpPr/>
          <p:nvPr/>
        </p:nvSpPr>
        <p:spPr>
          <a:xfrm>
            <a:off x="1947473" y="1732280"/>
            <a:ext cx="22690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API</a:t>
            </a:r>
            <a:endParaRPr lang="en-US" sz="1100" dirty="0"/>
          </a:p>
        </p:txBody>
      </p:sp>
      <p:grpSp>
        <p:nvGrpSpPr>
          <p:cNvPr id="14" name="그룹 13"/>
          <p:cNvGrpSpPr/>
          <p:nvPr/>
        </p:nvGrpSpPr>
        <p:grpSpPr>
          <a:xfrm>
            <a:off x="2318079" y="1750942"/>
            <a:ext cx="562717" cy="228600"/>
            <a:chOff x="2318079" y="1732280"/>
            <a:chExt cx="562717" cy="228600"/>
          </a:xfrm>
        </p:grpSpPr>
        <p:pic>
          <p:nvPicPr>
            <p:cNvPr id="11" name="Image 9" descr="preencoded.png"/>
            <p:cNvPicPr>
              <a:picLocks noChangeAspect="1"/>
            </p:cNvPicPr>
            <p:nvPr/>
          </p:nvPicPr>
          <p:blipFill>
            <a:blip r:embed="rId14">
              <a:lum bright="70000" contrast="-70000"/>
            </a:blip>
            <a:stretch>
              <a:fillRect/>
            </a:stretch>
          </p:blipFill>
          <p:spPr>
            <a:xfrm>
              <a:off x="2318079" y="1770380"/>
              <a:ext cx="121014" cy="152400"/>
            </a:xfrm>
            <a:prstGeom prst="rect">
              <a:avLst/>
            </a:prstGeom>
          </p:spPr>
        </p:pic>
        <p:sp>
          <p:nvSpPr>
            <p:cNvPr id="34" name="Text 5"/>
            <p:cNvSpPr/>
            <p:nvPr/>
          </p:nvSpPr>
          <p:spPr>
            <a:xfrm>
              <a:off x="2499601" y="1732280"/>
              <a:ext cx="381195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100" dirty="0">
                  <a:solidFill>
                    <a:schemeClr val="bg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Kafka</a:t>
              </a:r>
              <a:endParaRPr lang="en-US" sz="1100" dirty="0">
                <a:solidFill>
                  <a:schemeClr val="bg1"/>
                </a:solidFill>
              </a:endParaRPr>
            </a:p>
          </p:txBody>
        </p:sp>
      </p:grpSp>
      <p:pic>
        <p:nvPicPr>
          <p:cNvPr id="56" name="Image 11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5300" y="2456180"/>
            <a:ext cx="4356519" cy="3563620"/>
          </a:xfrm>
          <a:prstGeom prst="rect">
            <a:avLst/>
          </a:prstGeom>
        </p:spPr>
      </p:pic>
      <p:pic>
        <p:nvPicPr>
          <p:cNvPr id="57" name="Image 20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60591" y="2789202"/>
            <a:ext cx="4235505" cy="230806"/>
          </a:xfrm>
          <a:prstGeom prst="rect">
            <a:avLst/>
          </a:prstGeom>
        </p:spPr>
      </p:pic>
      <p:sp>
        <p:nvSpPr>
          <p:cNvPr id="58" name="Text 14"/>
          <p:cNvSpPr/>
          <p:nvPr/>
        </p:nvSpPr>
        <p:spPr>
          <a:xfrm>
            <a:off x="560591" y="2607257"/>
            <a:ext cx="423550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Connection</a:t>
            </a:r>
            <a:r>
              <a:rPr lang="en-US" altLang="ko-KR" sz="1050" dirty="0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Name</a:t>
            </a:r>
            <a:endParaRPr lang="en-US" sz="1050" dirty="0">
              <a:solidFill>
                <a:srgbClr val="4B5563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</p:txBody>
      </p:sp>
      <p:sp>
        <p:nvSpPr>
          <p:cNvPr id="59" name="순서도: 병합 58"/>
          <p:cNvSpPr/>
          <p:nvPr/>
        </p:nvSpPr>
        <p:spPr>
          <a:xfrm>
            <a:off x="4628070" y="2850744"/>
            <a:ext cx="89825" cy="133350"/>
          </a:xfrm>
          <a:prstGeom prst="flowChartMerg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0" name="그룹 59"/>
          <p:cNvGrpSpPr/>
          <p:nvPr/>
        </p:nvGrpSpPr>
        <p:grpSpPr>
          <a:xfrm>
            <a:off x="4309667" y="2596695"/>
            <a:ext cx="544832" cy="146507"/>
            <a:chOff x="4309667" y="2596695"/>
            <a:chExt cx="544832" cy="146507"/>
          </a:xfrm>
        </p:grpSpPr>
        <p:pic>
          <p:nvPicPr>
            <p:cNvPr id="61" name="Image 21" descr="preencoded.png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4309667" y="2596695"/>
              <a:ext cx="472782" cy="146507"/>
            </a:xfrm>
            <a:prstGeom prst="rect">
              <a:avLst/>
            </a:prstGeom>
          </p:spPr>
        </p:pic>
        <p:sp>
          <p:nvSpPr>
            <p:cNvPr id="62" name="Text 12"/>
            <p:cNvSpPr/>
            <p:nvPr/>
          </p:nvSpPr>
          <p:spPr>
            <a:xfrm>
              <a:off x="4366759" y="2609852"/>
              <a:ext cx="487740" cy="13335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 algn="ctr">
                <a:lnSpc>
                  <a:spcPts val="1200"/>
                </a:lnSpc>
                <a:buNone/>
              </a:pPr>
              <a:r>
                <a:rPr lang="en-US" sz="900" dirty="0">
                  <a:solidFill>
                    <a:srgbClr val="FFFFFF"/>
                  </a:solidFill>
                  <a:latin typeface="Nanum Gothic" pitchFamily="34" charset="0"/>
                  <a:ea typeface="Nanum Gothic" pitchFamily="34" charset="-122"/>
                  <a:cs typeface="Nanum Gothic" pitchFamily="34" charset="-120"/>
                </a:rPr>
                <a:t> </a:t>
              </a:r>
              <a:r>
                <a:rPr lang="en-US" sz="900" dirty="0" err="1" smtClean="0">
                  <a:solidFill>
                    <a:srgbClr val="FFFFFF"/>
                  </a:solidFill>
                  <a:latin typeface="Nanum Gothic" pitchFamily="34" charset="0"/>
                  <a:ea typeface="Nanum Gothic" pitchFamily="34" charset="-122"/>
                  <a:cs typeface="Nanum Gothic" pitchFamily="34" charset="-120"/>
                </a:rPr>
                <a:t>추가</a:t>
              </a:r>
              <a:endParaRPr lang="en-US" sz="900" dirty="0"/>
            </a:p>
          </p:txBody>
        </p:sp>
        <p:pic>
          <p:nvPicPr>
            <p:cNvPr id="63" name="Image 22" descr="preencoded.png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4366759" y="2629760"/>
              <a:ext cx="90000" cy="108000"/>
            </a:xfrm>
            <a:prstGeom prst="rect">
              <a:avLst/>
            </a:prstGeom>
          </p:spPr>
        </p:pic>
      </p:grpSp>
      <p:sp>
        <p:nvSpPr>
          <p:cNvPr id="67" name="Text 8"/>
          <p:cNvSpPr/>
          <p:nvPr/>
        </p:nvSpPr>
        <p:spPr>
          <a:xfrm>
            <a:off x="626940" y="2801035"/>
            <a:ext cx="4235505" cy="21105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ko-KR" altLang="en-US" sz="1100" dirty="0" smtClean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</a:rPr>
              <a:t>선택</a:t>
            </a:r>
            <a:endParaRPr lang="en-US" sz="1100" dirty="0"/>
          </a:p>
        </p:txBody>
      </p:sp>
      <p:sp>
        <p:nvSpPr>
          <p:cNvPr id="68" name="타원 67">
            <a:extLst>
              <a:ext uri="{FF2B5EF4-FFF2-40B4-BE49-F238E27FC236}">
                <a16:creationId xmlns:a16="http://schemas.microsoft.com/office/drawing/2014/main" id="{4D9049EB-70D8-4995-9DBA-68C2EE93E2F4}"/>
              </a:ext>
            </a:extLst>
          </p:cNvPr>
          <p:cNvSpPr/>
          <p:nvPr/>
        </p:nvSpPr>
        <p:spPr>
          <a:xfrm>
            <a:off x="387467" y="2822567"/>
            <a:ext cx="183750" cy="178979"/>
          </a:xfrm>
          <a:prstGeom prst="ellipse">
            <a:avLst/>
          </a:prstGeom>
          <a:solidFill>
            <a:srgbClr val="FF0000"/>
          </a:solidFill>
          <a:ln w="15875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endParaRPr lang="ko-KR" altLang="en-US" sz="10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9" name="타원 68">
            <a:extLst>
              <a:ext uri="{FF2B5EF4-FFF2-40B4-BE49-F238E27FC236}">
                <a16:creationId xmlns:a16="http://schemas.microsoft.com/office/drawing/2014/main" id="{4D9049EB-70D8-4995-9DBA-68C2EE93E2F4}"/>
              </a:ext>
            </a:extLst>
          </p:cNvPr>
          <p:cNvSpPr/>
          <p:nvPr/>
        </p:nvSpPr>
        <p:spPr>
          <a:xfrm>
            <a:off x="4152755" y="2582274"/>
            <a:ext cx="183750" cy="178979"/>
          </a:xfrm>
          <a:prstGeom prst="ellipse">
            <a:avLst/>
          </a:prstGeom>
          <a:solidFill>
            <a:srgbClr val="FF0000"/>
          </a:solidFill>
          <a:ln w="15875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sz="10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1" name="Text 7"/>
          <p:cNvSpPr/>
          <p:nvPr/>
        </p:nvSpPr>
        <p:spPr>
          <a:xfrm>
            <a:off x="562960" y="3101130"/>
            <a:ext cx="423550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Kafka Brokers</a:t>
            </a:r>
            <a:endParaRPr lang="en-US" sz="1050" dirty="0"/>
          </a:p>
        </p:txBody>
      </p:sp>
      <p:pic>
        <p:nvPicPr>
          <p:cNvPr id="73" name="Image 12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54403" y="3732763"/>
            <a:ext cx="4235505" cy="220517"/>
          </a:xfrm>
          <a:prstGeom prst="rect">
            <a:avLst/>
          </a:prstGeom>
        </p:spPr>
      </p:pic>
      <p:sp>
        <p:nvSpPr>
          <p:cNvPr id="74" name="Text 7"/>
          <p:cNvSpPr/>
          <p:nvPr/>
        </p:nvSpPr>
        <p:spPr>
          <a:xfrm>
            <a:off x="554403" y="3550818"/>
            <a:ext cx="423550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Topic Name</a:t>
            </a:r>
            <a:endParaRPr lang="en-US" sz="1050" dirty="0"/>
          </a:p>
        </p:txBody>
      </p:sp>
      <p:sp>
        <p:nvSpPr>
          <p:cNvPr id="75" name="Text 8"/>
          <p:cNvSpPr/>
          <p:nvPr/>
        </p:nvSpPr>
        <p:spPr>
          <a:xfrm>
            <a:off x="645164" y="3732763"/>
            <a:ext cx="4235505" cy="22306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100" dirty="0"/>
          </a:p>
        </p:txBody>
      </p:sp>
      <p:sp>
        <p:nvSpPr>
          <p:cNvPr id="76" name="Text 7"/>
          <p:cNvSpPr/>
          <p:nvPr/>
        </p:nvSpPr>
        <p:spPr>
          <a:xfrm>
            <a:off x="554404" y="3980664"/>
            <a:ext cx="1904742" cy="17289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Group ID</a:t>
            </a:r>
            <a:endParaRPr lang="en-US" sz="1050" dirty="0"/>
          </a:p>
        </p:txBody>
      </p:sp>
      <p:sp>
        <p:nvSpPr>
          <p:cNvPr id="77" name="Text 8"/>
          <p:cNvSpPr/>
          <p:nvPr/>
        </p:nvSpPr>
        <p:spPr>
          <a:xfrm>
            <a:off x="645164" y="4171845"/>
            <a:ext cx="4235505" cy="22306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100" dirty="0"/>
          </a:p>
        </p:txBody>
      </p:sp>
      <p:sp>
        <p:nvSpPr>
          <p:cNvPr id="78" name="Text 7"/>
          <p:cNvSpPr/>
          <p:nvPr/>
        </p:nvSpPr>
        <p:spPr>
          <a:xfrm>
            <a:off x="554403" y="4942159"/>
            <a:ext cx="423550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Security Protocol</a:t>
            </a:r>
            <a:endParaRPr lang="en-US" sz="1050" dirty="0"/>
          </a:p>
        </p:txBody>
      </p:sp>
      <p:grpSp>
        <p:nvGrpSpPr>
          <p:cNvPr id="79" name="그룹 78"/>
          <p:cNvGrpSpPr/>
          <p:nvPr/>
        </p:nvGrpSpPr>
        <p:grpSpPr>
          <a:xfrm>
            <a:off x="571217" y="4143579"/>
            <a:ext cx="1928384" cy="225989"/>
            <a:chOff x="554402" y="4606873"/>
            <a:chExt cx="4326267" cy="309260"/>
          </a:xfrm>
        </p:grpSpPr>
        <p:pic>
          <p:nvPicPr>
            <p:cNvPr id="80" name="Image 12" descr="preencoded.png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554402" y="4606873"/>
              <a:ext cx="4235505" cy="309260"/>
            </a:xfrm>
            <a:prstGeom prst="rect">
              <a:avLst/>
            </a:prstGeom>
          </p:spPr>
        </p:pic>
        <p:sp>
          <p:nvSpPr>
            <p:cNvPr id="81" name="Text 8"/>
            <p:cNvSpPr/>
            <p:nvPr/>
          </p:nvSpPr>
          <p:spPr>
            <a:xfrm>
              <a:off x="645164" y="4606874"/>
              <a:ext cx="4235505" cy="223067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800"/>
                </a:lnSpc>
                <a:buNone/>
              </a:pPr>
              <a:endParaRPr lang="en-US" sz="1100" dirty="0"/>
            </a:p>
          </p:txBody>
        </p:sp>
      </p:grpSp>
      <p:grpSp>
        <p:nvGrpSpPr>
          <p:cNvPr id="7" name="그룹 6"/>
          <p:cNvGrpSpPr/>
          <p:nvPr/>
        </p:nvGrpSpPr>
        <p:grpSpPr>
          <a:xfrm>
            <a:off x="562960" y="3283075"/>
            <a:ext cx="4326266" cy="254596"/>
            <a:chOff x="562960" y="3283075"/>
            <a:chExt cx="4326266" cy="254596"/>
          </a:xfrm>
        </p:grpSpPr>
        <p:pic>
          <p:nvPicPr>
            <p:cNvPr id="70" name="Image 12" descr="preencoded.png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562960" y="3283075"/>
              <a:ext cx="4235505" cy="254596"/>
            </a:xfrm>
            <a:prstGeom prst="rect">
              <a:avLst/>
            </a:prstGeom>
          </p:spPr>
        </p:pic>
        <p:sp>
          <p:nvSpPr>
            <p:cNvPr id="72" name="Text 8"/>
            <p:cNvSpPr/>
            <p:nvPr/>
          </p:nvSpPr>
          <p:spPr>
            <a:xfrm>
              <a:off x="653721" y="3283075"/>
              <a:ext cx="4235505" cy="223067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800"/>
                </a:lnSpc>
                <a:buNone/>
              </a:pPr>
              <a:endParaRPr lang="en-US" sz="1100" dirty="0"/>
            </a:p>
          </p:txBody>
        </p:sp>
        <p:sp>
          <p:nvSpPr>
            <p:cNvPr id="82" name="Text 8"/>
            <p:cNvSpPr/>
            <p:nvPr/>
          </p:nvSpPr>
          <p:spPr>
            <a:xfrm>
              <a:off x="653721" y="3286794"/>
              <a:ext cx="4235505" cy="223067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>
                <a:lnSpc>
                  <a:spcPts val="1800"/>
                </a:lnSpc>
              </a:pPr>
              <a:r>
                <a:rPr lang="en-US" sz="1100" dirty="0">
                  <a:solidFill>
                    <a:srgbClr val="33333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kafka1:9092,kafka2:9092,kafka3:9092</a:t>
              </a:r>
              <a:endParaRPr lang="en-US" sz="1100" dirty="0"/>
            </a:p>
          </p:txBody>
        </p:sp>
      </p:grpSp>
      <p:sp>
        <p:nvSpPr>
          <p:cNvPr id="84" name="Text 7"/>
          <p:cNvSpPr/>
          <p:nvPr/>
        </p:nvSpPr>
        <p:spPr>
          <a:xfrm>
            <a:off x="2647223" y="4014248"/>
            <a:ext cx="1904742" cy="17289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Offset Reset</a:t>
            </a:r>
            <a:endParaRPr lang="en-US" altLang="ko-KR" sz="1050" dirty="0"/>
          </a:p>
        </p:txBody>
      </p:sp>
      <p:grpSp>
        <p:nvGrpSpPr>
          <p:cNvPr id="85" name="그룹 84"/>
          <p:cNvGrpSpPr/>
          <p:nvPr/>
        </p:nvGrpSpPr>
        <p:grpSpPr>
          <a:xfrm>
            <a:off x="2664036" y="4130985"/>
            <a:ext cx="1956092" cy="228660"/>
            <a:chOff x="554403" y="4533839"/>
            <a:chExt cx="4388428" cy="361628"/>
          </a:xfrm>
        </p:grpSpPr>
        <p:pic>
          <p:nvPicPr>
            <p:cNvPr id="96" name="Image 12" descr="preencoded.png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554403" y="4606874"/>
              <a:ext cx="4235505" cy="254596"/>
            </a:xfrm>
            <a:prstGeom prst="rect">
              <a:avLst/>
            </a:prstGeom>
          </p:spPr>
        </p:pic>
        <p:sp>
          <p:nvSpPr>
            <p:cNvPr id="97" name="Text 8"/>
            <p:cNvSpPr/>
            <p:nvPr/>
          </p:nvSpPr>
          <p:spPr>
            <a:xfrm>
              <a:off x="707327" y="4533839"/>
              <a:ext cx="4235504" cy="361628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100" dirty="0" smtClean="0">
                  <a:solidFill>
                    <a:srgbClr val="33333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latest</a:t>
              </a:r>
              <a:endParaRPr lang="en-US" sz="1100" dirty="0"/>
            </a:p>
          </p:txBody>
        </p:sp>
      </p:grpSp>
      <p:pic>
        <p:nvPicPr>
          <p:cNvPr id="98" name="Image 12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66998" y="5133372"/>
            <a:ext cx="4235505" cy="254596"/>
          </a:xfrm>
          <a:prstGeom prst="rect">
            <a:avLst/>
          </a:prstGeom>
        </p:spPr>
      </p:pic>
      <p:sp>
        <p:nvSpPr>
          <p:cNvPr id="99" name="Text 8"/>
          <p:cNvSpPr/>
          <p:nvPr/>
        </p:nvSpPr>
        <p:spPr>
          <a:xfrm>
            <a:off x="657759" y="5137091"/>
            <a:ext cx="4235505" cy="22306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1100" dirty="0" smtClean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PLAINTEXT</a:t>
            </a:r>
            <a:endParaRPr lang="en-US" sz="1100" dirty="0"/>
          </a:p>
        </p:txBody>
      </p:sp>
      <p:sp>
        <p:nvSpPr>
          <p:cNvPr id="100" name="Text 7"/>
          <p:cNvSpPr/>
          <p:nvPr/>
        </p:nvSpPr>
        <p:spPr>
          <a:xfrm>
            <a:off x="554403" y="5459820"/>
            <a:ext cx="423550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SASL Mechanism</a:t>
            </a:r>
            <a:endParaRPr lang="en-US" sz="1050" dirty="0"/>
          </a:p>
        </p:txBody>
      </p:sp>
      <p:pic>
        <p:nvPicPr>
          <p:cNvPr id="102" name="Image 12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66998" y="5651033"/>
            <a:ext cx="4235505" cy="254596"/>
          </a:xfrm>
          <a:prstGeom prst="rect">
            <a:avLst/>
          </a:prstGeom>
        </p:spPr>
      </p:pic>
      <p:sp>
        <p:nvSpPr>
          <p:cNvPr id="103" name="Text 8"/>
          <p:cNvSpPr/>
          <p:nvPr/>
        </p:nvSpPr>
        <p:spPr>
          <a:xfrm>
            <a:off x="657759" y="5654752"/>
            <a:ext cx="4235505" cy="22306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1100" dirty="0" smtClean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PLAIN</a:t>
            </a:r>
            <a:endParaRPr lang="en-US" sz="1100" dirty="0"/>
          </a:p>
        </p:txBody>
      </p:sp>
      <p:sp>
        <p:nvSpPr>
          <p:cNvPr id="104" name="Text 7"/>
          <p:cNvSpPr/>
          <p:nvPr/>
        </p:nvSpPr>
        <p:spPr>
          <a:xfrm>
            <a:off x="554403" y="4452450"/>
            <a:ext cx="423550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Event collection schedule (seconds)</a:t>
            </a:r>
            <a:endParaRPr lang="en-US" sz="1050" dirty="0"/>
          </a:p>
        </p:txBody>
      </p:sp>
      <p:pic>
        <p:nvPicPr>
          <p:cNvPr id="107" name="Image 12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66998" y="4634427"/>
            <a:ext cx="4235505" cy="254596"/>
          </a:xfrm>
          <a:prstGeom prst="rect">
            <a:avLst/>
          </a:prstGeom>
        </p:spPr>
      </p:pic>
      <p:sp>
        <p:nvSpPr>
          <p:cNvPr id="108" name="Text 8"/>
          <p:cNvSpPr/>
          <p:nvPr/>
        </p:nvSpPr>
        <p:spPr>
          <a:xfrm>
            <a:off x="657759" y="4638146"/>
            <a:ext cx="4235505" cy="22306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1100" dirty="0" smtClean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60</a:t>
            </a:r>
            <a:endParaRPr lang="en-US" sz="1100" dirty="0"/>
          </a:p>
        </p:txBody>
      </p:sp>
      <p:sp>
        <p:nvSpPr>
          <p:cNvPr id="110" name="타원 109">
            <a:extLst>
              <a:ext uri="{FF2B5EF4-FFF2-40B4-BE49-F238E27FC236}">
                <a16:creationId xmlns:a16="http://schemas.microsoft.com/office/drawing/2014/main" id="{4D9049EB-70D8-4995-9DBA-68C2EE93E2F4}"/>
              </a:ext>
            </a:extLst>
          </p:cNvPr>
          <p:cNvSpPr/>
          <p:nvPr/>
        </p:nvSpPr>
        <p:spPr>
          <a:xfrm>
            <a:off x="2528189" y="4162098"/>
            <a:ext cx="183750" cy="178979"/>
          </a:xfrm>
          <a:prstGeom prst="ellipse">
            <a:avLst/>
          </a:prstGeom>
          <a:solidFill>
            <a:srgbClr val="FF0000"/>
          </a:solidFill>
          <a:ln w="15875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endParaRPr lang="ko-KR" altLang="en-US" sz="10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1" name="타원 110">
            <a:extLst>
              <a:ext uri="{FF2B5EF4-FFF2-40B4-BE49-F238E27FC236}">
                <a16:creationId xmlns:a16="http://schemas.microsoft.com/office/drawing/2014/main" id="{4D9049EB-70D8-4995-9DBA-68C2EE93E2F4}"/>
              </a:ext>
            </a:extLst>
          </p:cNvPr>
          <p:cNvSpPr/>
          <p:nvPr/>
        </p:nvSpPr>
        <p:spPr>
          <a:xfrm>
            <a:off x="439144" y="5178828"/>
            <a:ext cx="183750" cy="178979"/>
          </a:xfrm>
          <a:prstGeom prst="ellipse">
            <a:avLst/>
          </a:prstGeom>
          <a:solidFill>
            <a:srgbClr val="FF0000"/>
          </a:solidFill>
          <a:ln w="15875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5</a:t>
            </a:r>
            <a:endParaRPr lang="ko-KR" altLang="en-US" sz="10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2" name="타원 111">
            <a:extLst>
              <a:ext uri="{FF2B5EF4-FFF2-40B4-BE49-F238E27FC236}">
                <a16:creationId xmlns:a16="http://schemas.microsoft.com/office/drawing/2014/main" id="{4D9049EB-70D8-4995-9DBA-68C2EE93E2F4}"/>
              </a:ext>
            </a:extLst>
          </p:cNvPr>
          <p:cNvSpPr/>
          <p:nvPr/>
        </p:nvSpPr>
        <p:spPr>
          <a:xfrm>
            <a:off x="439144" y="4689759"/>
            <a:ext cx="183750" cy="178979"/>
          </a:xfrm>
          <a:prstGeom prst="ellipse">
            <a:avLst/>
          </a:prstGeom>
          <a:solidFill>
            <a:srgbClr val="FF0000"/>
          </a:solidFill>
          <a:ln w="15875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endParaRPr lang="ko-KR" altLang="en-US" sz="10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6" name="순서도: 병합 115"/>
          <p:cNvSpPr/>
          <p:nvPr/>
        </p:nvSpPr>
        <p:spPr>
          <a:xfrm>
            <a:off x="4417227" y="4199499"/>
            <a:ext cx="89825" cy="133350"/>
          </a:xfrm>
          <a:prstGeom prst="flowChartMerg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83" name="그룹 82"/>
          <p:cNvGrpSpPr/>
          <p:nvPr/>
        </p:nvGrpSpPr>
        <p:grpSpPr>
          <a:xfrm>
            <a:off x="8816936" y="5762368"/>
            <a:ext cx="645384" cy="258067"/>
            <a:chOff x="8641449" y="5762368"/>
            <a:chExt cx="645384" cy="258067"/>
          </a:xfrm>
        </p:grpSpPr>
        <p:pic>
          <p:nvPicPr>
            <p:cNvPr id="86" name="Image 18" descr="preencoded.png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8641449" y="5762368"/>
              <a:ext cx="645384" cy="258067"/>
            </a:xfrm>
            <a:prstGeom prst="rect">
              <a:avLst/>
            </a:prstGeom>
          </p:spPr>
        </p:pic>
        <p:pic>
          <p:nvPicPr>
            <p:cNvPr id="87" name="Image 19" descr="preencoded.png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9082489" y="5830488"/>
              <a:ext cx="111984" cy="127982"/>
            </a:xfrm>
            <a:prstGeom prst="rect">
              <a:avLst/>
            </a:prstGeom>
          </p:spPr>
        </p:pic>
        <p:sp>
          <p:nvSpPr>
            <p:cNvPr id="88" name="Text 13"/>
            <p:cNvSpPr/>
            <p:nvPr/>
          </p:nvSpPr>
          <p:spPr>
            <a:xfrm>
              <a:off x="8717189" y="5783152"/>
              <a:ext cx="307157" cy="187257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 algn="ctr">
                <a:lnSpc>
                  <a:spcPts val="1800"/>
                </a:lnSpc>
                <a:buNone/>
              </a:pPr>
              <a:r>
                <a:rPr lang="en-US" sz="1200" dirty="0">
                  <a:solidFill>
                    <a:srgbClr val="FFFFFF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다음</a:t>
              </a:r>
              <a:endParaRPr 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462637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38200"/>
            <a:ext cx="1219200" cy="38100"/>
          </a:xfrm>
          <a:prstGeom prst="rect">
            <a:avLst/>
          </a:prstGeom>
        </p:spPr>
      </p:pic>
      <p:sp>
        <p:nvSpPr>
          <p:cNvPr id="23" name="Text 1"/>
          <p:cNvSpPr/>
          <p:nvPr/>
        </p:nvSpPr>
        <p:spPr>
          <a:xfrm>
            <a:off x="381000" y="913161"/>
            <a:ext cx="11430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데이터 동기화 주기를 선택하세요.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484661"/>
            <a:ext cx="3133618" cy="2090738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6390" y="1713261"/>
            <a:ext cx="331025" cy="381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7422" y="1770411"/>
            <a:ext cx="148961" cy="2667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9615" y="2665761"/>
            <a:ext cx="13241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79438" y="1484661"/>
            <a:ext cx="3133747" cy="2090738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74828" y="1713261"/>
            <a:ext cx="331025" cy="381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57584" y="1770411"/>
            <a:ext cx="165513" cy="2667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78053" y="2665761"/>
            <a:ext cx="13241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78004" y="1484661"/>
            <a:ext cx="3133618" cy="2090738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61819" y="1713261"/>
            <a:ext cx="331025" cy="3810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23887" y="1770411"/>
            <a:ext cx="206891" cy="2667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76619" y="2665761"/>
            <a:ext cx="13241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376619" y="2932461"/>
            <a:ext cx="2736388" cy="414338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481201" y="3008661"/>
            <a:ext cx="2603978" cy="261937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81000" y="4061174"/>
            <a:ext cx="13241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600047" y="3956399"/>
            <a:ext cx="711704" cy="3810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063482" y="4070699"/>
            <a:ext cx="115859" cy="152400"/>
          </a:xfrm>
          <a:prstGeom prst="rect">
            <a:avLst/>
          </a:prstGeom>
        </p:spPr>
      </p:pic>
      <p:sp>
        <p:nvSpPr>
          <p:cNvPr id="24" name="Text 2"/>
          <p:cNvSpPr/>
          <p:nvPr/>
        </p:nvSpPr>
        <p:spPr>
          <a:xfrm>
            <a:off x="1239825" y="1751361"/>
            <a:ext cx="476676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수동</a:t>
            </a:r>
            <a:endParaRPr lang="en-US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5" name="Text 3"/>
          <p:cNvSpPr/>
          <p:nvPr/>
        </p:nvSpPr>
        <p:spPr>
          <a:xfrm>
            <a:off x="579615" y="2246661"/>
            <a:ext cx="328366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필요할 때마다 </a:t>
            </a:r>
            <a:r>
              <a:rPr lang="en-US" sz="1200" dirty="0" err="1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수동으로</a:t>
            </a:r>
            <a:r>
              <a:rPr lang="en-US" sz="1200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 </a:t>
            </a:r>
            <a:r>
              <a:rPr lang="en-US" sz="1200" dirty="0" err="1" smtClean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동기화</a:t>
            </a:r>
            <a:r>
              <a:rPr lang="en-US" sz="1200" dirty="0" smtClean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 </a:t>
            </a:r>
            <a:r>
              <a:rPr lang="en-US" sz="1200" dirty="0" err="1" smtClean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실행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6" name="Text 4"/>
          <p:cNvSpPr/>
          <p:nvPr/>
        </p:nvSpPr>
        <p:spPr>
          <a:xfrm>
            <a:off x="778230" y="2627661"/>
            <a:ext cx="168993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수동 실행만 가능합니다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7" name="Text 5"/>
          <p:cNvSpPr/>
          <p:nvPr/>
        </p:nvSpPr>
        <p:spPr>
          <a:xfrm>
            <a:off x="4638263" y="1751361"/>
            <a:ext cx="476676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정기</a:t>
            </a:r>
            <a:endParaRPr lang="en-US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8" name="Text 6"/>
          <p:cNvSpPr/>
          <p:nvPr/>
        </p:nvSpPr>
        <p:spPr>
          <a:xfrm>
            <a:off x="3978053" y="2246661"/>
            <a:ext cx="328382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정해진 간격으로 </a:t>
            </a:r>
            <a:r>
              <a:rPr lang="en-US" sz="1200" dirty="0" err="1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자동</a:t>
            </a:r>
            <a:r>
              <a:rPr lang="en-US" sz="1200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 </a:t>
            </a:r>
            <a:r>
              <a:rPr lang="en-US" sz="1200" dirty="0" err="1" smtClean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동기화</a:t>
            </a:r>
            <a:r>
              <a:rPr lang="en-US" sz="1200" dirty="0" smtClean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 </a:t>
            </a:r>
            <a:r>
              <a:rPr lang="en-US" sz="1200" dirty="0" err="1" smtClean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실행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9" name="Text 7"/>
          <p:cNvSpPr/>
          <p:nvPr/>
        </p:nvSpPr>
        <p:spPr>
          <a:xfrm>
            <a:off x="4176668" y="2627661"/>
            <a:ext cx="105436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간격 설정 가능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0" name="Text 8"/>
          <p:cNvSpPr/>
          <p:nvPr/>
        </p:nvSpPr>
        <p:spPr>
          <a:xfrm>
            <a:off x="3978053" y="2975324"/>
            <a:ext cx="371317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간격: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1" name="Text 9"/>
          <p:cNvSpPr/>
          <p:nvPr/>
        </p:nvSpPr>
        <p:spPr>
          <a:xfrm>
            <a:off x="8025254" y="1751361"/>
            <a:ext cx="1423977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Cron 표현식</a:t>
            </a:r>
            <a:endParaRPr lang="en-US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2" name="Text 10"/>
          <p:cNvSpPr/>
          <p:nvPr/>
        </p:nvSpPr>
        <p:spPr>
          <a:xfrm>
            <a:off x="7376619" y="2246661"/>
            <a:ext cx="328366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고급 사용자를 위한 유연한 스케줄링 설정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3" name="Text 11"/>
          <p:cNvSpPr/>
          <p:nvPr/>
        </p:nvSpPr>
        <p:spPr>
          <a:xfrm>
            <a:off x="7575234" y="2627661"/>
            <a:ext cx="153104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정밀한 스케줄링 가능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4" name="Text 12"/>
          <p:cNvSpPr/>
          <p:nvPr/>
        </p:nvSpPr>
        <p:spPr>
          <a:xfrm>
            <a:off x="621769" y="4051649"/>
            <a:ext cx="4217466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선택한 동기화 주기에 따라 데이터 전송 빈도가 결정됩니다.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5" name="Text 13"/>
          <p:cNvSpPr/>
          <p:nvPr/>
        </p:nvSpPr>
        <p:spPr>
          <a:xfrm>
            <a:off x="9705975" y="4032599"/>
            <a:ext cx="31778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다음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7" name="Text 0"/>
          <p:cNvSpPr/>
          <p:nvPr/>
        </p:nvSpPr>
        <p:spPr>
          <a:xfrm>
            <a:off x="381000" y="381000"/>
            <a:ext cx="114300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indent="0">
              <a:lnSpc>
                <a:spcPts val="2700"/>
              </a:lnSpc>
              <a:buNone/>
            </a:pPr>
            <a:r>
              <a:rPr lang="ko-KR" altLang="en-US" sz="2250" b="1" dirty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커넥션 </a:t>
            </a:r>
            <a:r>
              <a:rPr lang="ko-KR" altLang="en-US" sz="2250" b="1" dirty="0" smtClean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생성 </a:t>
            </a:r>
            <a:r>
              <a:rPr lang="en-US" altLang="ko-KR" sz="2250" b="1" dirty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- </a:t>
            </a:r>
            <a:r>
              <a:rPr lang="ko-KR" altLang="en-US" sz="2250" b="1" dirty="0" smtClean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동기화 </a:t>
            </a:r>
            <a:r>
              <a:rPr lang="ko-KR" altLang="en-US" sz="2250" b="1" dirty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주기 설정</a:t>
            </a:r>
            <a:endParaRPr lang="en-US" sz="2250" b="1" dirty="0">
              <a:solidFill>
                <a:srgbClr val="000000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</p:txBody>
      </p:sp>
      <p:pic>
        <p:nvPicPr>
          <p:cNvPr id="39" name="Image 55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415006" y="1239520"/>
            <a:ext cx="1702579" cy="3263032"/>
          </a:xfrm>
          <a:prstGeom prst="rect">
            <a:avLst/>
          </a:prstGeom>
        </p:spPr>
      </p:pic>
      <p:sp>
        <p:nvSpPr>
          <p:cNvPr id="40" name="Text 46"/>
          <p:cNvSpPr/>
          <p:nvPr/>
        </p:nvSpPr>
        <p:spPr>
          <a:xfrm>
            <a:off x="10419988" y="964986"/>
            <a:ext cx="2088745" cy="18397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 smtClean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UI </a:t>
            </a:r>
            <a:r>
              <a:rPr lang="ko-KR" altLang="en-US" sz="1350" b="1" dirty="0" smtClean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설명</a:t>
            </a:r>
            <a:r>
              <a:rPr lang="en-US" sz="1350" b="1" dirty="0" smtClean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en-US" sz="1350" b="1" dirty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영역</a:t>
            </a:r>
            <a:endParaRPr lang="en-US" sz="1350" dirty="0"/>
          </a:p>
        </p:txBody>
      </p:sp>
      <p:sp>
        <p:nvSpPr>
          <p:cNvPr id="41" name="Text 20"/>
          <p:cNvSpPr/>
          <p:nvPr/>
        </p:nvSpPr>
        <p:spPr>
          <a:xfrm>
            <a:off x="10419988" y="1291345"/>
            <a:ext cx="1641907" cy="341955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200"/>
              </a:lnSpc>
            </a:pPr>
            <a:r>
              <a:rPr 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1.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라디오 박스 선택</a:t>
            </a:r>
            <a:endParaRPr lang="en-US" altLang="ko-KR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endParaRPr lang="en-US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r>
              <a:rPr 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2.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간격 설정 </a:t>
            </a: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- </a:t>
            </a:r>
            <a:r>
              <a:rPr lang="ko-KR" altLang="en-US" sz="10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분</a:t>
            </a:r>
            <a:r>
              <a:rPr lang="en-US" altLang="ko-KR" sz="10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, </a:t>
            </a:r>
            <a:r>
              <a:rPr lang="ko-KR" altLang="en-US" sz="10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시간</a:t>
            </a:r>
            <a:r>
              <a:rPr lang="en-US" altLang="ko-KR" sz="10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,  </a:t>
            </a:r>
            <a:r>
              <a:rPr lang="ko-KR" altLang="en-US" sz="10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일</a:t>
            </a:r>
            <a:endParaRPr lang="en-US" altLang="ko-KR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endParaRPr lang="en-US" sz="1000" dirty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r>
              <a:rPr 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3. </a:t>
            </a:r>
            <a:r>
              <a:rPr lang="en-US" sz="1000" dirty="0" err="1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Crontab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에 실행되는 표현식을 통한 설정</a:t>
            </a:r>
            <a:endParaRPr lang="en-US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</p:txBody>
      </p:sp>
      <p:sp>
        <p:nvSpPr>
          <p:cNvPr id="47" name="타원 46"/>
          <p:cNvSpPr/>
          <p:nvPr/>
        </p:nvSpPr>
        <p:spPr>
          <a:xfrm>
            <a:off x="875213" y="1860897"/>
            <a:ext cx="103882" cy="104772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8" name="타원 47"/>
          <p:cNvSpPr/>
          <p:nvPr/>
        </p:nvSpPr>
        <p:spPr>
          <a:xfrm>
            <a:off x="562693" y="1860897"/>
            <a:ext cx="103882" cy="104772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0" name="타원 49"/>
          <p:cNvSpPr/>
          <p:nvPr/>
        </p:nvSpPr>
        <p:spPr>
          <a:xfrm>
            <a:off x="3966905" y="1860897"/>
            <a:ext cx="103882" cy="104772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2" name="타원 51"/>
          <p:cNvSpPr/>
          <p:nvPr/>
        </p:nvSpPr>
        <p:spPr>
          <a:xfrm>
            <a:off x="7365471" y="1860897"/>
            <a:ext cx="103882" cy="104772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4D9049EB-70D8-4995-9DBA-68C2EE93E2F4}"/>
              </a:ext>
            </a:extLst>
          </p:cNvPr>
          <p:cNvSpPr/>
          <p:nvPr/>
        </p:nvSpPr>
        <p:spPr>
          <a:xfrm>
            <a:off x="297873" y="1814271"/>
            <a:ext cx="183750" cy="178979"/>
          </a:xfrm>
          <a:prstGeom prst="ellipse">
            <a:avLst/>
          </a:prstGeom>
          <a:solidFill>
            <a:srgbClr val="FF0000"/>
          </a:solidFill>
          <a:ln w="15875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sz="10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4D9049EB-70D8-4995-9DBA-68C2EE93E2F4}"/>
              </a:ext>
            </a:extLst>
          </p:cNvPr>
          <p:cNvSpPr/>
          <p:nvPr/>
        </p:nvSpPr>
        <p:spPr>
          <a:xfrm>
            <a:off x="7450289" y="2830606"/>
            <a:ext cx="183750" cy="178979"/>
          </a:xfrm>
          <a:prstGeom prst="ellipse">
            <a:avLst/>
          </a:prstGeom>
          <a:solidFill>
            <a:srgbClr val="FF0000"/>
          </a:solidFill>
          <a:ln w="15875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endParaRPr lang="ko-KR" altLang="en-US" sz="10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60" name="Image 47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370572" y="2983277"/>
            <a:ext cx="686288" cy="312424"/>
          </a:xfrm>
          <a:prstGeom prst="rect">
            <a:avLst/>
          </a:prstGeom>
        </p:spPr>
      </p:pic>
      <p:grpSp>
        <p:nvGrpSpPr>
          <p:cNvPr id="61" name="그룹 60"/>
          <p:cNvGrpSpPr/>
          <p:nvPr/>
        </p:nvGrpSpPr>
        <p:grpSpPr>
          <a:xfrm>
            <a:off x="5154761" y="2983277"/>
            <a:ext cx="612414" cy="383248"/>
            <a:chOff x="562960" y="3283075"/>
            <a:chExt cx="4350324" cy="248779"/>
          </a:xfrm>
        </p:grpSpPr>
        <p:pic>
          <p:nvPicPr>
            <p:cNvPr id="62" name="Image 12" descr="preencoded.png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562960" y="3283075"/>
              <a:ext cx="4350324" cy="195841"/>
            </a:xfrm>
            <a:prstGeom prst="rect">
              <a:avLst/>
            </a:prstGeom>
          </p:spPr>
        </p:pic>
        <p:sp>
          <p:nvSpPr>
            <p:cNvPr id="63" name="Text 8"/>
            <p:cNvSpPr/>
            <p:nvPr/>
          </p:nvSpPr>
          <p:spPr>
            <a:xfrm>
              <a:off x="653721" y="3283075"/>
              <a:ext cx="4235505" cy="223067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800"/>
                </a:lnSpc>
                <a:buNone/>
              </a:pPr>
              <a:endParaRPr lang="en-US" sz="11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64" name="Text 8"/>
            <p:cNvSpPr/>
            <p:nvPr/>
          </p:nvSpPr>
          <p:spPr>
            <a:xfrm>
              <a:off x="653721" y="3308787"/>
              <a:ext cx="4235505" cy="223067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>
                <a:lnSpc>
                  <a:spcPts val="1800"/>
                </a:lnSpc>
              </a:pPr>
              <a:r>
                <a:rPr lang="ko-KR" altLang="en-US" sz="1100" dirty="0" smtClean="0">
                  <a:solidFill>
                    <a:srgbClr val="333333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Noto Sans KR" pitchFamily="34" charset="-120"/>
                </a:rPr>
                <a:t>분</a:t>
              </a:r>
              <a:endParaRPr lang="en-US" sz="110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KR" pitchFamily="34" charset="-120"/>
              </a:endParaRPr>
            </a:p>
          </p:txBody>
        </p:sp>
      </p:grpSp>
      <p:sp>
        <p:nvSpPr>
          <p:cNvPr id="65" name="순서도: 병합 64"/>
          <p:cNvSpPr/>
          <p:nvPr/>
        </p:nvSpPr>
        <p:spPr>
          <a:xfrm>
            <a:off x="5627861" y="3068648"/>
            <a:ext cx="89825" cy="79694"/>
          </a:xfrm>
          <a:prstGeom prst="flowChartMerg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4D9049EB-70D8-4995-9DBA-68C2EE93E2F4}"/>
              </a:ext>
            </a:extLst>
          </p:cNvPr>
          <p:cNvSpPr/>
          <p:nvPr/>
        </p:nvSpPr>
        <p:spPr>
          <a:xfrm>
            <a:off x="5337775" y="2851845"/>
            <a:ext cx="183750" cy="178979"/>
          </a:xfrm>
          <a:prstGeom prst="ellipse">
            <a:avLst/>
          </a:prstGeom>
          <a:solidFill>
            <a:srgbClr val="FF0000"/>
          </a:solidFill>
          <a:ln w="15875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endParaRPr lang="ko-KR" altLang="en-US" sz="10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934337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38200"/>
            <a:ext cx="12192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104900"/>
            <a:ext cx="4628785" cy="4762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371600"/>
            <a:ext cx="228600" cy="228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3238500"/>
            <a:ext cx="4323181" cy="1143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3438525"/>
            <a:ext cx="190500" cy="1714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3771900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4038600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02505" y="1104900"/>
            <a:ext cx="4865371" cy="47625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31105" y="1371600"/>
            <a:ext cx="200025" cy="2286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31105" y="1790700"/>
            <a:ext cx="4636770" cy="3810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31105" y="1790700"/>
            <a:ext cx="871538" cy="3810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483505" y="1895475"/>
            <a:ext cx="15240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55043" y="1895475"/>
            <a:ext cx="1143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165560" y="1895475"/>
            <a:ext cx="1905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988580" y="1895475"/>
            <a:ext cx="1524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331105" y="2705100"/>
            <a:ext cx="4514850" cy="269543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331105" y="3009900"/>
            <a:ext cx="4514850" cy="6858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935026" y="3086100"/>
            <a:ext cx="256729" cy="1905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229854" y="3086100"/>
            <a:ext cx="476548" cy="1905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744502" y="3086100"/>
            <a:ext cx="467618" cy="1905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331106" y="3365224"/>
            <a:ext cx="4636770" cy="311425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935026" y="3429000"/>
            <a:ext cx="256729" cy="1905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229854" y="3429000"/>
            <a:ext cx="563166" cy="1905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831120" y="3429000"/>
            <a:ext cx="772120" cy="1905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81000" y="6200775"/>
            <a:ext cx="152400" cy="1524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154976" y="6038850"/>
            <a:ext cx="819150" cy="3810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688376" y="6153150"/>
            <a:ext cx="133350" cy="152400"/>
          </a:xfrm>
          <a:prstGeom prst="rect">
            <a:avLst/>
          </a:prstGeom>
        </p:spPr>
      </p:pic>
      <p:sp>
        <p:nvSpPr>
          <p:cNvPr id="30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lvl="0">
              <a:lnSpc>
                <a:spcPts val="2700"/>
              </a:lnSpc>
            </a:pPr>
            <a:r>
              <a:rPr lang="ko-KR" altLang="en-US" sz="2250" b="1" dirty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커넥션 생성 </a:t>
            </a:r>
            <a:r>
              <a:rPr lang="en-US" altLang="ko-KR" sz="2250" b="1" dirty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- </a:t>
            </a:r>
            <a:r>
              <a:rPr lang="ko-KR" altLang="en-US" sz="2250" b="1" dirty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동기화 </a:t>
            </a:r>
            <a:r>
              <a:rPr lang="ko-KR" altLang="en-US" sz="2250" b="1" dirty="0" smtClean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방식 및 소스 데이터 선택</a:t>
            </a:r>
            <a:endParaRPr lang="en-US" sz="2700" dirty="0"/>
          </a:p>
        </p:txBody>
      </p:sp>
      <p:sp>
        <p:nvSpPr>
          <p:cNvPr id="31" name="Text 1"/>
          <p:cNvSpPr/>
          <p:nvPr/>
        </p:nvSpPr>
        <p:spPr>
          <a:xfrm>
            <a:off x="952500" y="1333500"/>
            <a:ext cx="51054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동기화 방식</a:t>
            </a:r>
            <a:endParaRPr lang="en-US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2" name="Text 2"/>
          <p:cNvSpPr/>
          <p:nvPr/>
        </p:nvSpPr>
        <p:spPr>
          <a:xfrm>
            <a:off x="847725" y="1790700"/>
            <a:ext cx="400639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전체 동기화 (Full Load)</a:t>
            </a:r>
            <a:endParaRPr lang="en-US" sz="15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3" name="Text 3"/>
          <p:cNvSpPr/>
          <p:nvPr/>
        </p:nvSpPr>
        <p:spPr>
          <a:xfrm>
            <a:off x="847725" y="2095500"/>
            <a:ext cx="400639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매번 소스의 전체 데이터를 타겟으로 복사합니다.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4" name="Text 4"/>
          <p:cNvSpPr/>
          <p:nvPr/>
        </p:nvSpPr>
        <p:spPr>
          <a:xfrm>
            <a:off x="847725" y="2476500"/>
            <a:ext cx="418927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증분 동기화 (Incremental Load)</a:t>
            </a:r>
            <a:endParaRPr lang="en-US" sz="15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5" name="Text 5"/>
          <p:cNvSpPr/>
          <p:nvPr/>
        </p:nvSpPr>
        <p:spPr>
          <a:xfrm>
            <a:off x="847725" y="2781300"/>
            <a:ext cx="418927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마지막 동기화 이후 변경된 데이터만 동기화합니다.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6" name="Text 6"/>
          <p:cNvSpPr/>
          <p:nvPr/>
        </p:nvSpPr>
        <p:spPr>
          <a:xfrm>
            <a:off x="1028700" y="3390900"/>
            <a:ext cx="384318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동기화 방식 미리보기</a:t>
            </a:r>
            <a:endParaRPr lang="en-US" sz="13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7" name="Text 7"/>
          <p:cNvSpPr/>
          <p:nvPr/>
        </p:nvSpPr>
        <p:spPr>
          <a:xfrm>
            <a:off x="990600" y="3733800"/>
            <a:ext cx="388512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전체 동기화: 모든 데이터를 처음부터 다시 전송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8" name="Text 8"/>
          <p:cNvSpPr/>
          <p:nvPr/>
        </p:nvSpPr>
        <p:spPr>
          <a:xfrm>
            <a:off x="990600" y="4000500"/>
            <a:ext cx="360402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증분 동기화: 변경된 데이터만 전송 (효율적)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9" name="Text 9"/>
          <p:cNvSpPr/>
          <p:nvPr/>
        </p:nvSpPr>
        <p:spPr>
          <a:xfrm>
            <a:off x="5645430" y="1333500"/>
            <a:ext cx="51054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소스 데이터 선택</a:t>
            </a:r>
            <a:endParaRPr lang="en-US" sz="1800" dirty="0"/>
          </a:p>
        </p:txBody>
      </p:sp>
      <p:sp>
        <p:nvSpPr>
          <p:cNvPr id="40" name="Text 10"/>
          <p:cNvSpPr/>
          <p:nvPr/>
        </p:nvSpPr>
        <p:spPr>
          <a:xfrm>
            <a:off x="5636381" y="1885950"/>
            <a:ext cx="451485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B82F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 RDB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1" name="Text 11"/>
          <p:cNvSpPr/>
          <p:nvPr/>
        </p:nvSpPr>
        <p:spPr>
          <a:xfrm>
            <a:off x="6472111" y="1885950"/>
            <a:ext cx="423982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 파일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2" name="Text 12"/>
          <p:cNvSpPr/>
          <p:nvPr/>
        </p:nvSpPr>
        <p:spPr>
          <a:xfrm>
            <a:off x="7365199" y="1885950"/>
            <a:ext cx="347543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 API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3" name="Text 13"/>
          <p:cNvSpPr/>
          <p:nvPr/>
        </p:nvSpPr>
        <p:spPr>
          <a:xfrm>
            <a:off x="8131901" y="1885950"/>
            <a:ext cx="566142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 Kafka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4" name="Text 14"/>
          <p:cNvSpPr/>
          <p:nvPr/>
        </p:nvSpPr>
        <p:spPr>
          <a:xfrm>
            <a:off x="5331105" y="2324100"/>
            <a:ext cx="148304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MySQL 운영DB</a:t>
            </a:r>
            <a:endParaRPr lang="en-US" sz="13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5" name="Text 15"/>
          <p:cNvSpPr/>
          <p:nvPr/>
        </p:nvSpPr>
        <p:spPr>
          <a:xfrm>
            <a:off x="9276896" y="2419350"/>
            <a:ext cx="69097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전체 선택</a:t>
            </a:r>
            <a:endParaRPr 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6" name="Text 16"/>
          <p:cNvSpPr/>
          <p:nvPr/>
        </p:nvSpPr>
        <p:spPr>
          <a:xfrm>
            <a:off x="5607330" y="2781300"/>
            <a:ext cx="432197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kern="0" spc="36" dirty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테이블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7" name="Text 17"/>
          <p:cNvSpPr/>
          <p:nvPr/>
        </p:nvSpPr>
        <p:spPr>
          <a:xfrm>
            <a:off x="6935026" y="2790825"/>
            <a:ext cx="288072" cy="1333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kern="0" spc="36" dirty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컬럼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8" name="Text 18"/>
          <p:cNvSpPr/>
          <p:nvPr/>
        </p:nvSpPr>
        <p:spPr>
          <a:xfrm>
            <a:off x="5607330" y="3086100"/>
            <a:ext cx="432554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users</a:t>
            </a:r>
            <a:endParaRPr 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9" name="Text 19"/>
          <p:cNvSpPr/>
          <p:nvPr/>
        </p:nvSpPr>
        <p:spPr>
          <a:xfrm>
            <a:off x="7011226" y="3086100"/>
            <a:ext cx="308074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1E40A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id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0" name="Text 20"/>
          <p:cNvSpPr/>
          <p:nvPr/>
        </p:nvSpPr>
        <p:spPr>
          <a:xfrm>
            <a:off x="7306054" y="3086100"/>
            <a:ext cx="571857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1E40A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name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1" name="Text 21"/>
          <p:cNvSpPr/>
          <p:nvPr/>
        </p:nvSpPr>
        <p:spPr>
          <a:xfrm>
            <a:off x="7820702" y="3086100"/>
            <a:ext cx="56114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1E40A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email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2" name="Text 22"/>
          <p:cNvSpPr/>
          <p:nvPr/>
        </p:nvSpPr>
        <p:spPr>
          <a:xfrm>
            <a:off x="5607330" y="3429000"/>
            <a:ext cx="510064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orders</a:t>
            </a:r>
            <a:endParaRPr 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3" name="Text 23"/>
          <p:cNvSpPr/>
          <p:nvPr/>
        </p:nvSpPr>
        <p:spPr>
          <a:xfrm>
            <a:off x="7011226" y="3429000"/>
            <a:ext cx="308074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1E40A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id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4" name="Text 24"/>
          <p:cNvSpPr/>
          <p:nvPr/>
        </p:nvSpPr>
        <p:spPr>
          <a:xfrm>
            <a:off x="7306054" y="3429000"/>
            <a:ext cx="67579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1E40A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user_id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5" name="Text 25"/>
          <p:cNvSpPr/>
          <p:nvPr/>
        </p:nvSpPr>
        <p:spPr>
          <a:xfrm>
            <a:off x="7907320" y="3429000"/>
            <a:ext cx="926544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1E40A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order_date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6" name="Text 26"/>
          <p:cNvSpPr/>
          <p:nvPr/>
        </p:nvSpPr>
        <p:spPr>
          <a:xfrm>
            <a:off x="658118" y="6191250"/>
            <a:ext cx="4092119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RDB의 경우 테이블과 컬럼을 선택할 수 있습니다.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7" name="Text 27"/>
          <p:cNvSpPr/>
          <p:nvPr/>
        </p:nvSpPr>
        <p:spPr>
          <a:xfrm>
            <a:off x="9276896" y="6115050"/>
            <a:ext cx="3657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다음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8" name="타원 57"/>
          <p:cNvSpPr/>
          <p:nvPr/>
        </p:nvSpPr>
        <p:spPr>
          <a:xfrm>
            <a:off x="678438" y="1884047"/>
            <a:ext cx="103882" cy="104772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9" name="타원 58"/>
          <p:cNvSpPr/>
          <p:nvPr/>
        </p:nvSpPr>
        <p:spPr>
          <a:xfrm>
            <a:off x="678438" y="2564767"/>
            <a:ext cx="103882" cy="104772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60" name="Image 55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074556" y="1061609"/>
            <a:ext cx="2043030" cy="3440943"/>
          </a:xfrm>
          <a:prstGeom prst="rect">
            <a:avLst/>
          </a:prstGeom>
        </p:spPr>
      </p:pic>
      <p:sp>
        <p:nvSpPr>
          <p:cNvPr id="61" name="Text 46"/>
          <p:cNvSpPr/>
          <p:nvPr/>
        </p:nvSpPr>
        <p:spPr>
          <a:xfrm>
            <a:off x="10091670" y="847197"/>
            <a:ext cx="2506415" cy="18397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 smtClean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UI </a:t>
            </a:r>
            <a:r>
              <a:rPr lang="ko-KR" altLang="en-US" sz="1350" b="1" dirty="0" smtClean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설명</a:t>
            </a:r>
            <a:r>
              <a:rPr lang="en-US" sz="1350" b="1" dirty="0" smtClean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en-US" sz="1350" b="1" dirty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영역</a:t>
            </a:r>
            <a:endParaRPr lang="en-US" sz="1350" dirty="0"/>
          </a:p>
        </p:txBody>
      </p:sp>
      <p:sp>
        <p:nvSpPr>
          <p:cNvPr id="62" name="Text 20"/>
          <p:cNvSpPr/>
          <p:nvPr/>
        </p:nvSpPr>
        <p:spPr>
          <a:xfrm>
            <a:off x="10091670" y="1104901"/>
            <a:ext cx="1970226" cy="360599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200"/>
              </a:lnSpc>
            </a:pPr>
            <a:r>
              <a:rPr 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1.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원하는 동기화 방식의 라디오 박스 선택</a:t>
            </a:r>
            <a:endParaRPr lang="en-US" altLang="ko-KR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endParaRPr lang="en-US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r>
              <a:rPr 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2.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상세 소스 데이터를 선택하는 화면 구성</a:t>
            </a:r>
            <a:endParaRPr lang="en-US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4D9049EB-70D8-4995-9DBA-68C2EE93E2F4}"/>
              </a:ext>
            </a:extLst>
          </p:cNvPr>
          <p:cNvSpPr/>
          <p:nvPr/>
        </p:nvSpPr>
        <p:spPr>
          <a:xfrm>
            <a:off x="402600" y="1868896"/>
            <a:ext cx="183750" cy="178979"/>
          </a:xfrm>
          <a:prstGeom prst="ellipse">
            <a:avLst/>
          </a:prstGeom>
          <a:solidFill>
            <a:srgbClr val="FF0000"/>
          </a:solidFill>
          <a:ln w="15875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sz="10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4" name="직사각형 63"/>
          <p:cNvSpPr/>
          <p:nvPr/>
        </p:nvSpPr>
        <p:spPr>
          <a:xfrm>
            <a:off x="9027654" y="2417421"/>
            <a:ext cx="162646" cy="17530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2" name="직사각형 71"/>
          <p:cNvSpPr/>
          <p:nvPr/>
        </p:nvSpPr>
        <p:spPr>
          <a:xfrm>
            <a:off x="5415438" y="2815589"/>
            <a:ext cx="115692" cy="10858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5440514" y="3118464"/>
            <a:ext cx="115692" cy="10858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4" name="직사각형 73"/>
          <p:cNvSpPr/>
          <p:nvPr/>
        </p:nvSpPr>
        <p:spPr>
          <a:xfrm>
            <a:off x="5442441" y="3467633"/>
            <a:ext cx="115692" cy="10858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8" name="타원 77">
            <a:extLst>
              <a:ext uri="{FF2B5EF4-FFF2-40B4-BE49-F238E27FC236}">
                <a16:creationId xmlns:a16="http://schemas.microsoft.com/office/drawing/2014/main" id="{4D9049EB-70D8-4995-9DBA-68C2EE93E2F4}"/>
              </a:ext>
            </a:extLst>
          </p:cNvPr>
          <p:cNvSpPr/>
          <p:nvPr/>
        </p:nvSpPr>
        <p:spPr>
          <a:xfrm>
            <a:off x="5068013" y="1371600"/>
            <a:ext cx="183750" cy="178979"/>
          </a:xfrm>
          <a:prstGeom prst="ellipse">
            <a:avLst/>
          </a:prstGeom>
          <a:solidFill>
            <a:srgbClr val="FF0000"/>
          </a:solidFill>
          <a:ln w="15875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endParaRPr lang="ko-KR" altLang="en-US" sz="10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114425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38200"/>
            <a:ext cx="12192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143000"/>
            <a:ext cx="200025" cy="2286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2933700"/>
            <a:ext cx="3581400" cy="13906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3086100"/>
            <a:ext cx="381000" cy="3810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463" y="3200400"/>
            <a:ext cx="142875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91000" y="1104900"/>
            <a:ext cx="6200410" cy="47625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19600" y="1143000"/>
            <a:ext cx="228600" cy="2286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19600" y="1562100"/>
            <a:ext cx="5807662" cy="4572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33900" y="1714500"/>
            <a:ext cx="1524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19600" y="2552700"/>
            <a:ext cx="5807662" cy="13716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19600" y="2552700"/>
            <a:ext cx="5787342" cy="4572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808220" y="2667000"/>
            <a:ext cx="228600" cy="2286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65370" y="2705100"/>
            <a:ext cx="11430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19600" y="3009900"/>
            <a:ext cx="5787342" cy="4572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808220" y="3124200"/>
            <a:ext cx="228600" cy="2286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65370" y="3162300"/>
            <a:ext cx="114300" cy="1524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19600" y="3467100"/>
            <a:ext cx="5787342" cy="4572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808220" y="3581400"/>
            <a:ext cx="228600" cy="2286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65370" y="3619500"/>
            <a:ext cx="114300" cy="1524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419600" y="4152900"/>
            <a:ext cx="5807662" cy="11049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572000" y="4305300"/>
            <a:ext cx="304800" cy="3048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52963" y="4381500"/>
            <a:ext cx="142875" cy="1524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572001" y="4724400"/>
            <a:ext cx="4744247" cy="381000"/>
          </a:xfrm>
          <a:prstGeom prst="rect">
            <a:avLst/>
          </a:prstGeom>
        </p:spPr>
      </p:pic>
      <p:pic>
        <p:nvPicPr>
          <p:cNvPr id="42" name="Image 4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387792" y="5408592"/>
            <a:ext cx="819150" cy="381000"/>
          </a:xfrm>
          <a:prstGeom prst="rect">
            <a:avLst/>
          </a:prstGeom>
        </p:spPr>
      </p:pic>
      <p:pic>
        <p:nvPicPr>
          <p:cNvPr id="43" name="Image 4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921192" y="5522892"/>
            <a:ext cx="133350" cy="152400"/>
          </a:xfrm>
          <a:prstGeom prst="rect">
            <a:avLst/>
          </a:prstGeom>
        </p:spPr>
      </p:pic>
      <p:sp>
        <p:nvSpPr>
          <p:cNvPr id="44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3000"/>
              </a:lnSpc>
            </a:pPr>
            <a:r>
              <a:rPr lang="ko-KR" altLang="en-US" sz="2250" b="1" dirty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커넥션 생성 </a:t>
            </a:r>
            <a:r>
              <a:rPr lang="en-US" altLang="ko-KR" sz="2250" b="1" dirty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- </a:t>
            </a:r>
            <a:r>
              <a:rPr lang="en-US" sz="2250" b="1" dirty="0" smtClean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MongoDB </a:t>
            </a:r>
            <a:r>
              <a:rPr lang="en-US" sz="2250" b="1" dirty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저장 방식 - </a:t>
            </a:r>
            <a:r>
              <a:rPr lang="en-US" sz="2250" b="1" dirty="0" err="1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컬렉션</a:t>
            </a:r>
            <a:r>
              <a:rPr lang="en-US" sz="2250" b="1" dirty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en-US" sz="2250" b="1" dirty="0" err="1" smtClean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매핑</a:t>
            </a:r>
            <a:endParaRPr lang="en-US" sz="2250" b="1" dirty="0">
              <a:solidFill>
                <a:srgbClr val="000000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</p:txBody>
      </p:sp>
      <p:sp>
        <p:nvSpPr>
          <p:cNvPr id="45" name="Text 1"/>
          <p:cNvSpPr/>
          <p:nvPr/>
        </p:nvSpPr>
        <p:spPr>
          <a:xfrm>
            <a:off x="657225" y="1104900"/>
            <a:ext cx="35814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데이터베이스 선택</a:t>
            </a:r>
            <a:endParaRPr lang="en-US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0" name="Text 6"/>
          <p:cNvSpPr/>
          <p:nvPr/>
        </p:nvSpPr>
        <p:spPr>
          <a:xfrm>
            <a:off x="1028700" y="3162300"/>
            <a:ext cx="176218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새 데이터베이스 생성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1" name="Text 7"/>
          <p:cNvSpPr/>
          <p:nvPr/>
        </p:nvSpPr>
        <p:spPr>
          <a:xfrm>
            <a:off x="4724400" y="1104900"/>
            <a:ext cx="73914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컬렉션 매핑</a:t>
            </a:r>
            <a:endParaRPr lang="en-US" sz="1800" dirty="0"/>
          </a:p>
        </p:txBody>
      </p:sp>
      <p:sp>
        <p:nvSpPr>
          <p:cNvPr id="52" name="Text 8"/>
          <p:cNvSpPr/>
          <p:nvPr/>
        </p:nvSpPr>
        <p:spPr>
          <a:xfrm>
            <a:off x="4762500" y="1676400"/>
            <a:ext cx="65583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40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데이터베이스가 선택되었습니다. 컬렉션을 선택하거나 새로 생성할 수 있습니다.</a:t>
            </a:r>
            <a:endParaRPr lang="en-US" sz="1200" dirty="0"/>
          </a:p>
        </p:txBody>
      </p:sp>
      <p:sp>
        <p:nvSpPr>
          <p:cNvPr id="53" name="Text 9"/>
          <p:cNvSpPr/>
          <p:nvPr/>
        </p:nvSpPr>
        <p:spPr>
          <a:xfrm>
            <a:off x="4419600" y="2171700"/>
            <a:ext cx="121568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 err="1" smtClean="0">
                <a:solidFill>
                  <a:srgbClr val="37415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컬렉션</a:t>
            </a:r>
            <a:r>
              <a:rPr lang="en-US" sz="1500" dirty="0" smtClean="0">
                <a:solidFill>
                  <a:srgbClr val="37415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 </a:t>
            </a:r>
            <a:r>
              <a:rPr lang="ko-KR" altLang="en-US" sz="1500" dirty="0" smtClean="0">
                <a:solidFill>
                  <a:srgbClr val="37415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목록</a:t>
            </a:r>
            <a:endParaRPr lang="en-US" sz="15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5" name="Text 11"/>
          <p:cNvSpPr/>
          <p:nvPr/>
        </p:nvSpPr>
        <p:spPr>
          <a:xfrm>
            <a:off x="5151120" y="2667000"/>
            <a:ext cx="108281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userActivity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6" name="Text 12"/>
          <p:cNvSpPr/>
          <p:nvPr/>
        </p:nvSpPr>
        <p:spPr>
          <a:xfrm>
            <a:off x="8902277" y="2705100"/>
            <a:ext cx="1111625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최종 수정: 2025-12-05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7" name="Text 13"/>
          <p:cNvSpPr/>
          <p:nvPr/>
        </p:nvSpPr>
        <p:spPr>
          <a:xfrm>
            <a:off x="5151120" y="3124200"/>
            <a:ext cx="106281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userProfiles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8" name="Text 14"/>
          <p:cNvSpPr/>
          <p:nvPr/>
        </p:nvSpPr>
        <p:spPr>
          <a:xfrm>
            <a:off x="8902277" y="3162300"/>
            <a:ext cx="1111625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최종 수정: 2025-12-03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9" name="Text 15"/>
          <p:cNvSpPr/>
          <p:nvPr/>
        </p:nvSpPr>
        <p:spPr>
          <a:xfrm>
            <a:off x="5151120" y="3581400"/>
            <a:ext cx="37415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logs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0" name="Text 16"/>
          <p:cNvSpPr/>
          <p:nvPr/>
        </p:nvSpPr>
        <p:spPr>
          <a:xfrm>
            <a:off x="8902277" y="3619500"/>
            <a:ext cx="1111625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최종 수정: 2025-12-09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1" name="Text 17"/>
          <p:cNvSpPr/>
          <p:nvPr/>
        </p:nvSpPr>
        <p:spPr>
          <a:xfrm>
            <a:off x="4991100" y="4324350"/>
            <a:ext cx="151697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새 컬렉션 생성</a:t>
            </a:r>
            <a:endParaRPr lang="en-US" sz="15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69" name="그룹 68"/>
          <p:cNvGrpSpPr/>
          <p:nvPr/>
        </p:nvGrpSpPr>
        <p:grpSpPr>
          <a:xfrm>
            <a:off x="9399116" y="4724400"/>
            <a:ext cx="723900" cy="361950"/>
            <a:chOff x="10934700" y="4724400"/>
            <a:chExt cx="723900" cy="381000"/>
          </a:xfrm>
        </p:grpSpPr>
        <p:pic>
          <p:nvPicPr>
            <p:cNvPr id="39" name="Image 37" descr="preencoded.png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10934700" y="4724400"/>
              <a:ext cx="723900" cy="381000"/>
            </a:xfrm>
            <a:prstGeom prst="rect">
              <a:avLst/>
            </a:prstGeom>
          </p:spPr>
        </p:pic>
        <p:pic>
          <p:nvPicPr>
            <p:cNvPr id="40" name="Image 38" descr="preencoded.png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11049000" y="4838700"/>
              <a:ext cx="152400" cy="152400"/>
            </a:xfrm>
            <a:prstGeom prst="rect">
              <a:avLst/>
            </a:prstGeom>
          </p:spPr>
        </p:pic>
        <p:sp>
          <p:nvSpPr>
            <p:cNvPr id="65" name="Text 21"/>
            <p:cNvSpPr/>
            <p:nvPr/>
          </p:nvSpPr>
          <p:spPr>
            <a:xfrm>
              <a:off x="11209020" y="4800600"/>
              <a:ext cx="365760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 algn="ctr">
                <a:lnSpc>
                  <a:spcPts val="1800"/>
                </a:lnSpc>
                <a:buNone/>
              </a:pPr>
              <a:r>
                <a:rPr lang="en-US" sz="1200" dirty="0">
                  <a:solidFill>
                    <a:srgbClr val="37415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ui-sans-serif" pitchFamily="34" charset="-120"/>
                </a:rPr>
                <a:t>확인</a:t>
              </a:r>
              <a:endParaRPr lang="en-US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67" name="Text 23"/>
          <p:cNvSpPr/>
          <p:nvPr/>
        </p:nvSpPr>
        <p:spPr>
          <a:xfrm>
            <a:off x="9509712" y="5484792"/>
            <a:ext cx="3657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다음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70" name="Image 55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465824" y="1061609"/>
            <a:ext cx="1651762" cy="4196191"/>
          </a:xfrm>
          <a:prstGeom prst="rect">
            <a:avLst/>
          </a:prstGeom>
        </p:spPr>
      </p:pic>
      <p:sp>
        <p:nvSpPr>
          <p:cNvPr id="71" name="Text 46"/>
          <p:cNvSpPr/>
          <p:nvPr/>
        </p:nvSpPr>
        <p:spPr>
          <a:xfrm>
            <a:off x="10503064" y="787885"/>
            <a:ext cx="2506415" cy="18397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 smtClean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UI </a:t>
            </a:r>
            <a:r>
              <a:rPr lang="ko-KR" altLang="en-US" sz="1350" b="1" dirty="0" smtClean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설명</a:t>
            </a:r>
            <a:r>
              <a:rPr lang="en-US" sz="1350" b="1" dirty="0" smtClean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en-US" sz="1350" b="1" dirty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영역</a:t>
            </a:r>
            <a:endParaRPr lang="en-US" sz="1350" dirty="0"/>
          </a:p>
        </p:txBody>
      </p:sp>
      <p:sp>
        <p:nvSpPr>
          <p:cNvPr id="72" name="Text 20"/>
          <p:cNvSpPr/>
          <p:nvPr/>
        </p:nvSpPr>
        <p:spPr>
          <a:xfrm>
            <a:off x="10503064" y="1104900"/>
            <a:ext cx="1558832" cy="415289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200"/>
              </a:lnSpc>
            </a:pPr>
            <a:r>
              <a:rPr 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1.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연결된 </a:t>
            </a: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MongoDB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서버의 데이터베이스 목록 표출</a:t>
            </a:r>
            <a:endParaRPr lang="en-US" altLang="ko-KR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endParaRPr lang="en-US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r>
              <a:rPr 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2.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데이터베이스를 선택하면 </a:t>
            </a: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4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번 컬렉션 목록에 해당 데이터베이스에 속한 컬렉션의 목록을 표출</a:t>
            </a:r>
            <a:endParaRPr lang="en-US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endParaRPr lang="en-US" sz="1000" dirty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r>
              <a:rPr 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3.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기존 것 말고 새로운 데이터베이스에 저장 원하면 추가 생성</a:t>
            </a:r>
            <a:endParaRPr lang="en-US" altLang="ko-KR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endParaRPr lang="en-US" sz="1000" dirty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r>
              <a:rPr lang="en-US" sz="10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4</a:t>
            </a:r>
            <a:r>
              <a:rPr 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.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선택한 데이터베이스에 있는 컬렉션 목록 표출</a:t>
            </a:r>
            <a:endParaRPr lang="en-US" altLang="ko-KR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endParaRPr lang="en-US" sz="1000" dirty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r>
              <a:rPr lang="en-US" sz="10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5</a:t>
            </a:r>
            <a:r>
              <a:rPr 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.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원하는 컬렉션이 없으면 새로 생성</a:t>
            </a:r>
            <a:endParaRPr lang="en-US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4D9049EB-70D8-4995-9DBA-68C2EE93E2F4}"/>
              </a:ext>
            </a:extLst>
          </p:cNvPr>
          <p:cNvSpPr/>
          <p:nvPr/>
        </p:nvSpPr>
        <p:spPr>
          <a:xfrm>
            <a:off x="138713" y="1192621"/>
            <a:ext cx="183750" cy="178979"/>
          </a:xfrm>
          <a:prstGeom prst="ellipse">
            <a:avLst/>
          </a:prstGeom>
          <a:solidFill>
            <a:srgbClr val="FF0000"/>
          </a:solidFill>
          <a:ln w="15875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sz="10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6" name="타원 75">
            <a:extLst>
              <a:ext uri="{FF2B5EF4-FFF2-40B4-BE49-F238E27FC236}">
                <a16:creationId xmlns:a16="http://schemas.microsoft.com/office/drawing/2014/main" id="{4D9049EB-70D8-4995-9DBA-68C2EE93E2F4}"/>
              </a:ext>
            </a:extLst>
          </p:cNvPr>
          <p:cNvSpPr/>
          <p:nvPr/>
        </p:nvSpPr>
        <p:spPr>
          <a:xfrm>
            <a:off x="4231803" y="2209800"/>
            <a:ext cx="183750" cy="178979"/>
          </a:xfrm>
          <a:prstGeom prst="ellipse">
            <a:avLst/>
          </a:prstGeom>
          <a:solidFill>
            <a:srgbClr val="FF0000"/>
          </a:solidFill>
          <a:ln w="15875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endParaRPr lang="ko-KR" altLang="en-US" sz="10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8" name="타원 77">
            <a:extLst>
              <a:ext uri="{FF2B5EF4-FFF2-40B4-BE49-F238E27FC236}">
                <a16:creationId xmlns:a16="http://schemas.microsoft.com/office/drawing/2014/main" id="{4D9049EB-70D8-4995-9DBA-68C2EE93E2F4}"/>
              </a:ext>
            </a:extLst>
          </p:cNvPr>
          <p:cNvSpPr/>
          <p:nvPr/>
        </p:nvSpPr>
        <p:spPr>
          <a:xfrm>
            <a:off x="9356194" y="4499176"/>
            <a:ext cx="183750" cy="178979"/>
          </a:xfrm>
          <a:prstGeom prst="ellipse">
            <a:avLst/>
          </a:prstGeom>
          <a:solidFill>
            <a:srgbClr val="FF0000"/>
          </a:solidFill>
          <a:ln w="15875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5</a:t>
            </a:r>
            <a:endParaRPr lang="ko-KR" altLang="en-US" sz="10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8" name="타원 67"/>
          <p:cNvSpPr/>
          <p:nvPr/>
        </p:nvSpPr>
        <p:spPr>
          <a:xfrm>
            <a:off x="4579878" y="2727327"/>
            <a:ext cx="103882" cy="104772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7" name="타원 76"/>
          <p:cNvSpPr/>
          <p:nvPr/>
        </p:nvSpPr>
        <p:spPr>
          <a:xfrm>
            <a:off x="4575831" y="3173097"/>
            <a:ext cx="103882" cy="104772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0" name="타원 79"/>
          <p:cNvSpPr/>
          <p:nvPr/>
        </p:nvSpPr>
        <p:spPr>
          <a:xfrm>
            <a:off x="4608453" y="3641726"/>
            <a:ext cx="103882" cy="104772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79" name="그룹 78"/>
          <p:cNvGrpSpPr/>
          <p:nvPr/>
        </p:nvGrpSpPr>
        <p:grpSpPr>
          <a:xfrm>
            <a:off x="2998120" y="3621833"/>
            <a:ext cx="723900" cy="361950"/>
            <a:chOff x="10934700" y="4724400"/>
            <a:chExt cx="723900" cy="381000"/>
          </a:xfrm>
        </p:grpSpPr>
        <p:pic>
          <p:nvPicPr>
            <p:cNvPr id="81" name="Image 37" descr="preencoded.png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10934700" y="4724400"/>
              <a:ext cx="723900" cy="381000"/>
            </a:xfrm>
            <a:prstGeom prst="rect">
              <a:avLst/>
            </a:prstGeom>
          </p:spPr>
        </p:pic>
        <p:pic>
          <p:nvPicPr>
            <p:cNvPr id="82" name="Image 38" descr="preencoded.png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11049000" y="4838700"/>
              <a:ext cx="152400" cy="152400"/>
            </a:xfrm>
            <a:prstGeom prst="rect">
              <a:avLst/>
            </a:prstGeom>
          </p:spPr>
        </p:pic>
        <p:sp>
          <p:nvSpPr>
            <p:cNvPr id="83" name="Text 21"/>
            <p:cNvSpPr/>
            <p:nvPr/>
          </p:nvSpPr>
          <p:spPr>
            <a:xfrm>
              <a:off x="11209020" y="4800600"/>
              <a:ext cx="365760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 algn="ctr">
                <a:lnSpc>
                  <a:spcPts val="1800"/>
                </a:lnSpc>
                <a:buNone/>
              </a:pPr>
              <a:r>
                <a:rPr lang="en-US" sz="1200" dirty="0">
                  <a:solidFill>
                    <a:srgbClr val="37415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ui-sans-serif" pitchFamily="34" charset="-120"/>
                </a:rPr>
                <a:t>확인</a:t>
              </a:r>
              <a:endParaRPr lang="en-US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84" name="타원 83">
            <a:extLst>
              <a:ext uri="{FF2B5EF4-FFF2-40B4-BE49-F238E27FC236}">
                <a16:creationId xmlns:a16="http://schemas.microsoft.com/office/drawing/2014/main" id="{4D9049EB-70D8-4995-9DBA-68C2EE93E2F4}"/>
              </a:ext>
            </a:extLst>
          </p:cNvPr>
          <p:cNvSpPr/>
          <p:nvPr/>
        </p:nvSpPr>
        <p:spPr>
          <a:xfrm>
            <a:off x="2955198" y="3396609"/>
            <a:ext cx="183750" cy="178979"/>
          </a:xfrm>
          <a:prstGeom prst="ellipse">
            <a:avLst/>
          </a:prstGeom>
          <a:solidFill>
            <a:srgbClr val="FF0000"/>
          </a:solidFill>
          <a:ln w="15875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endParaRPr lang="ko-KR" altLang="en-US" sz="10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85" name="그룹 84"/>
          <p:cNvGrpSpPr/>
          <p:nvPr/>
        </p:nvGrpSpPr>
        <p:grpSpPr>
          <a:xfrm>
            <a:off x="795338" y="3648876"/>
            <a:ext cx="2128368" cy="324878"/>
            <a:chOff x="554402" y="4606873"/>
            <a:chExt cx="4326267" cy="309260"/>
          </a:xfrm>
        </p:grpSpPr>
        <p:pic>
          <p:nvPicPr>
            <p:cNvPr id="86" name="Image 12" descr="preencoded.png"/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554402" y="4606873"/>
              <a:ext cx="4235505" cy="309260"/>
            </a:xfrm>
            <a:prstGeom prst="rect">
              <a:avLst/>
            </a:prstGeom>
          </p:spPr>
        </p:pic>
        <p:sp>
          <p:nvSpPr>
            <p:cNvPr id="87" name="Text 8"/>
            <p:cNvSpPr/>
            <p:nvPr/>
          </p:nvSpPr>
          <p:spPr>
            <a:xfrm>
              <a:off x="645164" y="4606874"/>
              <a:ext cx="4235505" cy="223067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800"/>
                </a:lnSpc>
                <a:buNone/>
              </a:pPr>
              <a:endParaRPr lang="en-US" sz="1100" dirty="0"/>
            </a:p>
          </p:txBody>
        </p:sp>
      </p:grpSp>
      <p:sp>
        <p:nvSpPr>
          <p:cNvPr id="88" name="Text 18"/>
          <p:cNvSpPr/>
          <p:nvPr/>
        </p:nvSpPr>
        <p:spPr>
          <a:xfrm>
            <a:off x="935108" y="3703595"/>
            <a:ext cx="163081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ko-KR" altLang="en-US" sz="1050" dirty="0" smtClean="0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데이터베이스 이름 입력</a:t>
            </a:r>
            <a:r>
              <a:rPr lang="en-US" altLang="ko-KR" sz="1050" dirty="0" smtClean="0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...</a:t>
            </a:r>
            <a:endParaRPr lang="en-US" sz="1050" dirty="0">
              <a:solidFill>
                <a:schemeClr val="bg1">
                  <a:lumMod val="6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89" name="Image 2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73412" y="1636865"/>
            <a:ext cx="3571609" cy="505459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091309" y="1714500"/>
            <a:ext cx="718691" cy="228600"/>
          </a:xfrm>
          <a:prstGeom prst="rect">
            <a:avLst/>
          </a:prstGeom>
        </p:spPr>
      </p:pic>
      <p:sp>
        <p:nvSpPr>
          <p:cNvPr id="46" name="Text 2"/>
          <p:cNvSpPr/>
          <p:nvPr/>
        </p:nvSpPr>
        <p:spPr>
          <a:xfrm>
            <a:off x="781050" y="1798479"/>
            <a:ext cx="115907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myDatabase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7" name="Text 3"/>
          <p:cNvSpPr/>
          <p:nvPr/>
        </p:nvSpPr>
        <p:spPr>
          <a:xfrm>
            <a:off x="3167509" y="1798479"/>
            <a:ext cx="86242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5개 컬렉션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4" name="타원 63">
            <a:extLst>
              <a:ext uri="{FF2B5EF4-FFF2-40B4-BE49-F238E27FC236}">
                <a16:creationId xmlns:a16="http://schemas.microsoft.com/office/drawing/2014/main" id="{4D9049EB-70D8-4995-9DBA-68C2EE93E2F4}"/>
              </a:ext>
            </a:extLst>
          </p:cNvPr>
          <p:cNvSpPr/>
          <p:nvPr/>
        </p:nvSpPr>
        <p:spPr>
          <a:xfrm>
            <a:off x="259495" y="1769452"/>
            <a:ext cx="183750" cy="178979"/>
          </a:xfrm>
          <a:prstGeom prst="ellipse">
            <a:avLst/>
          </a:prstGeom>
          <a:solidFill>
            <a:srgbClr val="FF0000"/>
          </a:solidFill>
          <a:ln w="15875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endParaRPr lang="ko-KR" altLang="en-US" sz="10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90" name="Image 2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71856" y="2243508"/>
            <a:ext cx="3571609" cy="505459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018532" y="2400300"/>
            <a:ext cx="791468" cy="228600"/>
          </a:xfrm>
          <a:prstGeom prst="rect">
            <a:avLst/>
          </a:prstGeom>
        </p:spPr>
      </p:pic>
      <p:sp>
        <p:nvSpPr>
          <p:cNvPr id="48" name="Text 4"/>
          <p:cNvSpPr/>
          <p:nvPr/>
        </p:nvSpPr>
        <p:spPr>
          <a:xfrm>
            <a:off x="781050" y="2400300"/>
            <a:ext cx="81742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analytics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9" name="Text 5"/>
          <p:cNvSpPr/>
          <p:nvPr/>
        </p:nvSpPr>
        <p:spPr>
          <a:xfrm>
            <a:off x="3094732" y="2400300"/>
            <a:ext cx="94976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12개 컬렉션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91" name="Image 4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33400" y="1836576"/>
            <a:ext cx="133350" cy="152400"/>
          </a:xfrm>
          <a:prstGeom prst="rect">
            <a:avLst/>
          </a:prstGeom>
        </p:spPr>
      </p:pic>
      <p:pic>
        <p:nvPicPr>
          <p:cNvPr id="92" name="Image 4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23933" y="2418549"/>
            <a:ext cx="133350" cy="15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5657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38200"/>
            <a:ext cx="1219200" cy="38100"/>
          </a:xfrm>
          <a:prstGeom prst="rect">
            <a:avLst/>
          </a:prstGeom>
        </p:spPr>
      </p:pic>
      <p:sp>
        <p:nvSpPr>
          <p:cNvPr id="40" name="Text 0"/>
          <p:cNvSpPr/>
          <p:nvPr/>
        </p:nvSpPr>
        <p:spPr>
          <a:xfrm>
            <a:off x="381000" y="381000"/>
            <a:ext cx="116776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lvl="0">
              <a:lnSpc>
                <a:spcPts val="3000"/>
              </a:lnSpc>
            </a:pPr>
            <a:r>
              <a:rPr lang="ko-KR" altLang="en-US" sz="2250" b="1" dirty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커넥션 생성 </a:t>
            </a:r>
            <a:r>
              <a:rPr lang="en-US" altLang="ko-KR" sz="2250" b="1" dirty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- MongoDB </a:t>
            </a:r>
            <a:r>
              <a:rPr lang="en-US" altLang="ko-KR" sz="2250" b="1" dirty="0" err="1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저장</a:t>
            </a:r>
            <a:r>
              <a:rPr lang="en-US" altLang="ko-KR" sz="2250" b="1" dirty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en-US" altLang="ko-KR" sz="2250" b="1" dirty="0" err="1" smtClean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방식</a:t>
            </a:r>
            <a:r>
              <a:rPr lang="en-US" altLang="ko-KR" sz="2250" b="1" dirty="0" smtClean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en-US" sz="2250" b="1" dirty="0" smtClean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- </a:t>
            </a:r>
            <a:r>
              <a:rPr lang="en-US" sz="2250" b="1" dirty="0" err="1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데이터</a:t>
            </a:r>
            <a:r>
              <a:rPr lang="en-US" sz="2250" b="1" dirty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en-US" sz="2250" b="1" dirty="0" err="1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변환</a:t>
            </a:r>
            <a:r>
              <a:rPr lang="en-US" sz="2250" b="1" dirty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및 </a:t>
            </a:r>
            <a:r>
              <a:rPr lang="en-US" sz="2250" b="1" dirty="0" err="1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필드</a:t>
            </a:r>
            <a:r>
              <a:rPr lang="en-US" sz="2250" b="1" dirty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en-US" sz="2250" b="1" dirty="0" err="1" smtClean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매핑</a:t>
            </a:r>
            <a:endParaRPr lang="en-US" sz="2250" b="1" dirty="0">
              <a:solidFill>
                <a:srgbClr val="000000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</p:txBody>
      </p:sp>
      <p:sp>
        <p:nvSpPr>
          <p:cNvPr id="41" name="Text 1"/>
          <p:cNvSpPr/>
          <p:nvPr/>
        </p:nvSpPr>
        <p:spPr>
          <a:xfrm>
            <a:off x="381000" y="919701"/>
            <a:ext cx="11430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소스 데이터 필드를 MongoDB 문서 필드로 매핑하고 변환 규칙을 설정하세요.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35" name="Image 2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0999" y="1344102"/>
            <a:ext cx="9100649" cy="193042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310" y="1453101"/>
            <a:ext cx="171450" cy="190500"/>
          </a:xfrm>
          <a:prstGeom prst="rect">
            <a:avLst/>
          </a:prstGeom>
        </p:spPr>
      </p:pic>
      <p:sp>
        <p:nvSpPr>
          <p:cNvPr id="42" name="Text 2"/>
          <p:cNvSpPr/>
          <p:nvPr/>
        </p:nvSpPr>
        <p:spPr>
          <a:xfrm>
            <a:off x="721960" y="1415001"/>
            <a:ext cx="47625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en-US" altLang="ko-KR" sz="1600" b="1" dirty="0" err="1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Gothic" pitchFamily="34" charset="-120"/>
              </a:rPr>
              <a:t>데이터</a:t>
            </a:r>
            <a:r>
              <a:rPr lang="en-US" altLang="ko-KR" sz="16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Gothic" pitchFamily="34" charset="-120"/>
              </a:rPr>
              <a:t> </a:t>
            </a:r>
            <a:r>
              <a:rPr lang="en-US" altLang="ko-KR" sz="1600" b="1" dirty="0" err="1" smtClean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Gothic" pitchFamily="34" charset="-120"/>
              </a:rPr>
              <a:t>변환</a:t>
            </a:r>
            <a:endParaRPr lang="en-US" sz="15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aphicFrame>
        <p:nvGraphicFramePr>
          <p:cNvPr id="134" name="표 1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4274503"/>
              </p:ext>
            </p:extLst>
          </p:nvPr>
        </p:nvGraphicFramePr>
        <p:xfrm>
          <a:off x="496415" y="1808621"/>
          <a:ext cx="8703568" cy="131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0506">
                  <a:extLst>
                    <a:ext uri="{9D8B030D-6E8A-4147-A177-3AD203B41FA5}">
                      <a16:colId xmlns:a16="http://schemas.microsoft.com/office/drawing/2014/main" val="2481251520"/>
                    </a:ext>
                  </a:extLst>
                </a:gridCol>
                <a:gridCol w="1586442">
                  <a:extLst>
                    <a:ext uri="{9D8B030D-6E8A-4147-A177-3AD203B41FA5}">
                      <a16:colId xmlns:a16="http://schemas.microsoft.com/office/drawing/2014/main" val="463687449"/>
                    </a:ext>
                  </a:extLst>
                </a:gridCol>
                <a:gridCol w="2175347">
                  <a:extLst>
                    <a:ext uri="{9D8B030D-6E8A-4147-A177-3AD203B41FA5}">
                      <a16:colId xmlns:a16="http://schemas.microsoft.com/office/drawing/2014/main" val="3915692938"/>
                    </a:ext>
                  </a:extLst>
                </a:gridCol>
                <a:gridCol w="1766720">
                  <a:extLst>
                    <a:ext uri="{9D8B030D-6E8A-4147-A177-3AD203B41FA5}">
                      <a16:colId xmlns:a16="http://schemas.microsoft.com/office/drawing/2014/main" val="23446326"/>
                    </a:ext>
                  </a:extLst>
                </a:gridCol>
                <a:gridCol w="1384553">
                  <a:extLst>
                    <a:ext uri="{9D8B030D-6E8A-4147-A177-3AD203B41FA5}">
                      <a16:colId xmlns:a16="http://schemas.microsoft.com/office/drawing/2014/main" val="3460410538"/>
                    </a:ext>
                  </a:extLst>
                </a:gridCol>
              </a:tblGrid>
              <a:tr h="3290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ysClr val="windowText" lastClr="000000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소스 테이블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ysClr val="windowText" lastClr="000000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소스 컬럼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ysClr val="windowText" lastClr="000000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타겟 필드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ysClr val="windowText" lastClr="000000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타겟 데이터 타입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ysClr val="windowText" lastClr="000000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변환 규칙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7467335"/>
                  </a:ext>
                </a:extLst>
              </a:tr>
              <a:tr h="3290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users</a:t>
                      </a:r>
                      <a:endParaRPr lang="ko-KR" altLang="en-US" sz="1100" b="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name</a:t>
                      </a:r>
                      <a:endParaRPr lang="ko-KR" altLang="en-US" sz="1100" b="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4842646"/>
                  </a:ext>
                </a:extLst>
              </a:tr>
              <a:tr h="3290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users</a:t>
                      </a:r>
                      <a:endParaRPr lang="ko-KR" altLang="en-US" sz="1100" b="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email</a:t>
                      </a:r>
                      <a:endParaRPr lang="ko-KR" altLang="en-US" sz="1100" b="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9511425"/>
                  </a:ext>
                </a:extLst>
              </a:tr>
              <a:tr h="3290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orders</a:t>
                      </a:r>
                      <a:endParaRPr lang="ko-KR" altLang="en-US" sz="1100" b="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 err="1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order_date</a:t>
                      </a:r>
                      <a:endParaRPr lang="en-US" altLang="ko-KR" sz="1100" b="0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9799694"/>
                  </a:ext>
                </a:extLst>
              </a:tr>
            </a:tbl>
          </a:graphicData>
        </a:graphic>
      </p:graphicFrame>
      <p:pic>
        <p:nvPicPr>
          <p:cNvPr id="136" name="Image 5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87122" y="1721367"/>
            <a:ext cx="2430464" cy="4800731"/>
          </a:xfrm>
          <a:prstGeom prst="rect">
            <a:avLst/>
          </a:prstGeom>
        </p:spPr>
      </p:pic>
      <p:sp>
        <p:nvSpPr>
          <p:cNvPr id="137" name="Text 46"/>
          <p:cNvSpPr/>
          <p:nvPr/>
        </p:nvSpPr>
        <p:spPr>
          <a:xfrm>
            <a:off x="9724409" y="1407593"/>
            <a:ext cx="2334241" cy="1979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 smtClean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UI </a:t>
            </a:r>
            <a:r>
              <a:rPr lang="ko-KR" altLang="en-US" sz="1350" b="1" dirty="0" smtClean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설명</a:t>
            </a:r>
            <a:r>
              <a:rPr lang="en-US" sz="1350" b="1" dirty="0" smtClean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en-US" sz="1350" b="1" dirty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영역</a:t>
            </a:r>
            <a:endParaRPr lang="en-US" sz="1350" dirty="0"/>
          </a:p>
        </p:txBody>
      </p:sp>
      <p:sp>
        <p:nvSpPr>
          <p:cNvPr id="138" name="Text 20"/>
          <p:cNvSpPr/>
          <p:nvPr/>
        </p:nvSpPr>
        <p:spPr>
          <a:xfrm>
            <a:off x="9768173" y="1764658"/>
            <a:ext cx="2293723" cy="455216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200"/>
              </a:lnSpc>
            </a:pPr>
            <a:r>
              <a:rPr 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1. </a:t>
            </a:r>
            <a:r>
              <a:rPr lang="en-US" altLang="ko-KR" sz="1000" dirty="0" err="1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json</a:t>
            </a: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객체 접근 방식으로 </a:t>
            </a:r>
            <a:r>
              <a:rPr lang="en-US" altLang="ko-KR" sz="10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MongoDB </a:t>
            </a:r>
            <a:r>
              <a:rPr lang="ko-KR" altLang="en-US" sz="10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의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타겟 필드를 설정함</a:t>
            </a:r>
            <a:endParaRPr lang="en-US" altLang="ko-KR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endParaRPr lang="en-US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r>
              <a:rPr 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2. string, int32, int64, date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등 </a:t>
            </a: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MongoDB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의 데이터 타입 중 선택</a:t>
            </a:r>
            <a:endParaRPr lang="en-US" altLang="ko-KR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endParaRPr lang="en-US" altLang="ko-KR" sz="1000" dirty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3.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변환 규칙 다중 선택에 따라 </a:t>
            </a: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4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번의 변환 규칙에 변환 규칙에 맞는 항목들이 나타나서 변환할 수 있도록 함</a:t>
            </a:r>
            <a:endParaRPr lang="en-US" altLang="ko-KR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r>
              <a:rPr lang="en-US" altLang="ko-KR" sz="10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-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변환 규칙</a:t>
            </a: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: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문자열</a:t>
            </a: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/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패턴 변환</a:t>
            </a: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,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포맷 변환</a:t>
            </a: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,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품질 규칙 등</a:t>
            </a:r>
            <a:endParaRPr lang="en-US" altLang="ko-KR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endParaRPr lang="en-US" altLang="ko-KR" sz="1000" dirty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4.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변환 규칙 여러 개 적용 및 같은 것을 추가해서 적용 가능함</a:t>
            </a:r>
            <a:endParaRPr lang="en-US" altLang="ko-KR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endParaRPr lang="en-US" altLang="ko-KR" sz="1000" dirty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5.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치환</a:t>
            </a: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,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패턴 기반</a:t>
            </a: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,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케이스</a:t>
            </a: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/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포맷 등</a:t>
            </a:r>
            <a:endParaRPr lang="en-US" altLang="ko-KR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endParaRPr lang="en-US" altLang="ko-KR" sz="1000" dirty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6.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유형 선택에 따라 규칙이 바뀜</a:t>
            </a:r>
            <a:endParaRPr lang="en-US" altLang="ko-KR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r>
              <a:rPr lang="en-US" altLang="ko-KR" sz="10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-&gt;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치환</a:t>
            </a: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: replace, trim, </a:t>
            </a:r>
            <a:r>
              <a:rPr lang="en-US" altLang="ko-KR" sz="1000" dirty="0" err="1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rtrim</a:t>
            </a: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, </a:t>
            </a:r>
            <a:r>
              <a:rPr lang="en-US" altLang="ko-KR" sz="1000" dirty="0" err="1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ltrim</a:t>
            </a: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등</a:t>
            </a:r>
            <a:endParaRPr lang="en-US" altLang="ko-KR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r>
              <a:rPr lang="en-US" altLang="ko-KR" sz="10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-&gt;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패턴 기반</a:t>
            </a: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: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정규식 치환</a:t>
            </a: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, </a:t>
            </a:r>
            <a:r>
              <a:rPr lang="ko-KR" altLang="en-US" sz="1000" dirty="0" err="1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마스킹</a:t>
            </a:r>
            <a:endParaRPr lang="en-US" altLang="ko-KR" sz="1000" dirty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 -&gt;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케이스</a:t>
            </a: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/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포맷</a:t>
            </a:r>
            <a:r>
              <a:rPr lang="en-US" altLang="ko-KR" sz="10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: </a:t>
            </a:r>
            <a:r>
              <a:rPr lang="en-US" altLang="ko-KR" sz="1000" dirty="0" err="1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CamelCase</a:t>
            </a: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, </a:t>
            </a:r>
            <a:r>
              <a:rPr lang="en-US" altLang="ko-KR" sz="1000" dirty="0" err="1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PascalCase</a:t>
            </a:r>
            <a:r>
              <a:rPr lang="en-US" altLang="ko-KR" sz="10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, </a:t>
            </a:r>
            <a:r>
              <a:rPr lang="en-US" altLang="ko-KR" sz="1000" dirty="0" err="1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snake_case</a:t>
            </a:r>
            <a:r>
              <a:rPr lang="en-US" altLang="ko-KR" sz="10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등</a:t>
            </a:r>
            <a:endParaRPr lang="en-US" altLang="ko-KR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endParaRPr lang="en-US" altLang="ko-KR" sz="1000" dirty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7.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추가 다른 규칙 적용</a:t>
            </a: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</a:p>
          <a:p>
            <a:pPr>
              <a:lnSpc>
                <a:spcPts val="1200"/>
              </a:lnSpc>
            </a:pPr>
            <a:endParaRPr lang="en-US" altLang="ko-KR" sz="1000" dirty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8</a:t>
            </a:r>
            <a:r>
              <a:rPr lang="en-US" altLang="ko-KR" sz="10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. null/</a:t>
            </a:r>
            <a:r>
              <a:rPr lang="ko-KR" altLang="en-US" sz="10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빈 문자열을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해당 값으로 처리</a:t>
            </a: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endParaRPr lang="ko-KR" altLang="en-US" sz="1000" dirty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endParaRPr lang="en-US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r>
              <a:rPr 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9.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유효성 검사</a:t>
            </a: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,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도메인 체크 등</a:t>
            </a:r>
            <a:endParaRPr lang="en-US" altLang="ko-KR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endParaRPr lang="en-US" sz="1000" dirty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r>
              <a:rPr 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10.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유효성 검사 </a:t>
            </a: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-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전화번호</a:t>
            </a: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,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이메일 등</a:t>
            </a:r>
            <a:endParaRPr lang="en-US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</p:txBody>
      </p:sp>
      <p:grpSp>
        <p:nvGrpSpPr>
          <p:cNvPr id="8" name="그룹 7"/>
          <p:cNvGrpSpPr/>
          <p:nvPr/>
        </p:nvGrpSpPr>
        <p:grpSpPr>
          <a:xfrm>
            <a:off x="6465047" y="2202601"/>
            <a:ext cx="1104900" cy="203087"/>
            <a:chOff x="4985076" y="3516543"/>
            <a:chExt cx="1104900" cy="203087"/>
          </a:xfrm>
        </p:grpSpPr>
        <p:pic>
          <p:nvPicPr>
            <p:cNvPr id="139" name="Image 28" descr="preencoded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985076" y="3529130"/>
              <a:ext cx="1104900" cy="190500"/>
            </a:xfrm>
            <a:prstGeom prst="rect">
              <a:avLst/>
            </a:prstGeom>
          </p:spPr>
        </p:pic>
        <p:pic>
          <p:nvPicPr>
            <p:cNvPr id="140" name="Image 29" descr="preencoded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947101" y="3538655"/>
              <a:ext cx="104775" cy="152400"/>
            </a:xfrm>
            <a:prstGeom prst="rect">
              <a:avLst/>
            </a:prstGeom>
          </p:spPr>
        </p:pic>
        <p:sp>
          <p:nvSpPr>
            <p:cNvPr id="141" name="Text 18"/>
            <p:cNvSpPr/>
            <p:nvPr/>
          </p:nvSpPr>
          <p:spPr>
            <a:xfrm>
              <a:off x="5228023" y="3516543"/>
              <a:ext cx="432554" cy="1905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500"/>
                </a:lnSpc>
                <a:buNone/>
              </a:pPr>
              <a:r>
                <a:rPr lang="en-US" sz="1050" dirty="0" smtClean="0">
                  <a:solidFill>
                    <a:srgbClr val="1F2937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ui-sans-serif" pitchFamily="34" charset="-120"/>
                </a:rPr>
                <a:t>string</a:t>
              </a:r>
              <a:endParaRPr lang="en-US" sz="105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142" name="그룹 141"/>
          <p:cNvGrpSpPr/>
          <p:nvPr/>
        </p:nvGrpSpPr>
        <p:grpSpPr>
          <a:xfrm>
            <a:off x="6465047" y="2530503"/>
            <a:ext cx="1104900" cy="203087"/>
            <a:chOff x="4985076" y="3516543"/>
            <a:chExt cx="1104900" cy="203087"/>
          </a:xfrm>
        </p:grpSpPr>
        <p:pic>
          <p:nvPicPr>
            <p:cNvPr id="143" name="Image 28" descr="preencoded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985076" y="3529130"/>
              <a:ext cx="1104900" cy="190500"/>
            </a:xfrm>
            <a:prstGeom prst="rect">
              <a:avLst/>
            </a:prstGeom>
          </p:spPr>
        </p:pic>
        <p:pic>
          <p:nvPicPr>
            <p:cNvPr id="144" name="Image 29" descr="preencoded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947101" y="3538655"/>
              <a:ext cx="104775" cy="152400"/>
            </a:xfrm>
            <a:prstGeom prst="rect">
              <a:avLst/>
            </a:prstGeom>
          </p:spPr>
        </p:pic>
        <p:sp>
          <p:nvSpPr>
            <p:cNvPr id="145" name="Text 18"/>
            <p:cNvSpPr/>
            <p:nvPr/>
          </p:nvSpPr>
          <p:spPr>
            <a:xfrm>
              <a:off x="5228023" y="3516543"/>
              <a:ext cx="432554" cy="1905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500"/>
                </a:lnSpc>
                <a:buNone/>
              </a:pPr>
              <a:r>
                <a:rPr lang="en-US" sz="1050" dirty="0" smtClean="0">
                  <a:solidFill>
                    <a:srgbClr val="1F2937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ui-sans-serif" pitchFamily="34" charset="-120"/>
                </a:rPr>
                <a:t>string</a:t>
              </a:r>
              <a:endParaRPr lang="en-US" sz="105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146" name="그룹 145"/>
          <p:cNvGrpSpPr/>
          <p:nvPr/>
        </p:nvGrpSpPr>
        <p:grpSpPr>
          <a:xfrm>
            <a:off x="6465047" y="2866951"/>
            <a:ext cx="1104900" cy="193756"/>
            <a:chOff x="4985076" y="3525874"/>
            <a:chExt cx="1104900" cy="193756"/>
          </a:xfrm>
        </p:grpSpPr>
        <p:pic>
          <p:nvPicPr>
            <p:cNvPr id="147" name="Image 28" descr="preencoded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985076" y="3529130"/>
              <a:ext cx="1104900" cy="190500"/>
            </a:xfrm>
            <a:prstGeom prst="rect">
              <a:avLst/>
            </a:prstGeom>
          </p:spPr>
        </p:pic>
        <p:pic>
          <p:nvPicPr>
            <p:cNvPr id="148" name="Image 29" descr="preencoded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947101" y="3538655"/>
              <a:ext cx="104775" cy="152400"/>
            </a:xfrm>
            <a:prstGeom prst="rect">
              <a:avLst/>
            </a:prstGeom>
          </p:spPr>
        </p:pic>
        <p:sp>
          <p:nvSpPr>
            <p:cNvPr id="149" name="Text 18"/>
            <p:cNvSpPr/>
            <p:nvPr/>
          </p:nvSpPr>
          <p:spPr>
            <a:xfrm>
              <a:off x="5228023" y="3525874"/>
              <a:ext cx="432554" cy="1905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500"/>
                </a:lnSpc>
                <a:buNone/>
              </a:pPr>
              <a:r>
                <a:rPr lang="en-US" sz="1050" dirty="0" smtClean="0">
                  <a:solidFill>
                    <a:srgbClr val="1F2937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ui-sans-serif" pitchFamily="34" charset="-120"/>
                </a:rPr>
                <a:t>date</a:t>
              </a:r>
              <a:endParaRPr lang="en-US" sz="105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150" name="그룹 149"/>
          <p:cNvGrpSpPr/>
          <p:nvPr/>
        </p:nvGrpSpPr>
        <p:grpSpPr>
          <a:xfrm>
            <a:off x="7958433" y="2232166"/>
            <a:ext cx="1104900" cy="203087"/>
            <a:chOff x="4985076" y="3516543"/>
            <a:chExt cx="1104900" cy="203087"/>
          </a:xfrm>
        </p:grpSpPr>
        <p:pic>
          <p:nvPicPr>
            <p:cNvPr id="151" name="Image 28" descr="preencoded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985076" y="3529130"/>
              <a:ext cx="1104900" cy="190500"/>
            </a:xfrm>
            <a:prstGeom prst="rect">
              <a:avLst/>
            </a:prstGeom>
          </p:spPr>
        </p:pic>
        <p:pic>
          <p:nvPicPr>
            <p:cNvPr id="152" name="Image 29" descr="preencoded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947101" y="3538655"/>
              <a:ext cx="104775" cy="152400"/>
            </a:xfrm>
            <a:prstGeom prst="rect">
              <a:avLst/>
            </a:prstGeom>
          </p:spPr>
        </p:pic>
        <p:sp>
          <p:nvSpPr>
            <p:cNvPr id="153" name="Text 18"/>
            <p:cNvSpPr/>
            <p:nvPr/>
          </p:nvSpPr>
          <p:spPr>
            <a:xfrm>
              <a:off x="5228023" y="3516543"/>
              <a:ext cx="432554" cy="1905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500"/>
                </a:lnSpc>
                <a:buNone/>
              </a:pPr>
              <a:r>
                <a:rPr lang="ko-KR" altLang="en-US" sz="1050" dirty="0" smtClean="0">
                  <a:solidFill>
                    <a:srgbClr val="1F2937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ui-sans-serif" pitchFamily="34" charset="-120"/>
                </a:rPr>
                <a:t>선택</a:t>
              </a:r>
              <a:endParaRPr lang="en-US" sz="105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154" name="그룹 153"/>
          <p:cNvGrpSpPr/>
          <p:nvPr/>
        </p:nvGrpSpPr>
        <p:grpSpPr>
          <a:xfrm>
            <a:off x="7958433" y="2524209"/>
            <a:ext cx="1104900" cy="203087"/>
            <a:chOff x="4985076" y="3516543"/>
            <a:chExt cx="1104900" cy="203087"/>
          </a:xfrm>
        </p:grpSpPr>
        <p:pic>
          <p:nvPicPr>
            <p:cNvPr id="155" name="Image 28" descr="preencoded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985076" y="3529130"/>
              <a:ext cx="1104900" cy="190500"/>
            </a:xfrm>
            <a:prstGeom prst="rect">
              <a:avLst/>
            </a:prstGeom>
          </p:spPr>
        </p:pic>
        <p:pic>
          <p:nvPicPr>
            <p:cNvPr id="156" name="Image 29" descr="preencoded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947101" y="3538655"/>
              <a:ext cx="104775" cy="152400"/>
            </a:xfrm>
            <a:prstGeom prst="rect">
              <a:avLst/>
            </a:prstGeom>
          </p:spPr>
        </p:pic>
        <p:sp>
          <p:nvSpPr>
            <p:cNvPr id="157" name="Text 18"/>
            <p:cNvSpPr/>
            <p:nvPr/>
          </p:nvSpPr>
          <p:spPr>
            <a:xfrm>
              <a:off x="5228023" y="3516543"/>
              <a:ext cx="432554" cy="1905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500"/>
                </a:lnSpc>
                <a:buNone/>
              </a:pPr>
              <a:r>
                <a:rPr lang="ko-KR" altLang="en-US" sz="1050" dirty="0" smtClean="0">
                  <a:solidFill>
                    <a:srgbClr val="1F2937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ui-sans-serif" pitchFamily="34" charset="-120"/>
                </a:rPr>
                <a:t>선택</a:t>
              </a:r>
              <a:endParaRPr lang="en-US" sz="105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158" name="그룹 157"/>
          <p:cNvGrpSpPr/>
          <p:nvPr/>
        </p:nvGrpSpPr>
        <p:grpSpPr>
          <a:xfrm>
            <a:off x="7936281" y="2842676"/>
            <a:ext cx="1104900" cy="190500"/>
            <a:chOff x="4985076" y="3529130"/>
            <a:chExt cx="1104900" cy="190500"/>
          </a:xfrm>
        </p:grpSpPr>
        <p:pic>
          <p:nvPicPr>
            <p:cNvPr id="159" name="Image 28" descr="preencoded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985076" y="3529130"/>
              <a:ext cx="1104900" cy="190500"/>
            </a:xfrm>
            <a:prstGeom prst="rect">
              <a:avLst/>
            </a:prstGeom>
          </p:spPr>
        </p:pic>
        <p:pic>
          <p:nvPicPr>
            <p:cNvPr id="160" name="Image 29" descr="preencoded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947101" y="3538655"/>
              <a:ext cx="104775" cy="152400"/>
            </a:xfrm>
            <a:prstGeom prst="rect">
              <a:avLst/>
            </a:prstGeom>
          </p:spPr>
        </p:pic>
        <p:sp>
          <p:nvSpPr>
            <p:cNvPr id="161" name="Text 18"/>
            <p:cNvSpPr/>
            <p:nvPr/>
          </p:nvSpPr>
          <p:spPr>
            <a:xfrm>
              <a:off x="5017067" y="3544535"/>
              <a:ext cx="1010305" cy="156045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r>
                <a:rPr lang="ko-KR" altLang="en-US" sz="105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문자열</a:t>
              </a:r>
              <a:r>
                <a:rPr lang="en-US" altLang="ko-KR" sz="105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/</a:t>
              </a:r>
              <a:r>
                <a:rPr lang="ko-KR" altLang="en-US" sz="105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패턴 변환</a:t>
              </a:r>
            </a:p>
          </p:txBody>
        </p:sp>
      </p:grpSp>
      <p:pic>
        <p:nvPicPr>
          <p:cNvPr id="162" name="Image 2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3384831"/>
            <a:ext cx="9175294" cy="3285875"/>
          </a:xfrm>
          <a:prstGeom prst="rect">
            <a:avLst/>
          </a:prstGeom>
        </p:spPr>
      </p:pic>
      <p:pic>
        <p:nvPicPr>
          <p:cNvPr id="163" name="Image 2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6105" y="3613432"/>
            <a:ext cx="238125" cy="190500"/>
          </a:xfrm>
          <a:prstGeom prst="rect">
            <a:avLst/>
          </a:prstGeom>
        </p:spPr>
      </p:pic>
      <p:sp>
        <p:nvSpPr>
          <p:cNvPr id="172" name="Text 11"/>
          <p:cNvSpPr/>
          <p:nvPr/>
        </p:nvSpPr>
        <p:spPr>
          <a:xfrm>
            <a:off x="1100430" y="3575331"/>
            <a:ext cx="8030054" cy="29129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변환 규칙</a:t>
            </a:r>
            <a:endParaRPr lang="en-US" sz="15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81" name="Image 2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96919" y="2177677"/>
            <a:ext cx="1836695" cy="257576"/>
          </a:xfrm>
          <a:prstGeom prst="rect">
            <a:avLst/>
          </a:prstGeom>
        </p:spPr>
      </p:pic>
      <p:sp>
        <p:nvSpPr>
          <p:cNvPr id="182" name="Text 18"/>
          <p:cNvSpPr/>
          <p:nvPr/>
        </p:nvSpPr>
        <p:spPr>
          <a:xfrm>
            <a:off x="4219350" y="2224012"/>
            <a:ext cx="858417" cy="11651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altLang="ko-KR" sz="105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user_name</a:t>
            </a:r>
            <a:endParaRPr 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85" name="Image 2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96919" y="2504007"/>
            <a:ext cx="1836695" cy="257576"/>
          </a:xfrm>
          <a:prstGeom prst="rect">
            <a:avLst/>
          </a:prstGeom>
        </p:spPr>
      </p:pic>
      <p:sp>
        <p:nvSpPr>
          <p:cNvPr id="186" name="Text 18"/>
          <p:cNvSpPr/>
          <p:nvPr/>
        </p:nvSpPr>
        <p:spPr>
          <a:xfrm>
            <a:off x="4219350" y="2550342"/>
            <a:ext cx="858417" cy="11651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 latinLnBrk="1"/>
            <a:r>
              <a:rPr lang="en-US" altLang="ko-KR" sz="105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user_email</a:t>
            </a:r>
            <a:endParaRPr lang="ko-KR" alt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87" name="Image 2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96919" y="2821582"/>
            <a:ext cx="1836695" cy="257576"/>
          </a:xfrm>
          <a:prstGeom prst="rect">
            <a:avLst/>
          </a:prstGeom>
        </p:spPr>
      </p:pic>
      <p:sp>
        <p:nvSpPr>
          <p:cNvPr id="188" name="Text 18"/>
          <p:cNvSpPr/>
          <p:nvPr/>
        </p:nvSpPr>
        <p:spPr>
          <a:xfrm>
            <a:off x="4219350" y="2867917"/>
            <a:ext cx="1171800" cy="13668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 latinLnBrk="1"/>
            <a:r>
              <a:rPr lang="en-US" altLang="ko-KR" sz="105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order.order_date</a:t>
            </a:r>
            <a:endParaRPr lang="ko-KR" alt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9" name="타원 188">
            <a:extLst>
              <a:ext uri="{FF2B5EF4-FFF2-40B4-BE49-F238E27FC236}">
                <a16:creationId xmlns:a16="http://schemas.microsoft.com/office/drawing/2014/main" id="{4D9049EB-70D8-4995-9DBA-68C2EE93E2F4}"/>
              </a:ext>
            </a:extLst>
          </p:cNvPr>
          <p:cNvSpPr/>
          <p:nvPr/>
        </p:nvSpPr>
        <p:spPr>
          <a:xfrm>
            <a:off x="4035600" y="2033035"/>
            <a:ext cx="183750" cy="178979"/>
          </a:xfrm>
          <a:prstGeom prst="ellipse">
            <a:avLst/>
          </a:prstGeom>
          <a:solidFill>
            <a:srgbClr val="FF0000"/>
          </a:solidFill>
          <a:ln w="15875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sz="10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2" name="타원 191">
            <a:extLst>
              <a:ext uri="{FF2B5EF4-FFF2-40B4-BE49-F238E27FC236}">
                <a16:creationId xmlns:a16="http://schemas.microsoft.com/office/drawing/2014/main" id="{4D9049EB-70D8-4995-9DBA-68C2EE93E2F4}"/>
              </a:ext>
            </a:extLst>
          </p:cNvPr>
          <p:cNvSpPr/>
          <p:nvPr/>
        </p:nvSpPr>
        <p:spPr>
          <a:xfrm>
            <a:off x="6341429" y="2042111"/>
            <a:ext cx="183750" cy="178979"/>
          </a:xfrm>
          <a:prstGeom prst="ellipse">
            <a:avLst/>
          </a:prstGeom>
          <a:solidFill>
            <a:srgbClr val="FF0000"/>
          </a:solidFill>
          <a:ln w="15875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endParaRPr lang="ko-KR" altLang="en-US" sz="10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3" name="타원 192">
            <a:extLst>
              <a:ext uri="{FF2B5EF4-FFF2-40B4-BE49-F238E27FC236}">
                <a16:creationId xmlns:a16="http://schemas.microsoft.com/office/drawing/2014/main" id="{4D9049EB-70D8-4995-9DBA-68C2EE93E2F4}"/>
              </a:ext>
            </a:extLst>
          </p:cNvPr>
          <p:cNvSpPr/>
          <p:nvPr/>
        </p:nvSpPr>
        <p:spPr>
          <a:xfrm>
            <a:off x="7893573" y="2053187"/>
            <a:ext cx="183750" cy="178979"/>
          </a:xfrm>
          <a:prstGeom prst="ellipse">
            <a:avLst/>
          </a:prstGeom>
          <a:solidFill>
            <a:srgbClr val="FF0000"/>
          </a:solidFill>
          <a:ln w="15875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endParaRPr lang="ko-KR" altLang="en-US" sz="10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4" name="타원 193">
            <a:extLst>
              <a:ext uri="{FF2B5EF4-FFF2-40B4-BE49-F238E27FC236}">
                <a16:creationId xmlns:a16="http://schemas.microsoft.com/office/drawing/2014/main" id="{4D9049EB-70D8-4995-9DBA-68C2EE93E2F4}"/>
              </a:ext>
            </a:extLst>
          </p:cNvPr>
          <p:cNvSpPr/>
          <p:nvPr/>
        </p:nvSpPr>
        <p:spPr>
          <a:xfrm>
            <a:off x="496416" y="3613432"/>
            <a:ext cx="183750" cy="178979"/>
          </a:xfrm>
          <a:prstGeom prst="ellipse">
            <a:avLst/>
          </a:prstGeom>
          <a:solidFill>
            <a:srgbClr val="FF0000"/>
          </a:solidFill>
          <a:ln w="15875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endParaRPr lang="ko-KR" altLang="en-US" sz="10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5" name="Text 14"/>
          <p:cNvSpPr/>
          <p:nvPr/>
        </p:nvSpPr>
        <p:spPr>
          <a:xfrm>
            <a:off x="786105" y="3899182"/>
            <a:ext cx="1845128" cy="2510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문자열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패턴 변환</a:t>
            </a:r>
          </a:p>
        </p:txBody>
      </p:sp>
      <p:pic>
        <p:nvPicPr>
          <p:cNvPr id="200" name="Image 16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6105" y="4150244"/>
            <a:ext cx="8488524" cy="514350"/>
          </a:xfrm>
          <a:prstGeom prst="rect">
            <a:avLst/>
          </a:prstGeom>
        </p:spPr>
      </p:pic>
      <p:pic>
        <p:nvPicPr>
          <p:cNvPr id="168" name="Image 3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06375" y="4291195"/>
            <a:ext cx="133350" cy="152400"/>
          </a:xfrm>
          <a:prstGeom prst="rect">
            <a:avLst/>
          </a:prstGeom>
        </p:spPr>
      </p:pic>
      <p:sp>
        <p:nvSpPr>
          <p:cNvPr id="174" name="Text 14"/>
          <p:cNvSpPr/>
          <p:nvPr/>
        </p:nvSpPr>
        <p:spPr>
          <a:xfrm>
            <a:off x="5367767" y="4287275"/>
            <a:ext cx="10972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endParaRPr 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196" name="그룹 195"/>
          <p:cNvGrpSpPr/>
          <p:nvPr/>
        </p:nvGrpSpPr>
        <p:grpSpPr>
          <a:xfrm>
            <a:off x="1526331" y="4274688"/>
            <a:ext cx="1104900" cy="203087"/>
            <a:chOff x="4985076" y="3516543"/>
            <a:chExt cx="1104900" cy="203087"/>
          </a:xfrm>
        </p:grpSpPr>
        <p:pic>
          <p:nvPicPr>
            <p:cNvPr id="197" name="Image 28" descr="preencoded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985076" y="3529130"/>
              <a:ext cx="1104900" cy="190500"/>
            </a:xfrm>
            <a:prstGeom prst="rect">
              <a:avLst/>
            </a:prstGeom>
          </p:spPr>
        </p:pic>
        <p:pic>
          <p:nvPicPr>
            <p:cNvPr id="198" name="Image 29" descr="preencoded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947101" y="3538655"/>
              <a:ext cx="104775" cy="152400"/>
            </a:xfrm>
            <a:prstGeom prst="rect">
              <a:avLst/>
            </a:prstGeom>
          </p:spPr>
        </p:pic>
        <p:sp>
          <p:nvSpPr>
            <p:cNvPr id="199" name="Text 18"/>
            <p:cNvSpPr/>
            <p:nvPr/>
          </p:nvSpPr>
          <p:spPr>
            <a:xfrm>
              <a:off x="5228023" y="3516543"/>
              <a:ext cx="432554" cy="1905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500"/>
                </a:lnSpc>
                <a:buNone/>
              </a:pPr>
              <a:r>
                <a:rPr lang="ko-KR" altLang="en-US" sz="1050" dirty="0" smtClean="0">
                  <a:solidFill>
                    <a:srgbClr val="1F2937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ui-sans-serif" pitchFamily="34" charset="-120"/>
                </a:rPr>
                <a:t>치환</a:t>
              </a:r>
              <a:endParaRPr lang="en-US" sz="105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201" name="Text 18"/>
          <p:cNvSpPr/>
          <p:nvPr/>
        </p:nvSpPr>
        <p:spPr>
          <a:xfrm>
            <a:off x="830965" y="4299197"/>
            <a:ext cx="858417" cy="11651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 latinLnBrk="1"/>
            <a:r>
              <a:rPr lang="ko-KR" altLang="en-US" sz="1100" b="1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유형</a:t>
            </a:r>
            <a:endParaRPr lang="ko-KR" altLang="en-US" sz="11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202" name="그룹 201"/>
          <p:cNvGrpSpPr/>
          <p:nvPr/>
        </p:nvGrpSpPr>
        <p:grpSpPr>
          <a:xfrm>
            <a:off x="3644377" y="4274687"/>
            <a:ext cx="1104900" cy="203088"/>
            <a:chOff x="4985076" y="3516542"/>
            <a:chExt cx="1104900" cy="203088"/>
          </a:xfrm>
        </p:grpSpPr>
        <p:pic>
          <p:nvPicPr>
            <p:cNvPr id="203" name="Image 28" descr="preencoded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985076" y="3529130"/>
              <a:ext cx="1104900" cy="190500"/>
            </a:xfrm>
            <a:prstGeom prst="rect">
              <a:avLst/>
            </a:prstGeom>
          </p:spPr>
        </p:pic>
        <p:pic>
          <p:nvPicPr>
            <p:cNvPr id="204" name="Image 29" descr="preencoded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947101" y="3538655"/>
              <a:ext cx="104775" cy="152400"/>
            </a:xfrm>
            <a:prstGeom prst="rect">
              <a:avLst/>
            </a:prstGeom>
          </p:spPr>
        </p:pic>
        <p:sp>
          <p:nvSpPr>
            <p:cNvPr id="205" name="Text 18"/>
            <p:cNvSpPr/>
            <p:nvPr/>
          </p:nvSpPr>
          <p:spPr>
            <a:xfrm>
              <a:off x="5228023" y="3516542"/>
              <a:ext cx="588250" cy="203087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500"/>
                </a:lnSpc>
                <a:buNone/>
              </a:pPr>
              <a:r>
                <a:rPr lang="en-US" sz="1050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replace</a:t>
              </a:r>
              <a:endParaRPr lang="en-US" sz="105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206" name="Text 18"/>
          <p:cNvSpPr/>
          <p:nvPr/>
        </p:nvSpPr>
        <p:spPr>
          <a:xfrm>
            <a:off x="2977004" y="4299197"/>
            <a:ext cx="858417" cy="11651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 latinLnBrk="1"/>
            <a:r>
              <a:rPr lang="ko-KR" altLang="en-US" sz="1100" b="1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규칙</a:t>
            </a:r>
            <a:endParaRPr lang="ko-KR" altLang="en-US" sz="11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08" name="Image 12" descr="preencoded.png"/>
          <p:cNvPicPr preferRelativeResize="0">
            <a:picLocks/>
          </p:cNvPicPr>
          <p:nvPr/>
        </p:nvPicPr>
        <p:blipFill>
          <a:blip r:embed="rId13"/>
          <a:stretch>
            <a:fillRect/>
          </a:stretch>
        </p:blipFill>
        <p:spPr>
          <a:xfrm>
            <a:off x="5303051" y="4248888"/>
            <a:ext cx="1321438" cy="254597"/>
          </a:xfrm>
          <a:prstGeom prst="rect">
            <a:avLst/>
          </a:prstGeom>
        </p:spPr>
      </p:pic>
      <p:sp>
        <p:nvSpPr>
          <p:cNvPr id="209" name="Text 8"/>
          <p:cNvSpPr/>
          <p:nvPr/>
        </p:nvSpPr>
        <p:spPr>
          <a:xfrm>
            <a:off x="5393812" y="4252608"/>
            <a:ext cx="1111519" cy="25087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1100" dirty="0" smtClean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PLAN</a:t>
            </a:r>
            <a:endParaRPr lang="en-US" sz="1100" dirty="0"/>
          </a:p>
        </p:txBody>
      </p:sp>
      <p:pic>
        <p:nvPicPr>
          <p:cNvPr id="210" name="Image 12" descr="preencoded.png"/>
          <p:cNvPicPr preferRelativeResize="0">
            <a:picLocks/>
          </p:cNvPicPr>
          <p:nvPr/>
        </p:nvPicPr>
        <p:blipFill>
          <a:blip r:embed="rId13"/>
          <a:stretch>
            <a:fillRect/>
          </a:stretch>
        </p:blipFill>
        <p:spPr>
          <a:xfrm>
            <a:off x="7110077" y="4260301"/>
            <a:ext cx="1321438" cy="254597"/>
          </a:xfrm>
          <a:prstGeom prst="rect">
            <a:avLst/>
          </a:prstGeom>
        </p:spPr>
      </p:pic>
      <p:sp>
        <p:nvSpPr>
          <p:cNvPr id="211" name="Text 8"/>
          <p:cNvSpPr/>
          <p:nvPr/>
        </p:nvSpPr>
        <p:spPr>
          <a:xfrm>
            <a:off x="7200838" y="4264021"/>
            <a:ext cx="1111519" cy="25087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1100" dirty="0" smtClean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PLANNING</a:t>
            </a:r>
            <a:endParaRPr lang="en-US" sz="1100" dirty="0"/>
          </a:p>
        </p:txBody>
      </p:sp>
      <p:pic>
        <p:nvPicPr>
          <p:cNvPr id="212" name="Image 2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839358" y="4279653"/>
            <a:ext cx="153162" cy="183794"/>
          </a:xfrm>
          <a:prstGeom prst="rect">
            <a:avLst/>
          </a:prstGeom>
          <a:solidFill>
            <a:srgbClr val="0070C0"/>
          </a:solidFill>
        </p:spPr>
      </p:pic>
      <p:sp>
        <p:nvSpPr>
          <p:cNvPr id="214" name="타원 213">
            <a:extLst>
              <a:ext uri="{FF2B5EF4-FFF2-40B4-BE49-F238E27FC236}">
                <a16:creationId xmlns:a16="http://schemas.microsoft.com/office/drawing/2014/main" id="{4D9049EB-70D8-4995-9DBA-68C2EE93E2F4}"/>
              </a:ext>
            </a:extLst>
          </p:cNvPr>
          <p:cNvSpPr/>
          <p:nvPr/>
        </p:nvSpPr>
        <p:spPr>
          <a:xfrm>
            <a:off x="2007730" y="4110334"/>
            <a:ext cx="183750" cy="178979"/>
          </a:xfrm>
          <a:prstGeom prst="ellipse">
            <a:avLst/>
          </a:prstGeom>
          <a:solidFill>
            <a:srgbClr val="FF0000"/>
          </a:solidFill>
          <a:ln w="15875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5</a:t>
            </a:r>
            <a:endParaRPr lang="ko-KR" altLang="en-US" sz="10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15" name="타원 214">
            <a:extLst>
              <a:ext uri="{FF2B5EF4-FFF2-40B4-BE49-F238E27FC236}">
                <a16:creationId xmlns:a16="http://schemas.microsoft.com/office/drawing/2014/main" id="{4D9049EB-70D8-4995-9DBA-68C2EE93E2F4}"/>
              </a:ext>
            </a:extLst>
          </p:cNvPr>
          <p:cNvSpPr/>
          <p:nvPr/>
        </p:nvSpPr>
        <p:spPr>
          <a:xfrm>
            <a:off x="4104952" y="4100674"/>
            <a:ext cx="183750" cy="178979"/>
          </a:xfrm>
          <a:prstGeom prst="ellipse">
            <a:avLst/>
          </a:prstGeom>
          <a:solidFill>
            <a:srgbClr val="FF0000"/>
          </a:solidFill>
          <a:ln w="15875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6</a:t>
            </a:r>
            <a:endParaRPr lang="ko-KR" altLang="en-US" sz="10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18" name="타원 217">
            <a:extLst>
              <a:ext uri="{FF2B5EF4-FFF2-40B4-BE49-F238E27FC236}">
                <a16:creationId xmlns:a16="http://schemas.microsoft.com/office/drawing/2014/main" id="{4D9049EB-70D8-4995-9DBA-68C2EE93E2F4}"/>
              </a:ext>
            </a:extLst>
          </p:cNvPr>
          <p:cNvSpPr/>
          <p:nvPr/>
        </p:nvSpPr>
        <p:spPr>
          <a:xfrm>
            <a:off x="8794827" y="4060753"/>
            <a:ext cx="183750" cy="178979"/>
          </a:xfrm>
          <a:prstGeom prst="ellipse">
            <a:avLst/>
          </a:prstGeom>
          <a:solidFill>
            <a:srgbClr val="FF0000"/>
          </a:solidFill>
          <a:ln w="15875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7</a:t>
            </a:r>
            <a:endParaRPr lang="ko-KR" altLang="en-US" sz="10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42" name="Text 14"/>
          <p:cNvSpPr/>
          <p:nvPr/>
        </p:nvSpPr>
        <p:spPr>
          <a:xfrm>
            <a:off x="786105" y="4753968"/>
            <a:ext cx="1845128" cy="2510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r>
              <a:rPr lang="ko-KR" altLang="en-US" sz="14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포맷 변환</a:t>
            </a:r>
            <a:endParaRPr lang="ko-KR" alt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43" name="Image 16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6105" y="5005030"/>
            <a:ext cx="8488524" cy="407247"/>
          </a:xfrm>
          <a:prstGeom prst="rect">
            <a:avLst/>
          </a:prstGeom>
        </p:spPr>
      </p:pic>
      <p:sp>
        <p:nvSpPr>
          <p:cNvPr id="245" name="Text 14"/>
          <p:cNvSpPr/>
          <p:nvPr/>
        </p:nvSpPr>
        <p:spPr>
          <a:xfrm>
            <a:off x="5367767" y="5142061"/>
            <a:ext cx="10972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endParaRPr 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49" name="Text 18"/>
          <p:cNvSpPr/>
          <p:nvPr/>
        </p:nvSpPr>
        <p:spPr>
          <a:xfrm>
            <a:off x="1729580" y="5131634"/>
            <a:ext cx="860750" cy="20308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ko-KR" altLang="en-US" sz="1050" dirty="0" smtClean="0">
                <a:solidFill>
                  <a:srgbClr val="1F293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기본값</a:t>
            </a:r>
            <a:r>
              <a:rPr lang="en-US" altLang="ko-KR" sz="1050" dirty="0" smtClean="0">
                <a:solidFill>
                  <a:srgbClr val="1F293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/</a:t>
            </a:r>
            <a:r>
              <a:rPr lang="ko-KR" altLang="en-US" sz="1050" dirty="0" smtClean="0">
                <a:solidFill>
                  <a:srgbClr val="1F293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널 처리</a:t>
            </a:r>
            <a:endParaRPr 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50" name="Text 18"/>
          <p:cNvSpPr/>
          <p:nvPr/>
        </p:nvSpPr>
        <p:spPr>
          <a:xfrm>
            <a:off x="830965" y="5153983"/>
            <a:ext cx="858417" cy="11651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 latinLnBrk="1"/>
            <a:r>
              <a:rPr lang="ko-KR" altLang="en-US" sz="1100" b="1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규칙</a:t>
            </a:r>
            <a:endParaRPr lang="ko-KR" altLang="en-US" sz="11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56" name="Image 12" descr="preencoded.png"/>
          <p:cNvPicPr preferRelativeResize="0">
            <a:picLocks/>
          </p:cNvPicPr>
          <p:nvPr/>
        </p:nvPicPr>
        <p:blipFill>
          <a:blip r:embed="rId13"/>
          <a:stretch>
            <a:fillRect/>
          </a:stretch>
        </p:blipFill>
        <p:spPr>
          <a:xfrm>
            <a:off x="3682973" y="5103674"/>
            <a:ext cx="1321438" cy="254597"/>
          </a:xfrm>
          <a:prstGeom prst="rect">
            <a:avLst/>
          </a:prstGeom>
        </p:spPr>
      </p:pic>
      <p:sp>
        <p:nvSpPr>
          <p:cNvPr id="257" name="Text 8"/>
          <p:cNvSpPr/>
          <p:nvPr/>
        </p:nvSpPr>
        <p:spPr>
          <a:xfrm>
            <a:off x="3773734" y="5107394"/>
            <a:ext cx="1111519" cy="25087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1100" dirty="0" smtClean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PLAN</a:t>
            </a:r>
            <a:endParaRPr lang="en-US" sz="1100" dirty="0"/>
          </a:p>
        </p:txBody>
      </p:sp>
      <p:sp>
        <p:nvSpPr>
          <p:cNvPr id="262" name="타원 261">
            <a:extLst>
              <a:ext uri="{FF2B5EF4-FFF2-40B4-BE49-F238E27FC236}">
                <a16:creationId xmlns:a16="http://schemas.microsoft.com/office/drawing/2014/main" id="{4D9049EB-70D8-4995-9DBA-68C2EE93E2F4}"/>
              </a:ext>
            </a:extLst>
          </p:cNvPr>
          <p:cNvSpPr/>
          <p:nvPr/>
        </p:nvSpPr>
        <p:spPr>
          <a:xfrm>
            <a:off x="4104952" y="4955460"/>
            <a:ext cx="183750" cy="178979"/>
          </a:xfrm>
          <a:prstGeom prst="ellipse">
            <a:avLst/>
          </a:prstGeom>
          <a:solidFill>
            <a:srgbClr val="FF0000"/>
          </a:solidFill>
          <a:ln w="15875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8</a:t>
            </a:r>
            <a:endParaRPr lang="ko-KR" altLang="en-US" sz="10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64" name="Text 14"/>
          <p:cNvSpPr/>
          <p:nvPr/>
        </p:nvSpPr>
        <p:spPr>
          <a:xfrm>
            <a:off x="786105" y="5512478"/>
            <a:ext cx="1845128" cy="2510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r>
              <a:rPr lang="ko-KR" altLang="en-US" sz="14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품질 규칙</a:t>
            </a:r>
            <a:endParaRPr lang="ko-KR" alt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65" name="Image 16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6105" y="5763540"/>
            <a:ext cx="8488524" cy="451878"/>
          </a:xfrm>
          <a:prstGeom prst="rect">
            <a:avLst/>
          </a:prstGeom>
        </p:spPr>
      </p:pic>
      <p:sp>
        <p:nvSpPr>
          <p:cNvPr id="266" name="Text 14"/>
          <p:cNvSpPr/>
          <p:nvPr/>
        </p:nvSpPr>
        <p:spPr>
          <a:xfrm>
            <a:off x="5367767" y="5900571"/>
            <a:ext cx="10972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endParaRPr 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73" name="Text 14"/>
          <p:cNvSpPr/>
          <p:nvPr/>
        </p:nvSpPr>
        <p:spPr>
          <a:xfrm>
            <a:off x="5360776" y="5909921"/>
            <a:ext cx="10972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endParaRPr 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274" name="그룹 273"/>
          <p:cNvGrpSpPr/>
          <p:nvPr/>
        </p:nvGrpSpPr>
        <p:grpSpPr>
          <a:xfrm>
            <a:off x="1519340" y="5909921"/>
            <a:ext cx="1104900" cy="227623"/>
            <a:chOff x="4985076" y="3529130"/>
            <a:chExt cx="1104900" cy="227623"/>
          </a:xfrm>
        </p:grpSpPr>
        <p:pic>
          <p:nvPicPr>
            <p:cNvPr id="275" name="Image 28" descr="preencoded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985076" y="3529130"/>
              <a:ext cx="1104900" cy="190500"/>
            </a:xfrm>
            <a:prstGeom prst="rect">
              <a:avLst/>
            </a:prstGeom>
          </p:spPr>
        </p:pic>
        <p:pic>
          <p:nvPicPr>
            <p:cNvPr id="276" name="Image 29" descr="preencoded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947101" y="3538655"/>
              <a:ext cx="104775" cy="152400"/>
            </a:xfrm>
            <a:prstGeom prst="rect">
              <a:avLst/>
            </a:prstGeom>
          </p:spPr>
        </p:pic>
        <p:sp>
          <p:nvSpPr>
            <p:cNvPr id="277" name="Text 18"/>
            <p:cNvSpPr/>
            <p:nvPr/>
          </p:nvSpPr>
          <p:spPr>
            <a:xfrm>
              <a:off x="5119624" y="3536420"/>
              <a:ext cx="723869" cy="220333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500"/>
                </a:lnSpc>
                <a:buNone/>
              </a:pPr>
              <a:r>
                <a:rPr lang="ko-KR" altLang="en-US" sz="1050" smtClean="0">
                  <a:solidFill>
                    <a:srgbClr val="1F2937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ui-sans-serif" pitchFamily="34" charset="-120"/>
                </a:rPr>
                <a:t>유효성 검사</a:t>
              </a:r>
              <a:endParaRPr lang="en-US" sz="105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278" name="Text 18"/>
          <p:cNvSpPr/>
          <p:nvPr/>
        </p:nvSpPr>
        <p:spPr>
          <a:xfrm>
            <a:off x="823974" y="5921843"/>
            <a:ext cx="858417" cy="11651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 latinLnBrk="1"/>
            <a:r>
              <a:rPr lang="ko-KR" altLang="en-US" sz="1100" b="1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유형</a:t>
            </a:r>
            <a:endParaRPr lang="ko-KR" altLang="en-US" sz="11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279" name="그룹 278"/>
          <p:cNvGrpSpPr/>
          <p:nvPr/>
        </p:nvGrpSpPr>
        <p:grpSpPr>
          <a:xfrm>
            <a:off x="3637386" y="5897333"/>
            <a:ext cx="1104900" cy="203088"/>
            <a:chOff x="4985076" y="3516542"/>
            <a:chExt cx="1104900" cy="203088"/>
          </a:xfrm>
        </p:grpSpPr>
        <p:pic>
          <p:nvPicPr>
            <p:cNvPr id="280" name="Image 28" descr="preencoded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985076" y="3529130"/>
              <a:ext cx="1104900" cy="190500"/>
            </a:xfrm>
            <a:prstGeom prst="rect">
              <a:avLst/>
            </a:prstGeom>
          </p:spPr>
        </p:pic>
        <p:pic>
          <p:nvPicPr>
            <p:cNvPr id="281" name="Image 29" descr="preencoded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947101" y="3538655"/>
              <a:ext cx="104775" cy="152400"/>
            </a:xfrm>
            <a:prstGeom prst="rect">
              <a:avLst/>
            </a:prstGeom>
          </p:spPr>
        </p:pic>
        <p:sp>
          <p:nvSpPr>
            <p:cNvPr id="282" name="Text 18"/>
            <p:cNvSpPr/>
            <p:nvPr/>
          </p:nvSpPr>
          <p:spPr>
            <a:xfrm>
              <a:off x="5228023" y="3516542"/>
              <a:ext cx="588250" cy="203087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500"/>
                </a:lnSpc>
                <a:buNone/>
              </a:pPr>
              <a:r>
                <a:rPr lang="ko-KR" altLang="en-US" sz="1050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전화번호</a:t>
              </a:r>
              <a:endParaRPr lang="en-US" sz="105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283" name="Text 18"/>
          <p:cNvSpPr/>
          <p:nvPr/>
        </p:nvSpPr>
        <p:spPr>
          <a:xfrm>
            <a:off x="2970013" y="5921843"/>
            <a:ext cx="858417" cy="11651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 latinLnBrk="1"/>
            <a:r>
              <a:rPr lang="ko-KR" altLang="en-US" sz="1100" b="1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규칙</a:t>
            </a:r>
            <a:endParaRPr lang="ko-KR" altLang="en-US" sz="11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88" name="타원 287">
            <a:extLst>
              <a:ext uri="{FF2B5EF4-FFF2-40B4-BE49-F238E27FC236}">
                <a16:creationId xmlns:a16="http://schemas.microsoft.com/office/drawing/2014/main" id="{4D9049EB-70D8-4995-9DBA-68C2EE93E2F4}"/>
              </a:ext>
            </a:extLst>
          </p:cNvPr>
          <p:cNvSpPr/>
          <p:nvPr/>
        </p:nvSpPr>
        <p:spPr>
          <a:xfrm>
            <a:off x="2000739" y="5732980"/>
            <a:ext cx="183750" cy="178979"/>
          </a:xfrm>
          <a:prstGeom prst="ellipse">
            <a:avLst/>
          </a:prstGeom>
          <a:solidFill>
            <a:srgbClr val="FF0000"/>
          </a:solidFill>
          <a:ln w="15875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9</a:t>
            </a:r>
            <a:endParaRPr lang="ko-KR" altLang="en-US" sz="10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290" name="그룹 289"/>
          <p:cNvGrpSpPr/>
          <p:nvPr/>
        </p:nvGrpSpPr>
        <p:grpSpPr>
          <a:xfrm>
            <a:off x="4092692" y="5724106"/>
            <a:ext cx="196010" cy="178979"/>
            <a:chOff x="4935427" y="5397241"/>
            <a:chExt cx="196010" cy="178979"/>
          </a:xfrm>
        </p:grpSpPr>
        <p:sp>
          <p:nvSpPr>
            <p:cNvPr id="291" name="타원 290">
              <a:extLst>
                <a:ext uri="{FF2B5EF4-FFF2-40B4-BE49-F238E27FC236}">
                  <a16:creationId xmlns:a16="http://schemas.microsoft.com/office/drawing/2014/main" id="{4D9049EB-70D8-4995-9DBA-68C2EE93E2F4}"/>
                </a:ext>
              </a:extLst>
            </p:cNvPr>
            <p:cNvSpPr/>
            <p:nvPr/>
          </p:nvSpPr>
          <p:spPr>
            <a:xfrm>
              <a:off x="4935427" y="5397241"/>
              <a:ext cx="183750" cy="178979"/>
            </a:xfrm>
            <a:prstGeom prst="ellipse">
              <a:avLst/>
            </a:prstGeom>
            <a:solidFill>
              <a:srgbClr val="FF0000"/>
            </a:solidFill>
            <a:ln w="15875">
              <a:noFill/>
              <a:prstDash val="solid"/>
              <a:round/>
              <a:headEnd/>
              <a:tailEnd/>
            </a:ln>
          </p:spPr>
          <p:txBody>
            <a:bodyPr rtlCol="0" anchor="ctr"/>
            <a:lstStyle>
              <a:defPPr rtl="0">
                <a:defRPr lang="ko-K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latinLnBrk="0"/>
              <a:endParaRPr lang="ko-KR" altLang="en-US" sz="1200" dirty="0">
                <a:solidFill>
                  <a:schemeClr val="bg1"/>
                </a:solidFill>
                <a:latin typeface="카카오 OTF Regular" panose="020B0600000101010101" pitchFamily="34" charset="-127"/>
                <a:ea typeface="카카오 OTF Regular" panose="020B0600000101010101" pitchFamily="34" charset="-127"/>
              </a:endParaRPr>
            </a:p>
          </p:txBody>
        </p:sp>
        <p:sp>
          <p:nvSpPr>
            <p:cNvPr id="292" name="Text 14"/>
            <p:cNvSpPr/>
            <p:nvPr/>
          </p:nvSpPr>
          <p:spPr>
            <a:xfrm>
              <a:off x="4950823" y="5407785"/>
              <a:ext cx="180614" cy="166108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500"/>
                </a:lnSpc>
                <a:buNone/>
              </a:pPr>
              <a:r>
                <a:rPr lang="en-US" altLang="ko-KR" sz="1050" dirty="0" smtClean="0">
                  <a:solidFill>
                    <a:schemeClr val="bg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10</a:t>
              </a:r>
            </a:p>
          </p:txBody>
        </p:sp>
      </p:grpSp>
      <p:pic>
        <p:nvPicPr>
          <p:cNvPr id="296" name="Image 40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465418" y="6245076"/>
            <a:ext cx="819150" cy="381000"/>
          </a:xfrm>
          <a:prstGeom prst="rect">
            <a:avLst/>
          </a:prstGeom>
        </p:spPr>
      </p:pic>
      <p:pic>
        <p:nvPicPr>
          <p:cNvPr id="297" name="Image 41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998818" y="6359376"/>
            <a:ext cx="133350" cy="152400"/>
          </a:xfrm>
          <a:prstGeom prst="rect">
            <a:avLst/>
          </a:prstGeom>
        </p:spPr>
      </p:pic>
      <p:sp>
        <p:nvSpPr>
          <p:cNvPr id="298" name="Text 23"/>
          <p:cNvSpPr/>
          <p:nvPr/>
        </p:nvSpPr>
        <p:spPr>
          <a:xfrm>
            <a:off x="8587338" y="6321276"/>
            <a:ext cx="3657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다음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8548187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38200"/>
            <a:ext cx="1219200" cy="38100"/>
          </a:xfrm>
          <a:prstGeom prst="rect">
            <a:avLst/>
          </a:prstGeom>
        </p:spPr>
      </p:pic>
      <p:sp>
        <p:nvSpPr>
          <p:cNvPr id="40" name="Text 0"/>
          <p:cNvSpPr/>
          <p:nvPr/>
        </p:nvSpPr>
        <p:spPr>
          <a:xfrm>
            <a:off x="381000" y="381000"/>
            <a:ext cx="116776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lvl="0">
              <a:lnSpc>
                <a:spcPts val="3000"/>
              </a:lnSpc>
            </a:pPr>
            <a:r>
              <a:rPr lang="ko-KR" altLang="en-US" sz="2250" b="1" dirty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커넥션 생성 </a:t>
            </a:r>
            <a:r>
              <a:rPr lang="en-US" altLang="ko-KR" sz="2250" b="1" dirty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- MongoDB </a:t>
            </a:r>
            <a:r>
              <a:rPr lang="en-US" altLang="ko-KR" sz="2250" b="1" dirty="0" err="1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저장</a:t>
            </a:r>
            <a:r>
              <a:rPr lang="en-US" altLang="ko-KR" sz="2250" b="1" dirty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en-US" altLang="ko-KR" sz="2250" b="1" dirty="0" err="1" smtClean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방식</a:t>
            </a:r>
            <a:r>
              <a:rPr lang="en-US" altLang="ko-KR" sz="2250" b="1" dirty="0" smtClean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en-US" sz="2250" b="1" dirty="0" smtClean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- </a:t>
            </a:r>
            <a:r>
              <a:rPr lang="en-US" sz="2250" b="1" dirty="0" err="1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데이터</a:t>
            </a:r>
            <a:r>
              <a:rPr lang="en-US" sz="2250" b="1" dirty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en-US" sz="2250" b="1" dirty="0" err="1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변환</a:t>
            </a:r>
            <a:r>
              <a:rPr lang="en-US" sz="2250" b="1" dirty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및 </a:t>
            </a:r>
            <a:r>
              <a:rPr lang="en-US" sz="2250" b="1" dirty="0" err="1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필드</a:t>
            </a:r>
            <a:r>
              <a:rPr lang="en-US" sz="2250" b="1" dirty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en-US" sz="2250" b="1" dirty="0" err="1" smtClean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매핑</a:t>
            </a:r>
            <a:r>
              <a:rPr lang="en-US" sz="2250" b="1" dirty="0" smtClean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(2)</a:t>
            </a:r>
            <a:endParaRPr lang="en-US" sz="2250" b="1" dirty="0">
              <a:solidFill>
                <a:srgbClr val="000000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</p:txBody>
      </p:sp>
      <p:sp>
        <p:nvSpPr>
          <p:cNvPr id="41" name="Text 1"/>
          <p:cNvSpPr/>
          <p:nvPr/>
        </p:nvSpPr>
        <p:spPr>
          <a:xfrm>
            <a:off x="381000" y="919701"/>
            <a:ext cx="11430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소스 데이터 필드를 MongoDB 문서 필드로 매핑하고 변환 규칙을 설정하세요.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35" name="Image 2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0999" y="1344102"/>
            <a:ext cx="9100649" cy="193042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310" y="1453101"/>
            <a:ext cx="171450" cy="190500"/>
          </a:xfrm>
          <a:prstGeom prst="rect">
            <a:avLst/>
          </a:prstGeom>
        </p:spPr>
      </p:pic>
      <p:sp>
        <p:nvSpPr>
          <p:cNvPr id="42" name="Text 2"/>
          <p:cNvSpPr/>
          <p:nvPr/>
        </p:nvSpPr>
        <p:spPr>
          <a:xfrm>
            <a:off x="721960" y="1415001"/>
            <a:ext cx="47625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en-US" altLang="ko-KR" sz="1600" b="1" dirty="0" err="1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Gothic" pitchFamily="34" charset="-120"/>
              </a:rPr>
              <a:t>데이터</a:t>
            </a:r>
            <a:r>
              <a:rPr lang="en-US" altLang="ko-KR" sz="16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Gothic" pitchFamily="34" charset="-120"/>
              </a:rPr>
              <a:t> </a:t>
            </a:r>
            <a:r>
              <a:rPr lang="en-US" altLang="ko-KR" sz="1600" b="1" dirty="0" err="1" smtClean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Gothic" pitchFamily="34" charset="-120"/>
              </a:rPr>
              <a:t>변환</a:t>
            </a:r>
            <a:r>
              <a:rPr lang="en-US" altLang="ko-KR" sz="1600" b="1" dirty="0" smtClean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Gothic" pitchFamily="34" charset="-120"/>
              </a:rPr>
              <a:t> - </a:t>
            </a:r>
            <a:r>
              <a:rPr lang="ko-KR" altLang="en-US" sz="1600" b="1" dirty="0" smtClean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Gothic" pitchFamily="34" charset="-120"/>
              </a:rPr>
              <a:t>변환 데이터 미리 보기</a:t>
            </a:r>
            <a:endParaRPr lang="en-US" sz="15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36" name="Image 5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61354" y="1346156"/>
            <a:ext cx="2430464" cy="5324551"/>
          </a:xfrm>
          <a:prstGeom prst="rect">
            <a:avLst/>
          </a:prstGeom>
        </p:spPr>
      </p:pic>
      <p:sp>
        <p:nvSpPr>
          <p:cNvPr id="137" name="Text 46"/>
          <p:cNvSpPr/>
          <p:nvPr/>
        </p:nvSpPr>
        <p:spPr>
          <a:xfrm>
            <a:off x="9687122" y="988493"/>
            <a:ext cx="2334241" cy="1979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 smtClean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UI </a:t>
            </a:r>
            <a:r>
              <a:rPr lang="ko-KR" altLang="en-US" sz="1350" b="1" dirty="0" smtClean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설명</a:t>
            </a:r>
            <a:r>
              <a:rPr lang="en-US" sz="1350" b="1" dirty="0" smtClean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en-US" sz="1350" b="1" dirty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영역</a:t>
            </a:r>
            <a:endParaRPr lang="en-US" sz="1350" dirty="0"/>
          </a:p>
        </p:txBody>
      </p:sp>
      <p:sp>
        <p:nvSpPr>
          <p:cNvPr id="138" name="Text 20"/>
          <p:cNvSpPr/>
          <p:nvPr/>
        </p:nvSpPr>
        <p:spPr>
          <a:xfrm>
            <a:off x="9742405" y="1389447"/>
            <a:ext cx="2293723" cy="455216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200"/>
              </a:lnSpc>
            </a:pPr>
            <a:r>
              <a:rPr 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1.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데이터 변환 과정에서 해당 값 변경</a:t>
            </a: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,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변환 규칙 적용 시 변환 데이터의 미리 보기 기능 제공</a:t>
            </a:r>
            <a:endParaRPr lang="en-US" altLang="ko-KR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endParaRPr lang="en-US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r>
              <a:rPr 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2.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인덱스를 생성하는 기능 제공</a:t>
            </a:r>
            <a:endParaRPr lang="en-US" altLang="ko-KR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endParaRPr lang="en-US" altLang="ko-KR" sz="1000" dirty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3.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새로운 인덱스 추가 기능</a:t>
            </a:r>
            <a:endParaRPr lang="en-US" altLang="ko-KR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endParaRPr lang="en-US" altLang="ko-KR" sz="1000" dirty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4.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데이터 변환 완료 후 </a:t>
            </a: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MongoDB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쿼리 수행할 것이 있으면 쿼리 작성</a:t>
            </a:r>
            <a:endParaRPr lang="en-US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</p:txBody>
      </p:sp>
      <p:pic>
        <p:nvPicPr>
          <p:cNvPr id="162" name="Image 2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4450065"/>
            <a:ext cx="9175294" cy="2220642"/>
          </a:xfrm>
          <a:prstGeom prst="rect">
            <a:avLst/>
          </a:prstGeom>
        </p:spPr>
      </p:pic>
      <p:sp>
        <p:nvSpPr>
          <p:cNvPr id="194" name="타원 193">
            <a:extLst>
              <a:ext uri="{FF2B5EF4-FFF2-40B4-BE49-F238E27FC236}">
                <a16:creationId xmlns:a16="http://schemas.microsoft.com/office/drawing/2014/main" id="{4D9049EB-70D8-4995-9DBA-68C2EE93E2F4}"/>
              </a:ext>
            </a:extLst>
          </p:cNvPr>
          <p:cNvSpPr/>
          <p:nvPr/>
        </p:nvSpPr>
        <p:spPr>
          <a:xfrm>
            <a:off x="510214" y="4647262"/>
            <a:ext cx="183750" cy="178979"/>
          </a:xfrm>
          <a:prstGeom prst="ellipse">
            <a:avLst/>
          </a:prstGeom>
          <a:solidFill>
            <a:srgbClr val="FF0000"/>
          </a:solidFill>
          <a:ln w="15875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endParaRPr lang="ko-KR" altLang="en-US" sz="10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01" name="Image 1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0035" y="1762025"/>
            <a:ext cx="4151142" cy="1225678"/>
          </a:xfrm>
          <a:prstGeom prst="rect">
            <a:avLst/>
          </a:prstGeom>
        </p:spPr>
      </p:pic>
      <p:pic>
        <p:nvPicPr>
          <p:cNvPr id="102" name="Image 12" descr="preencoded.png"/>
          <p:cNvPicPr preferRelativeResize="0">
            <a:picLocks/>
          </p:cNvPicPr>
          <p:nvPr/>
        </p:nvPicPr>
        <p:blipFill>
          <a:blip r:embed="rId9"/>
          <a:stretch>
            <a:fillRect/>
          </a:stretch>
        </p:blipFill>
        <p:spPr>
          <a:xfrm>
            <a:off x="664117" y="1788979"/>
            <a:ext cx="4085160" cy="1418795"/>
          </a:xfrm>
          <a:prstGeom prst="rect">
            <a:avLst/>
          </a:prstGeom>
        </p:spPr>
      </p:pic>
      <p:sp>
        <p:nvSpPr>
          <p:cNvPr id="103" name="Text 8"/>
          <p:cNvSpPr/>
          <p:nvPr/>
        </p:nvSpPr>
        <p:spPr>
          <a:xfrm>
            <a:off x="786105" y="1878036"/>
            <a:ext cx="3820297" cy="103284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{</a:t>
            </a:r>
          </a:p>
          <a:p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"</a:t>
            </a:r>
            <a:r>
              <a:rPr lang="en-US" sz="12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user_name</a:t>
            </a: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": "</a:t>
            </a:r>
            <a:r>
              <a:rPr lang="ko-KR" alt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홍길동</a:t>
            </a:r>
            <a:r>
              <a:rPr lang="en-US" altLang="ko-KR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",</a:t>
            </a:r>
          </a:p>
          <a:p>
            <a:r>
              <a:rPr lang="en-US" altLang="ko-KR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"</a:t>
            </a:r>
            <a:r>
              <a:rPr lang="en-US" sz="12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user_email</a:t>
            </a: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": "hong@sample.com",</a:t>
            </a:r>
          </a:p>
          <a:p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"order": {</a:t>
            </a:r>
          </a:p>
          <a:p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"</a:t>
            </a:r>
            <a:r>
              <a:rPr lang="en-US" sz="12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order_date</a:t>
            </a: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": "2025-12-20 14:30"</a:t>
            </a:r>
          </a:p>
          <a:p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}</a:t>
            </a:r>
          </a:p>
          <a:p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}</a:t>
            </a:r>
            <a:endParaRPr lang="en-US" sz="1200" dirty="0"/>
          </a:p>
        </p:txBody>
      </p:sp>
      <p:pic>
        <p:nvPicPr>
          <p:cNvPr id="105" name="Image 12" descr="preencoded.png"/>
          <p:cNvPicPr preferRelativeResize="0">
            <a:picLocks/>
          </p:cNvPicPr>
          <p:nvPr/>
        </p:nvPicPr>
        <p:blipFill>
          <a:blip r:embed="rId9"/>
          <a:stretch>
            <a:fillRect/>
          </a:stretch>
        </p:blipFill>
        <p:spPr>
          <a:xfrm>
            <a:off x="593025" y="4974141"/>
            <a:ext cx="4445505" cy="1418795"/>
          </a:xfrm>
          <a:prstGeom prst="rect">
            <a:avLst/>
          </a:prstGeom>
        </p:spPr>
      </p:pic>
      <p:pic>
        <p:nvPicPr>
          <p:cNvPr id="107" name="Image 2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109" y="3331954"/>
            <a:ext cx="9097539" cy="1020918"/>
          </a:xfrm>
          <a:prstGeom prst="rect">
            <a:avLst/>
          </a:prstGeom>
        </p:spPr>
      </p:pic>
      <p:sp>
        <p:nvSpPr>
          <p:cNvPr id="109" name="Text 11"/>
          <p:cNvSpPr/>
          <p:nvPr/>
        </p:nvSpPr>
        <p:spPr>
          <a:xfrm>
            <a:off x="786105" y="3429147"/>
            <a:ext cx="8347488" cy="27818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ko-KR" altLang="en-US" sz="1500" b="1" dirty="0" smtClean="0">
                <a:solidFill>
                  <a:srgbClr val="37415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인덱스 생성</a:t>
            </a:r>
            <a:endParaRPr lang="en-US" sz="15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0" name="타원 109">
            <a:extLst>
              <a:ext uri="{FF2B5EF4-FFF2-40B4-BE49-F238E27FC236}">
                <a16:creationId xmlns:a16="http://schemas.microsoft.com/office/drawing/2014/main" id="{4D9049EB-70D8-4995-9DBA-68C2EE93E2F4}"/>
              </a:ext>
            </a:extLst>
          </p:cNvPr>
          <p:cNvSpPr/>
          <p:nvPr/>
        </p:nvSpPr>
        <p:spPr>
          <a:xfrm>
            <a:off x="499525" y="3467248"/>
            <a:ext cx="183750" cy="178979"/>
          </a:xfrm>
          <a:prstGeom prst="ellipse">
            <a:avLst/>
          </a:prstGeom>
          <a:solidFill>
            <a:srgbClr val="FF0000"/>
          </a:solidFill>
          <a:ln w="15875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endParaRPr lang="ko-KR" altLang="en-US" sz="10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12" name="Image 1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5237" y="3752131"/>
            <a:ext cx="8488524" cy="514350"/>
          </a:xfrm>
          <a:prstGeom prst="rect">
            <a:avLst/>
          </a:prstGeom>
        </p:spPr>
      </p:pic>
      <p:sp>
        <p:nvSpPr>
          <p:cNvPr id="114" name="Text 14"/>
          <p:cNvSpPr/>
          <p:nvPr/>
        </p:nvSpPr>
        <p:spPr>
          <a:xfrm>
            <a:off x="5286899" y="3889162"/>
            <a:ext cx="10972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endParaRPr 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16" name="Image 2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45463" y="3889162"/>
            <a:ext cx="1104900" cy="190500"/>
          </a:xfrm>
          <a:prstGeom prst="rect">
            <a:avLst/>
          </a:prstGeom>
        </p:spPr>
      </p:pic>
      <p:sp>
        <p:nvSpPr>
          <p:cNvPr id="119" name="Text 18"/>
          <p:cNvSpPr/>
          <p:nvPr/>
        </p:nvSpPr>
        <p:spPr>
          <a:xfrm>
            <a:off x="750097" y="3901084"/>
            <a:ext cx="858417" cy="11651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 latinLnBrk="1"/>
            <a:r>
              <a:rPr lang="ko-KR" altLang="en-US" sz="1100" b="1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이름</a:t>
            </a:r>
            <a:endParaRPr lang="ko-KR" altLang="en-US" sz="11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120" name="그룹 119"/>
          <p:cNvGrpSpPr/>
          <p:nvPr/>
        </p:nvGrpSpPr>
        <p:grpSpPr>
          <a:xfrm>
            <a:off x="3563509" y="3876574"/>
            <a:ext cx="1104900" cy="203088"/>
            <a:chOff x="4985076" y="3516542"/>
            <a:chExt cx="1104900" cy="203088"/>
          </a:xfrm>
        </p:grpSpPr>
        <p:pic>
          <p:nvPicPr>
            <p:cNvPr id="121" name="Image 28" descr="preencoded.pn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985076" y="3529130"/>
              <a:ext cx="1104900" cy="190500"/>
            </a:xfrm>
            <a:prstGeom prst="rect">
              <a:avLst/>
            </a:prstGeom>
          </p:spPr>
        </p:pic>
        <p:sp>
          <p:nvSpPr>
            <p:cNvPr id="123" name="Text 18"/>
            <p:cNvSpPr/>
            <p:nvPr/>
          </p:nvSpPr>
          <p:spPr>
            <a:xfrm>
              <a:off x="5228023" y="3516542"/>
              <a:ext cx="588250" cy="203087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500"/>
                </a:lnSpc>
                <a:buNone/>
              </a:pPr>
              <a:r>
                <a:rPr lang="en-US" sz="1050" dirty="0" err="1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user_id</a:t>
              </a:r>
              <a:endParaRPr lang="en-US" sz="105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124" name="Text 18"/>
          <p:cNvSpPr/>
          <p:nvPr/>
        </p:nvSpPr>
        <p:spPr>
          <a:xfrm>
            <a:off x="2896136" y="3901084"/>
            <a:ext cx="858417" cy="11651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 latinLnBrk="1"/>
            <a:r>
              <a:rPr lang="ko-KR" altLang="en-US" sz="1100" b="1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필드</a:t>
            </a:r>
            <a:endParaRPr lang="ko-KR" altLang="en-US" sz="11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25" name="Text 4"/>
          <p:cNvSpPr/>
          <p:nvPr/>
        </p:nvSpPr>
        <p:spPr>
          <a:xfrm>
            <a:off x="4728924" y="3886879"/>
            <a:ext cx="14964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 smtClean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</a:t>
            </a:r>
            <a:endParaRPr lang="en-US" sz="1100" dirty="0"/>
          </a:p>
        </p:txBody>
      </p:sp>
      <p:grpSp>
        <p:nvGrpSpPr>
          <p:cNvPr id="226" name="그룹 225"/>
          <p:cNvGrpSpPr/>
          <p:nvPr/>
        </p:nvGrpSpPr>
        <p:grpSpPr>
          <a:xfrm>
            <a:off x="5136883" y="3872893"/>
            <a:ext cx="1104900" cy="203088"/>
            <a:chOff x="4985076" y="3516542"/>
            <a:chExt cx="1104900" cy="203088"/>
          </a:xfrm>
        </p:grpSpPr>
        <p:pic>
          <p:nvPicPr>
            <p:cNvPr id="227" name="Image 28" descr="preencoded.pn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985076" y="3529130"/>
              <a:ext cx="1104900" cy="190500"/>
            </a:xfrm>
            <a:prstGeom prst="rect">
              <a:avLst/>
            </a:prstGeom>
          </p:spPr>
        </p:pic>
        <p:pic>
          <p:nvPicPr>
            <p:cNvPr id="228" name="Image 29" descr="preencoded.pn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947101" y="3538655"/>
              <a:ext cx="104775" cy="152400"/>
            </a:xfrm>
            <a:prstGeom prst="rect">
              <a:avLst/>
            </a:prstGeom>
          </p:spPr>
        </p:pic>
        <p:sp>
          <p:nvSpPr>
            <p:cNvPr id="229" name="Text 18"/>
            <p:cNvSpPr/>
            <p:nvPr/>
          </p:nvSpPr>
          <p:spPr>
            <a:xfrm>
              <a:off x="5228023" y="3516542"/>
              <a:ext cx="588250" cy="203087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500"/>
                </a:lnSpc>
                <a:buNone/>
              </a:pPr>
              <a:r>
                <a:rPr lang="ko-KR" altLang="en-US" sz="1050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오름차순</a:t>
              </a:r>
              <a:endParaRPr lang="en-US" sz="105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230" name="타원 229">
            <a:extLst>
              <a:ext uri="{FF2B5EF4-FFF2-40B4-BE49-F238E27FC236}">
                <a16:creationId xmlns:a16="http://schemas.microsoft.com/office/drawing/2014/main" id="{4D9049EB-70D8-4995-9DBA-68C2EE93E2F4}"/>
              </a:ext>
            </a:extLst>
          </p:cNvPr>
          <p:cNvSpPr/>
          <p:nvPr/>
        </p:nvSpPr>
        <p:spPr>
          <a:xfrm>
            <a:off x="499525" y="1882545"/>
            <a:ext cx="183750" cy="178979"/>
          </a:xfrm>
          <a:prstGeom prst="ellipse">
            <a:avLst/>
          </a:prstGeom>
          <a:solidFill>
            <a:srgbClr val="FF0000"/>
          </a:solidFill>
          <a:ln w="15875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sz="10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31" name="Text 11"/>
          <p:cNvSpPr/>
          <p:nvPr/>
        </p:nvSpPr>
        <p:spPr>
          <a:xfrm>
            <a:off x="704826" y="4597658"/>
            <a:ext cx="8347488" cy="27818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ko-KR" altLang="en-US" sz="1500" b="1" dirty="0" smtClean="0">
                <a:solidFill>
                  <a:srgbClr val="37415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데이터 변환 후 </a:t>
            </a:r>
            <a:r>
              <a:rPr lang="en-US" altLang="ko-KR" sz="1500" b="1" dirty="0" smtClean="0">
                <a:solidFill>
                  <a:srgbClr val="37415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MongoDB </a:t>
            </a:r>
            <a:r>
              <a:rPr lang="ko-KR" altLang="en-US" sz="1500" b="1" dirty="0" smtClean="0">
                <a:solidFill>
                  <a:srgbClr val="37415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쿼리 실행</a:t>
            </a:r>
            <a:endParaRPr lang="en-US" sz="15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32" name="Text 8"/>
          <p:cNvSpPr/>
          <p:nvPr/>
        </p:nvSpPr>
        <p:spPr>
          <a:xfrm>
            <a:off x="664117" y="5109280"/>
            <a:ext cx="5186177" cy="103284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r>
              <a:rPr lang="en-US" sz="12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db.collection.updateMany</a:t>
            </a: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</a:t>
            </a:r>
          </a:p>
          <a:p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{ /* </a:t>
            </a:r>
            <a:r>
              <a:rPr lang="ko-KR" alt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필터 조건 *</a:t>
            </a:r>
            <a:r>
              <a:rPr lang="en-US" altLang="ko-KR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 },</a:t>
            </a:r>
          </a:p>
          <a:p>
            <a:r>
              <a:rPr lang="en-US" altLang="ko-KR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[</a:t>
            </a:r>
          </a:p>
          <a:p>
            <a:r>
              <a:rPr lang="en-US" altLang="ko-KR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// </a:t>
            </a:r>
            <a:r>
              <a:rPr lang="ko-KR" alt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여기에 </a:t>
            </a:r>
            <a:r>
              <a:rPr lang="en-US" altLang="ko-KR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$</a:t>
            </a: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set, $unset, $</a:t>
            </a:r>
            <a:r>
              <a:rPr lang="en-US" sz="12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addFields</a:t>
            </a: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파이프라인 스테이지들</a:t>
            </a:r>
          </a:p>
          <a:p>
            <a:r>
              <a:rPr lang="ko-KR" alt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</a:t>
            </a:r>
            <a:r>
              <a:rPr lang="en-US" altLang="ko-KR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]</a:t>
            </a:r>
          </a:p>
          <a:p>
            <a:r>
              <a:rPr lang="en-US" altLang="ko-KR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</a:t>
            </a:r>
            <a:endParaRPr lang="en-US" sz="1200" dirty="0"/>
          </a:p>
        </p:txBody>
      </p:sp>
      <p:pic>
        <p:nvPicPr>
          <p:cNvPr id="233" name="Image 2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39358" y="3486551"/>
            <a:ext cx="153162" cy="183794"/>
          </a:xfrm>
          <a:prstGeom prst="rect">
            <a:avLst/>
          </a:prstGeom>
          <a:solidFill>
            <a:srgbClr val="0070C0"/>
          </a:solidFill>
        </p:spPr>
      </p:pic>
      <p:sp>
        <p:nvSpPr>
          <p:cNvPr id="234" name="타원 233">
            <a:extLst>
              <a:ext uri="{FF2B5EF4-FFF2-40B4-BE49-F238E27FC236}">
                <a16:creationId xmlns:a16="http://schemas.microsoft.com/office/drawing/2014/main" id="{4D9049EB-70D8-4995-9DBA-68C2EE93E2F4}"/>
              </a:ext>
            </a:extLst>
          </p:cNvPr>
          <p:cNvSpPr/>
          <p:nvPr/>
        </p:nvSpPr>
        <p:spPr>
          <a:xfrm>
            <a:off x="8633884" y="3486551"/>
            <a:ext cx="183750" cy="178979"/>
          </a:xfrm>
          <a:prstGeom prst="ellipse">
            <a:avLst/>
          </a:prstGeom>
          <a:solidFill>
            <a:srgbClr val="FF0000"/>
          </a:solidFill>
          <a:ln w="15875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endParaRPr lang="ko-KR" altLang="en-US" sz="10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984843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38200"/>
            <a:ext cx="1219200" cy="381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176401"/>
            <a:ext cx="171450" cy="2286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1605026"/>
            <a:ext cx="3105448" cy="11049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1805051"/>
            <a:ext cx="171450" cy="1714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14800" y="1605026"/>
            <a:ext cx="3105448" cy="11049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67200" y="1805051"/>
            <a:ext cx="171450" cy="17145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1000" y="2862326"/>
            <a:ext cx="3105448" cy="11049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3400" y="3062351"/>
            <a:ext cx="171450" cy="17145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14800" y="2862326"/>
            <a:ext cx="3105448" cy="11049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267200" y="3062351"/>
            <a:ext cx="152400" cy="17145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80999" y="4116730"/>
            <a:ext cx="6839249" cy="2349384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9600" y="4383429"/>
            <a:ext cx="228600" cy="2286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09600" y="5147795"/>
            <a:ext cx="1946988" cy="4572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380232" y="5300195"/>
            <a:ext cx="133350" cy="152400"/>
          </a:xfrm>
          <a:prstGeom prst="rect">
            <a:avLst/>
          </a:prstGeom>
        </p:spPr>
      </p:pic>
      <p:sp>
        <p:nvSpPr>
          <p:cNvPr id="29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3000"/>
              </a:lnSpc>
            </a:pPr>
            <a:r>
              <a:rPr lang="ko-KR" altLang="en-US" sz="2250" b="1" dirty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커넥션 생성 </a:t>
            </a:r>
            <a:r>
              <a:rPr lang="en-US" altLang="ko-KR" sz="2250" b="1" dirty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- </a:t>
            </a:r>
            <a:r>
              <a:rPr lang="en-US" sz="2250" b="1" dirty="0" err="1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최종</a:t>
            </a:r>
            <a:r>
              <a:rPr lang="en-US" sz="2250" b="1" dirty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설정 확인 및 </a:t>
            </a:r>
            <a:r>
              <a:rPr lang="en-US" sz="2250" b="1" dirty="0" err="1" smtClean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완료</a:t>
            </a:r>
            <a:endParaRPr lang="en-US" sz="2250" b="1" dirty="0">
              <a:solidFill>
                <a:srgbClr val="000000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</p:txBody>
      </p:sp>
      <p:sp>
        <p:nvSpPr>
          <p:cNvPr id="34" name="Text 5"/>
          <p:cNvSpPr/>
          <p:nvPr/>
        </p:nvSpPr>
        <p:spPr>
          <a:xfrm>
            <a:off x="628650" y="1147825"/>
            <a:ext cx="6591598" cy="3333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설정 요약</a:t>
            </a:r>
            <a:endParaRPr lang="en-US" sz="1800" dirty="0"/>
          </a:p>
        </p:txBody>
      </p:sp>
      <p:sp>
        <p:nvSpPr>
          <p:cNvPr id="35" name="Text 6"/>
          <p:cNvSpPr/>
          <p:nvPr/>
        </p:nvSpPr>
        <p:spPr>
          <a:xfrm>
            <a:off x="781050" y="1757426"/>
            <a:ext cx="3276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동기화 주기</a:t>
            </a:r>
            <a:endParaRPr lang="en-US" sz="13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6" name="Text 7"/>
          <p:cNvSpPr/>
          <p:nvPr/>
        </p:nvSpPr>
        <p:spPr>
          <a:xfrm>
            <a:off x="571500" y="2100326"/>
            <a:ext cx="32385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정기: 1시간마다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7" name="Text 8"/>
          <p:cNvSpPr/>
          <p:nvPr/>
        </p:nvSpPr>
        <p:spPr>
          <a:xfrm>
            <a:off x="571500" y="2328926"/>
            <a:ext cx="38862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마지막 수정: 2025-12-09 14:30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8" name="Text 9"/>
          <p:cNvSpPr/>
          <p:nvPr/>
        </p:nvSpPr>
        <p:spPr>
          <a:xfrm>
            <a:off x="4514850" y="1757426"/>
            <a:ext cx="3276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동기화 방식</a:t>
            </a:r>
            <a:endParaRPr lang="en-US" sz="13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9" name="Text 10"/>
          <p:cNvSpPr/>
          <p:nvPr/>
        </p:nvSpPr>
        <p:spPr>
          <a:xfrm>
            <a:off x="4305300" y="2100326"/>
            <a:ext cx="272992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전체 동기화 (Full Load)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1" name="Text 12"/>
          <p:cNvSpPr/>
          <p:nvPr/>
        </p:nvSpPr>
        <p:spPr>
          <a:xfrm>
            <a:off x="781050" y="3014726"/>
            <a:ext cx="3276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소스 데이터 선택</a:t>
            </a:r>
            <a:endParaRPr lang="en-US" sz="13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2" name="Text 13"/>
          <p:cNvSpPr/>
          <p:nvPr/>
        </p:nvSpPr>
        <p:spPr>
          <a:xfrm>
            <a:off x="571500" y="3357626"/>
            <a:ext cx="32385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RDB: MySQL 운영DB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3" name="Text 14"/>
          <p:cNvSpPr/>
          <p:nvPr/>
        </p:nvSpPr>
        <p:spPr>
          <a:xfrm>
            <a:off x="571500" y="3586226"/>
            <a:ext cx="32385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테이블: user, order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4" name="Text 15"/>
          <p:cNvSpPr/>
          <p:nvPr/>
        </p:nvSpPr>
        <p:spPr>
          <a:xfrm>
            <a:off x="4495800" y="3014726"/>
            <a:ext cx="3276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MongoDB 저장 방식</a:t>
            </a:r>
            <a:endParaRPr lang="en-US" sz="13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5" name="Text 16"/>
          <p:cNvSpPr/>
          <p:nvPr/>
        </p:nvSpPr>
        <p:spPr>
          <a:xfrm>
            <a:off x="4305300" y="3357626"/>
            <a:ext cx="272992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컬렉션 매핑: </a:t>
            </a:r>
            <a:r>
              <a:rPr lang="en-US" sz="1200" dirty="0" err="1" smtClean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user_orders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6" name="Text 17"/>
          <p:cNvSpPr/>
          <p:nvPr/>
        </p:nvSpPr>
        <p:spPr>
          <a:xfrm>
            <a:off x="4305300" y="3586226"/>
            <a:ext cx="272992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데이터 변환 규칙: 필드 매핑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7" name="Text 18"/>
          <p:cNvSpPr/>
          <p:nvPr/>
        </p:nvSpPr>
        <p:spPr>
          <a:xfrm>
            <a:off x="914400" y="4345329"/>
            <a:ext cx="33528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설정 완료</a:t>
            </a:r>
            <a:endParaRPr lang="en-US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8" name="Text 19"/>
          <p:cNvSpPr/>
          <p:nvPr/>
        </p:nvSpPr>
        <p:spPr>
          <a:xfrm>
            <a:off x="609600" y="4802529"/>
            <a:ext cx="40233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모든 설정이 올바른지 확인하셨나요?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2" name="Text 23"/>
          <p:cNvSpPr/>
          <p:nvPr/>
        </p:nvSpPr>
        <p:spPr>
          <a:xfrm>
            <a:off x="1559302" y="5262095"/>
            <a:ext cx="3657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저장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55" name="Image 5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687122" y="1605027"/>
            <a:ext cx="2430464" cy="3426102"/>
          </a:xfrm>
          <a:prstGeom prst="rect">
            <a:avLst/>
          </a:prstGeom>
        </p:spPr>
      </p:pic>
      <p:sp>
        <p:nvSpPr>
          <p:cNvPr id="56" name="Text 46"/>
          <p:cNvSpPr/>
          <p:nvPr/>
        </p:nvSpPr>
        <p:spPr>
          <a:xfrm>
            <a:off x="9687122" y="1043775"/>
            <a:ext cx="2334241" cy="1979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 smtClean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UI </a:t>
            </a:r>
            <a:r>
              <a:rPr lang="ko-KR" altLang="en-US" sz="1350" b="1" dirty="0" smtClean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설명</a:t>
            </a:r>
            <a:r>
              <a:rPr lang="en-US" sz="1350" b="1" dirty="0" smtClean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en-US" sz="1350" b="1" dirty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영역</a:t>
            </a:r>
            <a:endParaRPr lang="en-US" sz="1350" dirty="0"/>
          </a:p>
        </p:txBody>
      </p:sp>
      <p:sp>
        <p:nvSpPr>
          <p:cNvPr id="57" name="Text 20"/>
          <p:cNvSpPr/>
          <p:nvPr/>
        </p:nvSpPr>
        <p:spPr>
          <a:xfrm>
            <a:off x="9768173" y="1679510"/>
            <a:ext cx="2293723" cy="369114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200"/>
              </a:lnSpc>
            </a:pPr>
            <a:r>
              <a:rPr 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1.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단계 별로 설정한 내용을 요약하여 보여줌</a:t>
            </a:r>
            <a:endParaRPr lang="en-US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endParaRPr lang="en-US" sz="1000" dirty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r>
              <a:rPr 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2.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최종 설정을 확인하고 저장 버튼을 클릭하면 커넥션이 생성됨</a:t>
            </a:r>
            <a:endParaRPr lang="ko-KR" altLang="en-US" sz="1000" dirty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endParaRPr lang="en-US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3. </a:t>
            </a:r>
            <a:r>
              <a:rPr lang="ko-KR" altLang="en-US" sz="10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최종 설정을 확인하고 저장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및 실행 버튼을 </a:t>
            </a:r>
            <a:r>
              <a:rPr lang="ko-KR" altLang="en-US" sz="10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클릭하면 커넥션이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생성된 후 동기화가 바로 실행됨</a:t>
            </a:r>
            <a:endParaRPr lang="en-US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4D9049EB-70D8-4995-9DBA-68C2EE93E2F4}"/>
              </a:ext>
            </a:extLst>
          </p:cNvPr>
          <p:cNvSpPr/>
          <p:nvPr/>
        </p:nvSpPr>
        <p:spPr>
          <a:xfrm>
            <a:off x="1540706" y="5065274"/>
            <a:ext cx="183750" cy="178979"/>
          </a:xfrm>
          <a:prstGeom prst="ellipse">
            <a:avLst/>
          </a:prstGeom>
          <a:solidFill>
            <a:srgbClr val="FF0000"/>
          </a:solidFill>
          <a:ln w="15875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endParaRPr lang="ko-KR" altLang="en-US" sz="10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40" name="Image 23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637638" y="5160824"/>
            <a:ext cx="1878377" cy="457200"/>
          </a:xfrm>
          <a:prstGeom prst="rect">
            <a:avLst/>
          </a:prstGeom>
        </p:spPr>
      </p:pic>
      <p:pic>
        <p:nvPicPr>
          <p:cNvPr id="49" name="Image 24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135740" y="5313224"/>
            <a:ext cx="152400" cy="152400"/>
          </a:xfrm>
          <a:prstGeom prst="rect">
            <a:avLst/>
          </a:prstGeom>
        </p:spPr>
      </p:pic>
      <p:sp>
        <p:nvSpPr>
          <p:cNvPr id="50" name="Text 22"/>
          <p:cNvSpPr/>
          <p:nvPr/>
        </p:nvSpPr>
        <p:spPr>
          <a:xfrm>
            <a:off x="3278451" y="5275124"/>
            <a:ext cx="103066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저장 및 실행</a:t>
            </a:r>
            <a:endParaRPr lang="en-US" sz="1200" dirty="0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4D9049EB-70D8-4995-9DBA-68C2EE93E2F4}"/>
              </a:ext>
            </a:extLst>
          </p:cNvPr>
          <p:cNvSpPr/>
          <p:nvPr/>
        </p:nvSpPr>
        <p:spPr>
          <a:xfrm>
            <a:off x="636946" y="990600"/>
            <a:ext cx="183750" cy="178979"/>
          </a:xfrm>
          <a:prstGeom prst="ellipse">
            <a:avLst/>
          </a:prstGeom>
          <a:solidFill>
            <a:srgbClr val="FF0000"/>
          </a:solidFill>
          <a:ln w="15875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sz="10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4D9049EB-70D8-4995-9DBA-68C2EE93E2F4}"/>
              </a:ext>
            </a:extLst>
          </p:cNvPr>
          <p:cNvSpPr/>
          <p:nvPr/>
        </p:nvSpPr>
        <p:spPr>
          <a:xfrm>
            <a:off x="3641148" y="5064520"/>
            <a:ext cx="183750" cy="178979"/>
          </a:xfrm>
          <a:prstGeom prst="ellipse">
            <a:avLst/>
          </a:prstGeom>
          <a:solidFill>
            <a:srgbClr val="FF0000"/>
          </a:solidFill>
          <a:ln w="15875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endParaRPr lang="ko-KR" altLang="en-US" sz="10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445316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800100"/>
            <a:ext cx="762000" cy="38100"/>
          </a:xfrm>
          <a:prstGeom prst="rect">
            <a:avLst/>
          </a:prstGeom>
        </p:spPr>
      </p:pic>
      <p:sp>
        <p:nvSpPr>
          <p:cNvPr id="46" name="Text 0"/>
          <p:cNvSpPr/>
          <p:nvPr/>
        </p:nvSpPr>
        <p:spPr>
          <a:xfrm>
            <a:off x="381000" y="381000"/>
            <a:ext cx="114300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700"/>
              </a:lnSpc>
            </a:pPr>
            <a:r>
              <a:rPr lang="ko-KR" altLang="en-US" sz="2250" b="1" dirty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커넥션 상세 정보</a:t>
            </a:r>
          </a:p>
        </p:txBody>
      </p:sp>
      <p:pic>
        <p:nvPicPr>
          <p:cNvPr id="67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999" y="942850"/>
            <a:ext cx="9135831" cy="1104900"/>
          </a:xfrm>
          <a:prstGeom prst="rect">
            <a:avLst/>
          </a:prstGeom>
        </p:spPr>
      </p:pic>
      <p:pic>
        <p:nvPicPr>
          <p:cNvPr id="68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032555"/>
            <a:ext cx="609600" cy="609600"/>
          </a:xfrm>
          <a:prstGeom prst="rect">
            <a:avLst/>
          </a:prstGeom>
        </p:spPr>
      </p:pic>
      <p:pic>
        <p:nvPicPr>
          <p:cNvPr id="69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0575" y="1165905"/>
            <a:ext cx="247650" cy="342900"/>
          </a:xfrm>
          <a:prstGeom prst="rect">
            <a:avLst/>
          </a:prstGeom>
        </p:spPr>
      </p:pic>
      <p:pic>
        <p:nvPicPr>
          <p:cNvPr id="70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80842" y="1051605"/>
            <a:ext cx="686544" cy="266700"/>
          </a:xfrm>
          <a:prstGeom prst="rect">
            <a:avLst/>
          </a:prstGeom>
        </p:spPr>
      </p:pic>
      <p:pic>
        <p:nvPicPr>
          <p:cNvPr id="71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47800" y="1746930"/>
            <a:ext cx="114300" cy="133350"/>
          </a:xfrm>
          <a:prstGeom prst="rect">
            <a:avLst/>
          </a:prstGeom>
        </p:spPr>
      </p:pic>
      <p:pic>
        <p:nvPicPr>
          <p:cNvPr id="72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91160" y="1746930"/>
            <a:ext cx="133350" cy="133350"/>
          </a:xfrm>
          <a:prstGeom prst="rect">
            <a:avLst/>
          </a:prstGeom>
        </p:spPr>
      </p:pic>
      <p:pic>
        <p:nvPicPr>
          <p:cNvPr id="73" name="Image 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89377" y="1746930"/>
            <a:ext cx="114300" cy="133350"/>
          </a:xfrm>
          <a:prstGeom prst="rect">
            <a:avLst/>
          </a:prstGeom>
        </p:spPr>
      </p:pic>
      <p:sp>
        <p:nvSpPr>
          <p:cNvPr id="75" name="Text 5"/>
          <p:cNvSpPr/>
          <p:nvPr/>
        </p:nvSpPr>
        <p:spPr>
          <a:xfrm>
            <a:off x="3995142" y="1051605"/>
            <a:ext cx="82385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1E40A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MySQL</a:t>
            </a:r>
            <a:endParaRPr 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80" name="Image 1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1000" y="1995650"/>
            <a:ext cx="8971344" cy="457200"/>
          </a:xfrm>
          <a:prstGeom prst="rect">
            <a:avLst/>
          </a:prstGeom>
        </p:spPr>
      </p:pic>
      <p:pic>
        <p:nvPicPr>
          <p:cNvPr id="81" name="Image 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81000" y="1995650"/>
            <a:ext cx="1039118" cy="457200"/>
          </a:xfrm>
          <a:prstGeom prst="rect">
            <a:avLst/>
          </a:prstGeom>
        </p:spPr>
      </p:pic>
      <p:pic>
        <p:nvPicPr>
          <p:cNvPr id="82" name="Image 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9600" y="2138525"/>
            <a:ext cx="152400" cy="152400"/>
          </a:xfrm>
          <a:prstGeom prst="rect">
            <a:avLst/>
          </a:prstGeom>
        </p:spPr>
      </p:pic>
      <p:pic>
        <p:nvPicPr>
          <p:cNvPr id="83" name="Image 18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420118" y="1995650"/>
            <a:ext cx="1077218" cy="457200"/>
          </a:xfrm>
          <a:prstGeom prst="rect">
            <a:avLst/>
          </a:prstGeom>
        </p:spPr>
      </p:pic>
      <p:pic>
        <p:nvPicPr>
          <p:cNvPr id="84" name="Image 19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648718" y="2138525"/>
            <a:ext cx="190500" cy="152400"/>
          </a:xfrm>
          <a:prstGeom prst="rect">
            <a:avLst/>
          </a:prstGeom>
        </p:spPr>
      </p:pic>
      <p:pic>
        <p:nvPicPr>
          <p:cNvPr id="85" name="Image 20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497336" y="1995650"/>
            <a:ext cx="1039118" cy="457200"/>
          </a:xfrm>
          <a:prstGeom prst="rect">
            <a:avLst/>
          </a:prstGeom>
        </p:spPr>
      </p:pic>
      <p:pic>
        <p:nvPicPr>
          <p:cNvPr id="86" name="Image 21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725936" y="2138525"/>
            <a:ext cx="152400" cy="152400"/>
          </a:xfrm>
          <a:prstGeom prst="rect">
            <a:avLst/>
          </a:prstGeom>
        </p:spPr>
      </p:pic>
      <p:pic>
        <p:nvPicPr>
          <p:cNvPr id="87" name="Image 22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536454" y="1995650"/>
            <a:ext cx="1343918" cy="457200"/>
          </a:xfrm>
          <a:prstGeom prst="rect">
            <a:avLst/>
          </a:prstGeom>
        </p:spPr>
      </p:pic>
      <p:pic>
        <p:nvPicPr>
          <p:cNvPr id="88" name="Image 23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765054" y="2138525"/>
            <a:ext cx="152400" cy="152400"/>
          </a:xfrm>
          <a:prstGeom prst="rect">
            <a:avLst/>
          </a:prstGeom>
        </p:spPr>
      </p:pic>
      <p:pic>
        <p:nvPicPr>
          <p:cNvPr id="89" name="Image 24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880372" y="1995650"/>
            <a:ext cx="1001018" cy="457200"/>
          </a:xfrm>
          <a:prstGeom prst="rect">
            <a:avLst/>
          </a:prstGeom>
        </p:spPr>
      </p:pic>
      <p:pic>
        <p:nvPicPr>
          <p:cNvPr id="90" name="Image 25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108972" y="2138525"/>
            <a:ext cx="114300" cy="152400"/>
          </a:xfrm>
          <a:prstGeom prst="rect">
            <a:avLst/>
          </a:prstGeom>
        </p:spPr>
      </p:pic>
      <p:pic>
        <p:nvPicPr>
          <p:cNvPr id="91" name="Image 26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81000" y="2635150"/>
            <a:ext cx="4619263" cy="2417636"/>
          </a:xfrm>
          <a:prstGeom prst="rect">
            <a:avLst/>
          </a:prstGeom>
        </p:spPr>
      </p:pic>
      <p:pic>
        <p:nvPicPr>
          <p:cNvPr id="92" name="Image 27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71500" y="2854225"/>
            <a:ext cx="133350" cy="171450"/>
          </a:xfrm>
          <a:prstGeom prst="rect">
            <a:avLst/>
          </a:prstGeom>
        </p:spPr>
      </p:pic>
      <p:pic>
        <p:nvPicPr>
          <p:cNvPr id="93" name="Image 28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71500" y="3206650"/>
            <a:ext cx="3118919" cy="381000"/>
          </a:xfrm>
          <a:prstGeom prst="rect">
            <a:avLst/>
          </a:prstGeom>
        </p:spPr>
      </p:pic>
      <p:pic>
        <p:nvPicPr>
          <p:cNvPr id="94" name="Image 29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71500" y="3587650"/>
            <a:ext cx="5219700" cy="381000"/>
          </a:xfrm>
          <a:prstGeom prst="rect">
            <a:avLst/>
          </a:prstGeom>
        </p:spPr>
      </p:pic>
      <p:pic>
        <p:nvPicPr>
          <p:cNvPr id="95" name="Image 30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71500" y="3968650"/>
            <a:ext cx="3118919" cy="381000"/>
          </a:xfrm>
          <a:prstGeom prst="rect">
            <a:avLst/>
          </a:prstGeom>
        </p:spPr>
      </p:pic>
      <p:pic>
        <p:nvPicPr>
          <p:cNvPr id="96" name="Image 31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71500" y="4349650"/>
            <a:ext cx="3118919" cy="381000"/>
          </a:xfrm>
          <a:prstGeom prst="rect">
            <a:avLst/>
          </a:prstGeom>
        </p:spPr>
      </p:pic>
      <p:pic>
        <p:nvPicPr>
          <p:cNvPr id="98" name="Image 33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099133" y="2635150"/>
            <a:ext cx="4476193" cy="2417636"/>
          </a:xfrm>
          <a:prstGeom prst="rect">
            <a:avLst/>
          </a:prstGeom>
        </p:spPr>
      </p:pic>
      <p:pic>
        <p:nvPicPr>
          <p:cNvPr id="99" name="Image 34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289633" y="2854225"/>
            <a:ext cx="152400" cy="171450"/>
          </a:xfrm>
          <a:prstGeom prst="rect">
            <a:avLst/>
          </a:prstGeom>
        </p:spPr>
      </p:pic>
      <p:pic>
        <p:nvPicPr>
          <p:cNvPr id="100" name="Image 35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289633" y="3206650"/>
            <a:ext cx="3923817" cy="381000"/>
          </a:xfrm>
          <a:prstGeom prst="rect">
            <a:avLst/>
          </a:prstGeom>
        </p:spPr>
      </p:pic>
      <p:pic>
        <p:nvPicPr>
          <p:cNvPr id="101" name="Image 36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289633" y="3587650"/>
            <a:ext cx="5219700" cy="381000"/>
          </a:xfrm>
          <a:prstGeom prst="rect">
            <a:avLst/>
          </a:prstGeom>
        </p:spPr>
      </p:pic>
      <p:pic>
        <p:nvPicPr>
          <p:cNvPr id="102" name="Image 37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289633" y="3968650"/>
            <a:ext cx="5219700" cy="381000"/>
          </a:xfrm>
          <a:prstGeom prst="rect">
            <a:avLst/>
          </a:prstGeom>
        </p:spPr>
      </p:pic>
      <p:pic>
        <p:nvPicPr>
          <p:cNvPr id="103" name="Image 38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289633" y="4349650"/>
            <a:ext cx="5219700" cy="381000"/>
          </a:xfrm>
          <a:prstGeom prst="rect">
            <a:avLst/>
          </a:prstGeom>
        </p:spPr>
      </p:pic>
      <p:pic>
        <p:nvPicPr>
          <p:cNvPr id="105" name="Image 40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81000" y="5102484"/>
            <a:ext cx="9194326" cy="1696673"/>
          </a:xfrm>
          <a:prstGeom prst="rect">
            <a:avLst/>
          </a:prstGeom>
        </p:spPr>
      </p:pic>
      <p:pic>
        <p:nvPicPr>
          <p:cNvPr id="106" name="Image 41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71500" y="5194236"/>
            <a:ext cx="171450" cy="171450"/>
          </a:xfrm>
          <a:prstGeom prst="rect">
            <a:avLst/>
          </a:prstGeom>
        </p:spPr>
      </p:pic>
      <p:pic>
        <p:nvPicPr>
          <p:cNvPr id="107" name="Image 42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71500" y="5407761"/>
            <a:ext cx="3193554" cy="626946"/>
          </a:xfrm>
          <a:prstGeom prst="rect">
            <a:avLst/>
          </a:prstGeom>
        </p:spPr>
      </p:pic>
      <p:pic>
        <p:nvPicPr>
          <p:cNvPr id="109" name="Image 44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3934907" y="5407761"/>
            <a:ext cx="2849880" cy="626946"/>
          </a:xfrm>
          <a:prstGeom prst="rect">
            <a:avLst/>
          </a:prstGeom>
        </p:spPr>
      </p:pic>
      <p:pic>
        <p:nvPicPr>
          <p:cNvPr id="111" name="Image 46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882116" y="5406836"/>
            <a:ext cx="2331816" cy="626946"/>
          </a:xfrm>
          <a:prstGeom prst="rect">
            <a:avLst/>
          </a:prstGeom>
        </p:spPr>
      </p:pic>
      <p:pic>
        <p:nvPicPr>
          <p:cNvPr id="113" name="Image 48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71500" y="6086324"/>
            <a:ext cx="3193554" cy="599942"/>
          </a:xfrm>
          <a:prstGeom prst="rect">
            <a:avLst/>
          </a:prstGeom>
        </p:spPr>
      </p:pic>
      <p:pic>
        <p:nvPicPr>
          <p:cNvPr id="115" name="Image 50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3934907" y="6086324"/>
            <a:ext cx="2849880" cy="599942"/>
          </a:xfrm>
          <a:prstGeom prst="rect">
            <a:avLst/>
          </a:prstGeom>
        </p:spPr>
      </p:pic>
      <p:pic>
        <p:nvPicPr>
          <p:cNvPr id="117" name="Image 52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881634" y="6086324"/>
            <a:ext cx="2331816" cy="599942"/>
          </a:xfrm>
          <a:prstGeom prst="rect">
            <a:avLst/>
          </a:prstGeom>
        </p:spPr>
      </p:pic>
      <p:sp>
        <p:nvSpPr>
          <p:cNvPr id="119" name="Text 10"/>
          <p:cNvSpPr/>
          <p:nvPr/>
        </p:nvSpPr>
        <p:spPr>
          <a:xfrm>
            <a:off x="802868" y="2129000"/>
            <a:ext cx="423982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2563E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 개요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0" name="Text 11"/>
          <p:cNvSpPr/>
          <p:nvPr/>
        </p:nvSpPr>
        <p:spPr>
          <a:xfrm>
            <a:off x="1880086" y="2129000"/>
            <a:ext cx="423982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 설정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1" name="Text 12"/>
          <p:cNvSpPr/>
          <p:nvPr/>
        </p:nvSpPr>
        <p:spPr>
          <a:xfrm>
            <a:off x="2919204" y="2129000"/>
            <a:ext cx="423982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 이력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2" name="Text 13"/>
          <p:cNvSpPr/>
          <p:nvPr/>
        </p:nvSpPr>
        <p:spPr>
          <a:xfrm>
            <a:off x="3927842" y="2129000"/>
            <a:ext cx="789742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 모니터링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3" name="Text 14"/>
          <p:cNvSpPr/>
          <p:nvPr/>
        </p:nvSpPr>
        <p:spPr>
          <a:xfrm>
            <a:off x="5264140" y="2129000"/>
            <a:ext cx="423982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 로그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4" name="Text 15"/>
          <p:cNvSpPr/>
          <p:nvPr/>
        </p:nvSpPr>
        <p:spPr>
          <a:xfrm>
            <a:off x="781050" y="2825650"/>
            <a:ext cx="52197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 소스 정보</a:t>
            </a:r>
            <a:endParaRPr lang="en-US" sz="13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5" name="Text 16"/>
          <p:cNvSpPr/>
          <p:nvPr/>
        </p:nvSpPr>
        <p:spPr>
          <a:xfrm>
            <a:off x="581025" y="3206650"/>
            <a:ext cx="1902768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유형: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6" name="Text 17"/>
          <p:cNvSpPr/>
          <p:nvPr/>
        </p:nvSpPr>
        <p:spPr>
          <a:xfrm>
            <a:off x="2483793" y="3206650"/>
            <a:ext cx="3316932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MySQL Database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7" name="Text 18"/>
          <p:cNvSpPr/>
          <p:nvPr/>
        </p:nvSpPr>
        <p:spPr>
          <a:xfrm>
            <a:off x="581025" y="3587650"/>
            <a:ext cx="1902768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호스트: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8" name="Text 19"/>
          <p:cNvSpPr/>
          <p:nvPr/>
        </p:nvSpPr>
        <p:spPr>
          <a:xfrm>
            <a:off x="2483794" y="3587650"/>
            <a:ext cx="2378354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 smtClean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mysql.sample.com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9" name="Text 20"/>
          <p:cNvSpPr/>
          <p:nvPr/>
        </p:nvSpPr>
        <p:spPr>
          <a:xfrm>
            <a:off x="581025" y="3968650"/>
            <a:ext cx="1902768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포트: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0" name="Text 21"/>
          <p:cNvSpPr/>
          <p:nvPr/>
        </p:nvSpPr>
        <p:spPr>
          <a:xfrm>
            <a:off x="2483793" y="3968650"/>
            <a:ext cx="3316932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3306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1" name="Text 22"/>
          <p:cNvSpPr/>
          <p:nvPr/>
        </p:nvSpPr>
        <p:spPr>
          <a:xfrm>
            <a:off x="581025" y="4349650"/>
            <a:ext cx="1902768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데이터베이스: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2" name="Text 23"/>
          <p:cNvSpPr/>
          <p:nvPr/>
        </p:nvSpPr>
        <p:spPr>
          <a:xfrm>
            <a:off x="2483793" y="4349650"/>
            <a:ext cx="3316932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 smtClean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customer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3" name="Text 24"/>
          <p:cNvSpPr/>
          <p:nvPr/>
        </p:nvSpPr>
        <p:spPr>
          <a:xfrm>
            <a:off x="581025" y="4730650"/>
            <a:ext cx="1902768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인증: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4" name="Text 25"/>
          <p:cNvSpPr/>
          <p:nvPr/>
        </p:nvSpPr>
        <p:spPr>
          <a:xfrm>
            <a:off x="2483793" y="4730650"/>
            <a:ext cx="1981961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계정 연결됨 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5" name="Text 26"/>
          <p:cNvSpPr/>
          <p:nvPr/>
        </p:nvSpPr>
        <p:spPr>
          <a:xfrm>
            <a:off x="5518233" y="2825650"/>
            <a:ext cx="52197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대상 정보</a:t>
            </a:r>
            <a:endParaRPr lang="en-US" sz="1350" dirty="0"/>
          </a:p>
        </p:txBody>
      </p:sp>
      <p:sp>
        <p:nvSpPr>
          <p:cNvPr id="136" name="Text 27"/>
          <p:cNvSpPr/>
          <p:nvPr/>
        </p:nvSpPr>
        <p:spPr>
          <a:xfrm>
            <a:off x="5299158" y="3206650"/>
            <a:ext cx="1574006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유형: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7" name="Text 28"/>
          <p:cNvSpPr/>
          <p:nvPr/>
        </p:nvSpPr>
        <p:spPr>
          <a:xfrm>
            <a:off x="6873164" y="3206650"/>
            <a:ext cx="3645694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MongoDB</a:t>
            </a:r>
            <a:endParaRPr lang="en-US" sz="1200" dirty="0"/>
          </a:p>
        </p:txBody>
      </p:sp>
      <p:sp>
        <p:nvSpPr>
          <p:cNvPr id="138" name="Text 29"/>
          <p:cNvSpPr/>
          <p:nvPr/>
        </p:nvSpPr>
        <p:spPr>
          <a:xfrm>
            <a:off x="5299158" y="3587650"/>
            <a:ext cx="1574006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호스트: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9" name="Text 30"/>
          <p:cNvSpPr/>
          <p:nvPr/>
        </p:nvSpPr>
        <p:spPr>
          <a:xfrm>
            <a:off x="6873165" y="3587650"/>
            <a:ext cx="251314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 smtClean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mongodb.sample.com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0" name="Text 31"/>
          <p:cNvSpPr/>
          <p:nvPr/>
        </p:nvSpPr>
        <p:spPr>
          <a:xfrm>
            <a:off x="5299158" y="3968650"/>
            <a:ext cx="1574006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데이터베이스: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1" name="Text 32"/>
          <p:cNvSpPr/>
          <p:nvPr/>
        </p:nvSpPr>
        <p:spPr>
          <a:xfrm>
            <a:off x="6873164" y="3968650"/>
            <a:ext cx="2155089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 smtClean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customer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2" name="Text 33"/>
          <p:cNvSpPr/>
          <p:nvPr/>
        </p:nvSpPr>
        <p:spPr>
          <a:xfrm>
            <a:off x="5299158" y="4349650"/>
            <a:ext cx="1574006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컬렉션: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3" name="Text 34"/>
          <p:cNvSpPr/>
          <p:nvPr/>
        </p:nvSpPr>
        <p:spPr>
          <a:xfrm>
            <a:off x="6873164" y="4349650"/>
            <a:ext cx="2340286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 err="1" smtClean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customer_data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4" name="Text 35"/>
          <p:cNvSpPr/>
          <p:nvPr/>
        </p:nvSpPr>
        <p:spPr>
          <a:xfrm>
            <a:off x="5299158" y="4730650"/>
            <a:ext cx="1574006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인증: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5" name="Text 36"/>
          <p:cNvSpPr/>
          <p:nvPr/>
        </p:nvSpPr>
        <p:spPr>
          <a:xfrm>
            <a:off x="6873164" y="4730650"/>
            <a:ext cx="247918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계정 연결됨 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6" name="Text 37"/>
          <p:cNvSpPr/>
          <p:nvPr/>
        </p:nvSpPr>
        <p:spPr>
          <a:xfrm>
            <a:off x="819150" y="5165661"/>
            <a:ext cx="5644962" cy="25994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 동기화 설정</a:t>
            </a:r>
            <a:endParaRPr lang="en-US" sz="13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7" name="Text 38"/>
          <p:cNvSpPr/>
          <p:nvPr/>
        </p:nvSpPr>
        <p:spPr>
          <a:xfrm>
            <a:off x="723900" y="5467561"/>
            <a:ext cx="32766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동기화 주기</a:t>
            </a:r>
            <a:endParaRPr 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8" name="Text 39"/>
          <p:cNvSpPr/>
          <p:nvPr/>
        </p:nvSpPr>
        <p:spPr>
          <a:xfrm>
            <a:off x="756559" y="5696161"/>
            <a:ext cx="3276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정기 (1시간 간격)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9" name="Text 40"/>
          <p:cNvSpPr/>
          <p:nvPr/>
        </p:nvSpPr>
        <p:spPr>
          <a:xfrm>
            <a:off x="4087307" y="5467561"/>
            <a:ext cx="32766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동기화 방식</a:t>
            </a:r>
            <a:endParaRPr 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0" name="Text 41"/>
          <p:cNvSpPr/>
          <p:nvPr/>
        </p:nvSpPr>
        <p:spPr>
          <a:xfrm>
            <a:off x="4119966" y="5696161"/>
            <a:ext cx="3276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증분 동기화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1" name="Text 42"/>
          <p:cNvSpPr/>
          <p:nvPr/>
        </p:nvSpPr>
        <p:spPr>
          <a:xfrm>
            <a:off x="7034034" y="5444409"/>
            <a:ext cx="1809024" cy="20448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마지막 동기화 상태</a:t>
            </a:r>
            <a:endParaRPr 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2" name="Text 43"/>
          <p:cNvSpPr/>
          <p:nvPr/>
        </p:nvSpPr>
        <p:spPr>
          <a:xfrm>
            <a:off x="7054151" y="5661460"/>
            <a:ext cx="1037381" cy="21022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성공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3" name="Text 44"/>
          <p:cNvSpPr/>
          <p:nvPr/>
        </p:nvSpPr>
        <p:spPr>
          <a:xfrm>
            <a:off x="723900" y="6173620"/>
            <a:ext cx="32766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소스 데이터</a:t>
            </a:r>
            <a:endParaRPr 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4" name="Text 45"/>
          <p:cNvSpPr/>
          <p:nvPr/>
        </p:nvSpPr>
        <p:spPr>
          <a:xfrm>
            <a:off x="756559" y="6402220"/>
            <a:ext cx="39319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customers, orders (2 테이블)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5" name="Text 46"/>
          <p:cNvSpPr/>
          <p:nvPr/>
        </p:nvSpPr>
        <p:spPr>
          <a:xfrm>
            <a:off x="4087307" y="6173620"/>
            <a:ext cx="32766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매핑된 필드</a:t>
            </a:r>
            <a:endParaRPr 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6" name="Text 47"/>
          <p:cNvSpPr/>
          <p:nvPr/>
        </p:nvSpPr>
        <p:spPr>
          <a:xfrm>
            <a:off x="4119966" y="6402220"/>
            <a:ext cx="3276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14 필드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7" name="Text 48"/>
          <p:cNvSpPr/>
          <p:nvPr/>
        </p:nvSpPr>
        <p:spPr>
          <a:xfrm>
            <a:off x="6979233" y="6193388"/>
            <a:ext cx="1994219" cy="18759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변환 규칙</a:t>
            </a:r>
            <a:endParaRPr 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8" name="Text 49"/>
          <p:cNvSpPr/>
          <p:nvPr/>
        </p:nvSpPr>
        <p:spPr>
          <a:xfrm>
            <a:off x="7066693" y="6408951"/>
            <a:ext cx="1765619" cy="22380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3 규칙 적용됨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59" name="Image 55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9784876" y="915427"/>
            <a:ext cx="2332710" cy="3263032"/>
          </a:xfrm>
          <a:prstGeom prst="rect">
            <a:avLst/>
          </a:prstGeom>
        </p:spPr>
      </p:pic>
      <p:sp>
        <p:nvSpPr>
          <p:cNvPr id="160" name="Text 46"/>
          <p:cNvSpPr/>
          <p:nvPr/>
        </p:nvSpPr>
        <p:spPr>
          <a:xfrm>
            <a:off x="9756211" y="674541"/>
            <a:ext cx="2861797" cy="18397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 smtClean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UI </a:t>
            </a:r>
            <a:r>
              <a:rPr lang="ko-KR" altLang="en-US" sz="1350" b="1" dirty="0" smtClean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설명</a:t>
            </a:r>
            <a:r>
              <a:rPr lang="en-US" sz="1350" b="1" dirty="0" smtClean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en-US" sz="1350" b="1" dirty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영역</a:t>
            </a:r>
            <a:endParaRPr lang="en-US" sz="1350" dirty="0"/>
          </a:p>
        </p:txBody>
      </p:sp>
      <p:sp>
        <p:nvSpPr>
          <p:cNvPr id="161" name="Text 20"/>
          <p:cNvSpPr/>
          <p:nvPr/>
        </p:nvSpPr>
        <p:spPr>
          <a:xfrm>
            <a:off x="9812312" y="967252"/>
            <a:ext cx="2249583" cy="341955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200"/>
              </a:lnSpc>
            </a:pPr>
            <a:r>
              <a:rPr 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1.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커넥션의 이름 포함한 기본 정보</a:t>
            </a:r>
            <a:endParaRPr lang="en-US" altLang="ko-KR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endParaRPr lang="en-US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r>
              <a:rPr 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2.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통합 대상 소스 정보</a:t>
            </a:r>
            <a:endParaRPr lang="en-US" altLang="ko-KR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endParaRPr lang="en-US" sz="1000" dirty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r>
              <a:rPr 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3.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복제할 대상 정보인 </a:t>
            </a: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MongoDB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정보</a:t>
            </a:r>
            <a:endParaRPr lang="en-US" altLang="ko-KR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endParaRPr lang="en-US" sz="1000" dirty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r>
              <a:rPr 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4.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설정한 동기화 관련된 정보 제공</a:t>
            </a:r>
            <a:endParaRPr lang="en-US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</p:txBody>
      </p:sp>
      <p:sp>
        <p:nvSpPr>
          <p:cNvPr id="162" name="타원 161">
            <a:extLst>
              <a:ext uri="{FF2B5EF4-FFF2-40B4-BE49-F238E27FC236}">
                <a16:creationId xmlns:a16="http://schemas.microsoft.com/office/drawing/2014/main" id="{4D9049EB-70D8-4995-9DBA-68C2EE93E2F4}"/>
              </a:ext>
            </a:extLst>
          </p:cNvPr>
          <p:cNvSpPr/>
          <p:nvPr/>
        </p:nvSpPr>
        <p:spPr>
          <a:xfrm>
            <a:off x="325308" y="1189638"/>
            <a:ext cx="183750" cy="178979"/>
          </a:xfrm>
          <a:prstGeom prst="ellipse">
            <a:avLst/>
          </a:prstGeom>
          <a:solidFill>
            <a:srgbClr val="FF0000"/>
          </a:solidFill>
          <a:ln w="15875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sz="10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3" name="타원 162">
            <a:extLst>
              <a:ext uri="{FF2B5EF4-FFF2-40B4-BE49-F238E27FC236}">
                <a16:creationId xmlns:a16="http://schemas.microsoft.com/office/drawing/2014/main" id="{4D9049EB-70D8-4995-9DBA-68C2EE93E2F4}"/>
              </a:ext>
            </a:extLst>
          </p:cNvPr>
          <p:cNvSpPr/>
          <p:nvPr/>
        </p:nvSpPr>
        <p:spPr>
          <a:xfrm>
            <a:off x="304800" y="2868604"/>
            <a:ext cx="183750" cy="178979"/>
          </a:xfrm>
          <a:prstGeom prst="ellipse">
            <a:avLst/>
          </a:prstGeom>
          <a:solidFill>
            <a:srgbClr val="FF0000"/>
          </a:solidFill>
          <a:ln w="15875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endParaRPr lang="ko-KR" altLang="en-US" sz="10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4" name="타원 163">
            <a:extLst>
              <a:ext uri="{FF2B5EF4-FFF2-40B4-BE49-F238E27FC236}">
                <a16:creationId xmlns:a16="http://schemas.microsoft.com/office/drawing/2014/main" id="{4D9049EB-70D8-4995-9DBA-68C2EE93E2F4}"/>
              </a:ext>
            </a:extLst>
          </p:cNvPr>
          <p:cNvSpPr/>
          <p:nvPr/>
        </p:nvSpPr>
        <p:spPr>
          <a:xfrm>
            <a:off x="5038557" y="2868604"/>
            <a:ext cx="183750" cy="178979"/>
          </a:xfrm>
          <a:prstGeom prst="ellipse">
            <a:avLst/>
          </a:prstGeom>
          <a:solidFill>
            <a:srgbClr val="FF0000"/>
          </a:solidFill>
          <a:ln w="15875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endParaRPr lang="ko-KR" altLang="en-US" sz="10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5" name="타원 164">
            <a:extLst>
              <a:ext uri="{FF2B5EF4-FFF2-40B4-BE49-F238E27FC236}">
                <a16:creationId xmlns:a16="http://schemas.microsoft.com/office/drawing/2014/main" id="{4D9049EB-70D8-4995-9DBA-68C2EE93E2F4}"/>
              </a:ext>
            </a:extLst>
          </p:cNvPr>
          <p:cNvSpPr/>
          <p:nvPr/>
        </p:nvSpPr>
        <p:spPr>
          <a:xfrm>
            <a:off x="318270" y="5206143"/>
            <a:ext cx="183750" cy="178979"/>
          </a:xfrm>
          <a:prstGeom prst="ellipse">
            <a:avLst/>
          </a:prstGeom>
          <a:solidFill>
            <a:srgbClr val="FF0000"/>
          </a:solidFill>
          <a:ln w="15875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endParaRPr lang="ko-KR" altLang="en-US" sz="10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0" name="Text 4"/>
          <p:cNvSpPr/>
          <p:nvPr/>
        </p:nvSpPr>
        <p:spPr>
          <a:xfrm>
            <a:off x="1447800" y="1032555"/>
            <a:ext cx="2782491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MySQL 프로덕션 DB</a:t>
            </a:r>
            <a:endParaRPr lang="en-US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1" name="Text 6"/>
          <p:cNvSpPr/>
          <p:nvPr/>
        </p:nvSpPr>
        <p:spPr>
          <a:xfrm>
            <a:off x="1447800" y="1413555"/>
            <a:ext cx="2317254" cy="2189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1200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ID: </a:t>
            </a:r>
            <a:r>
              <a:rPr lang="en-US" altLang="ko-KR" sz="1200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CONN001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2" name="Text 7"/>
          <p:cNvSpPr/>
          <p:nvPr/>
        </p:nvSpPr>
        <p:spPr>
          <a:xfrm>
            <a:off x="1600200" y="1718355"/>
            <a:ext cx="169771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50" dirty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생성일: </a:t>
            </a:r>
            <a:r>
              <a:rPr lang="en-US" sz="1050" dirty="0" smtClean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2025-12-15</a:t>
            </a:r>
            <a:endParaRPr lang="en-US" sz="1050" dirty="0">
              <a:solidFill>
                <a:srgbClr val="6B72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ui-sans-serif" pitchFamily="34" charset="-120"/>
            </a:endParaRPr>
          </a:p>
        </p:txBody>
      </p:sp>
      <p:sp>
        <p:nvSpPr>
          <p:cNvPr id="173" name="Text 8"/>
          <p:cNvSpPr/>
          <p:nvPr/>
        </p:nvSpPr>
        <p:spPr>
          <a:xfrm>
            <a:off x="3262610" y="1718355"/>
            <a:ext cx="26035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최근 동기화: </a:t>
            </a:r>
            <a:r>
              <a:rPr lang="en-US" sz="1050" dirty="0" smtClean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2025-12-20 </a:t>
            </a:r>
            <a:r>
              <a:rPr lang="en-US" sz="1050" dirty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14:30</a:t>
            </a:r>
            <a:endParaRPr 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4" name="Text 9"/>
          <p:cNvSpPr/>
          <p:nvPr/>
        </p:nvSpPr>
        <p:spPr>
          <a:xfrm>
            <a:off x="5641777" y="1718355"/>
            <a:ext cx="126926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50" dirty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생성자: admin</a:t>
            </a:r>
          </a:p>
        </p:txBody>
      </p:sp>
    </p:spTree>
    <p:extLst>
      <p:ext uri="{BB962C8B-B14F-4D97-AF65-F5344CB8AC3E}">
        <p14:creationId xmlns:p14="http://schemas.microsoft.com/office/powerpoint/2010/main" val="663611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800100"/>
            <a:ext cx="762000" cy="38100"/>
          </a:xfrm>
          <a:prstGeom prst="rect">
            <a:avLst/>
          </a:prstGeom>
        </p:spPr>
      </p:pic>
      <p:sp>
        <p:nvSpPr>
          <p:cNvPr id="46" name="Text 0"/>
          <p:cNvSpPr/>
          <p:nvPr/>
        </p:nvSpPr>
        <p:spPr>
          <a:xfrm>
            <a:off x="381000" y="381000"/>
            <a:ext cx="114300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700"/>
              </a:lnSpc>
            </a:pPr>
            <a:r>
              <a:rPr lang="ko-KR" altLang="en-US" sz="2250" b="1" dirty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커넥션 상세 정보</a:t>
            </a:r>
          </a:p>
        </p:txBody>
      </p:sp>
      <p:pic>
        <p:nvPicPr>
          <p:cNvPr id="67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999" y="942850"/>
            <a:ext cx="9249040" cy="1104900"/>
          </a:xfrm>
          <a:prstGeom prst="rect">
            <a:avLst/>
          </a:prstGeom>
        </p:spPr>
      </p:pic>
      <p:pic>
        <p:nvPicPr>
          <p:cNvPr id="68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032555"/>
            <a:ext cx="609600" cy="609600"/>
          </a:xfrm>
          <a:prstGeom prst="rect">
            <a:avLst/>
          </a:prstGeom>
        </p:spPr>
      </p:pic>
      <p:pic>
        <p:nvPicPr>
          <p:cNvPr id="69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0575" y="1165905"/>
            <a:ext cx="247650" cy="342900"/>
          </a:xfrm>
          <a:prstGeom prst="rect">
            <a:avLst/>
          </a:prstGeom>
        </p:spPr>
      </p:pic>
      <p:pic>
        <p:nvPicPr>
          <p:cNvPr id="70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80842" y="1051605"/>
            <a:ext cx="686544" cy="266700"/>
          </a:xfrm>
          <a:prstGeom prst="rect">
            <a:avLst/>
          </a:prstGeom>
        </p:spPr>
      </p:pic>
      <p:pic>
        <p:nvPicPr>
          <p:cNvPr id="71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47800" y="1746930"/>
            <a:ext cx="114300" cy="133350"/>
          </a:xfrm>
          <a:prstGeom prst="rect">
            <a:avLst/>
          </a:prstGeom>
        </p:spPr>
      </p:pic>
      <p:pic>
        <p:nvPicPr>
          <p:cNvPr id="72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91160" y="1746930"/>
            <a:ext cx="133350" cy="133350"/>
          </a:xfrm>
          <a:prstGeom prst="rect">
            <a:avLst/>
          </a:prstGeom>
        </p:spPr>
      </p:pic>
      <p:pic>
        <p:nvPicPr>
          <p:cNvPr id="73" name="Image 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89377" y="1746930"/>
            <a:ext cx="114300" cy="133350"/>
          </a:xfrm>
          <a:prstGeom prst="rect">
            <a:avLst/>
          </a:prstGeom>
        </p:spPr>
      </p:pic>
      <p:sp>
        <p:nvSpPr>
          <p:cNvPr id="75" name="Text 5"/>
          <p:cNvSpPr/>
          <p:nvPr/>
        </p:nvSpPr>
        <p:spPr>
          <a:xfrm>
            <a:off x="3995142" y="1051605"/>
            <a:ext cx="82385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1E40A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MySQL</a:t>
            </a:r>
            <a:endParaRPr 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80" name="Image 1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1000" y="1995650"/>
            <a:ext cx="8971344" cy="457200"/>
          </a:xfrm>
          <a:prstGeom prst="rect">
            <a:avLst/>
          </a:prstGeom>
        </p:spPr>
      </p:pic>
      <p:pic>
        <p:nvPicPr>
          <p:cNvPr id="83" name="Image 18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20118" y="1995650"/>
            <a:ext cx="1077218" cy="457200"/>
          </a:xfrm>
          <a:prstGeom prst="rect">
            <a:avLst/>
          </a:prstGeom>
        </p:spPr>
      </p:pic>
      <p:pic>
        <p:nvPicPr>
          <p:cNvPr id="85" name="Image 20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497336" y="1995650"/>
            <a:ext cx="1039118" cy="457200"/>
          </a:xfrm>
          <a:prstGeom prst="rect">
            <a:avLst/>
          </a:prstGeom>
        </p:spPr>
      </p:pic>
      <p:pic>
        <p:nvPicPr>
          <p:cNvPr id="86" name="Image 21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725936" y="2138525"/>
            <a:ext cx="152400" cy="152400"/>
          </a:xfrm>
          <a:prstGeom prst="rect">
            <a:avLst/>
          </a:prstGeom>
        </p:spPr>
      </p:pic>
      <p:pic>
        <p:nvPicPr>
          <p:cNvPr id="87" name="Image 22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536454" y="1995650"/>
            <a:ext cx="1343918" cy="457200"/>
          </a:xfrm>
          <a:prstGeom prst="rect">
            <a:avLst/>
          </a:prstGeom>
        </p:spPr>
      </p:pic>
      <p:pic>
        <p:nvPicPr>
          <p:cNvPr id="88" name="Image 23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765054" y="2138525"/>
            <a:ext cx="152400" cy="152400"/>
          </a:xfrm>
          <a:prstGeom prst="rect">
            <a:avLst/>
          </a:prstGeom>
        </p:spPr>
      </p:pic>
      <p:pic>
        <p:nvPicPr>
          <p:cNvPr id="89" name="Image 24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880372" y="1995650"/>
            <a:ext cx="1001018" cy="457200"/>
          </a:xfrm>
          <a:prstGeom prst="rect">
            <a:avLst/>
          </a:prstGeom>
        </p:spPr>
      </p:pic>
      <p:pic>
        <p:nvPicPr>
          <p:cNvPr id="90" name="Image 25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108972" y="2138525"/>
            <a:ext cx="114300" cy="152400"/>
          </a:xfrm>
          <a:prstGeom prst="rect">
            <a:avLst/>
          </a:prstGeom>
        </p:spPr>
      </p:pic>
      <p:sp>
        <p:nvSpPr>
          <p:cNvPr id="121" name="Text 12"/>
          <p:cNvSpPr/>
          <p:nvPr/>
        </p:nvSpPr>
        <p:spPr>
          <a:xfrm>
            <a:off x="2919204" y="2129000"/>
            <a:ext cx="423982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 이력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2" name="Text 13"/>
          <p:cNvSpPr/>
          <p:nvPr/>
        </p:nvSpPr>
        <p:spPr>
          <a:xfrm>
            <a:off x="3927842" y="2129000"/>
            <a:ext cx="789742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 모니터링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3" name="Text 14"/>
          <p:cNvSpPr/>
          <p:nvPr/>
        </p:nvSpPr>
        <p:spPr>
          <a:xfrm>
            <a:off x="5264140" y="2129000"/>
            <a:ext cx="423982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 로그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59" name="Image 55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784876" y="915426"/>
            <a:ext cx="2332710" cy="5854769"/>
          </a:xfrm>
          <a:prstGeom prst="rect">
            <a:avLst/>
          </a:prstGeom>
        </p:spPr>
      </p:pic>
      <p:sp>
        <p:nvSpPr>
          <p:cNvPr id="160" name="Text 46"/>
          <p:cNvSpPr/>
          <p:nvPr/>
        </p:nvSpPr>
        <p:spPr>
          <a:xfrm>
            <a:off x="9828269" y="674541"/>
            <a:ext cx="1982731" cy="24088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 smtClean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UI </a:t>
            </a:r>
            <a:r>
              <a:rPr lang="ko-KR" altLang="en-US" sz="1350" b="1" dirty="0" smtClean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설명</a:t>
            </a:r>
            <a:r>
              <a:rPr lang="en-US" sz="1350" b="1" dirty="0" smtClean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en-US" sz="1350" b="1" dirty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영역</a:t>
            </a:r>
            <a:endParaRPr lang="en-US" sz="1350" dirty="0"/>
          </a:p>
        </p:txBody>
      </p:sp>
      <p:sp>
        <p:nvSpPr>
          <p:cNvPr id="161" name="Text 20"/>
          <p:cNvSpPr/>
          <p:nvPr/>
        </p:nvSpPr>
        <p:spPr>
          <a:xfrm>
            <a:off x="9812312" y="967252"/>
            <a:ext cx="2249583" cy="575475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200"/>
              </a:lnSpc>
            </a:pPr>
            <a:r>
              <a:rPr 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1. </a:t>
            </a:r>
            <a:r>
              <a:rPr lang="ko-KR" altLang="en-US" sz="1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저장된 계정 정보 </a:t>
            </a:r>
            <a:r>
              <a:rPr lang="ko-KR" altLang="en-US" sz="1000" dirty="0" smtClean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</a:t>
            </a:r>
            <a:r>
              <a:rPr lang="en-US" altLang="ko-KR" sz="1000" dirty="0" smtClean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ko-KR" altLang="en-US" sz="1000" dirty="0" smtClean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새로운 계정 정보 생성 중 선택</a:t>
            </a:r>
            <a:endParaRPr lang="en-US" altLang="ko-KR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endParaRPr lang="en-US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r>
              <a:rPr 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2.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매뉴얼</a:t>
            </a: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,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정기</a:t>
            </a: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, </a:t>
            </a:r>
            <a:r>
              <a:rPr lang="ko-KR" altLang="en-US" sz="1000" dirty="0" err="1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크론</a:t>
            </a:r>
            <a:r>
              <a:rPr lang="en-US" altLang="ko-KR" sz="10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(</a:t>
            </a:r>
            <a:r>
              <a:rPr lang="en-US" altLang="ko-KR" sz="1000" dirty="0" err="1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Cron</a:t>
            </a: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)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중 선택</a:t>
            </a:r>
            <a:endParaRPr lang="en-US" altLang="ko-KR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endParaRPr lang="en-US" sz="1000" dirty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r>
              <a:rPr 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3. </a:t>
            </a:r>
            <a:r>
              <a:rPr lang="ko-KR" altLang="en-US" sz="1000" dirty="0" smtClean="0">
                <a:solidFill>
                  <a:srgbClr val="000000"/>
                </a:solidFill>
                <a:latin typeface="ui-sans-serif" pitchFamily="34" charset="0"/>
              </a:rPr>
              <a:t>분</a:t>
            </a:r>
            <a:r>
              <a:rPr lang="en-US" altLang="ko-KR" sz="1000" dirty="0" smtClean="0">
                <a:solidFill>
                  <a:srgbClr val="000000"/>
                </a:solidFill>
                <a:latin typeface="ui-sans-serif" pitchFamily="34" charset="0"/>
              </a:rPr>
              <a:t>, </a:t>
            </a:r>
            <a:r>
              <a:rPr lang="ko-KR" altLang="en-US" sz="1000" dirty="0" smtClean="0">
                <a:solidFill>
                  <a:srgbClr val="000000"/>
                </a:solidFill>
                <a:latin typeface="ui-sans-serif" pitchFamily="34" charset="0"/>
              </a:rPr>
              <a:t>시간</a:t>
            </a:r>
            <a:r>
              <a:rPr lang="en-US" altLang="ko-KR" sz="1000" dirty="0" smtClean="0">
                <a:solidFill>
                  <a:srgbClr val="000000"/>
                </a:solidFill>
                <a:latin typeface="ui-sans-serif" pitchFamily="34" charset="0"/>
              </a:rPr>
              <a:t>, </a:t>
            </a:r>
            <a:r>
              <a:rPr lang="ko-KR" altLang="en-US" sz="1000" dirty="0" smtClean="0">
                <a:solidFill>
                  <a:srgbClr val="000000"/>
                </a:solidFill>
                <a:latin typeface="ui-sans-serif" pitchFamily="34" charset="0"/>
              </a:rPr>
              <a:t>일 중 선택</a:t>
            </a:r>
            <a:endParaRPr lang="en-US" altLang="ko-KR" sz="1000" dirty="0" smtClean="0">
              <a:solidFill>
                <a:srgbClr val="000000"/>
              </a:solidFill>
              <a:latin typeface="ui-sans-serif" pitchFamily="34" charset="0"/>
            </a:endParaRPr>
          </a:p>
          <a:p>
            <a:pPr>
              <a:lnSpc>
                <a:spcPts val="1200"/>
              </a:lnSpc>
            </a:pPr>
            <a:endParaRPr lang="en-US" altLang="ko-KR" sz="1000" dirty="0">
              <a:solidFill>
                <a:srgbClr val="000000"/>
              </a:solidFill>
              <a:latin typeface="ui-sans-serif" pitchFamily="34" charset="0"/>
            </a:endParaRPr>
          </a:p>
          <a:p>
            <a:pPr>
              <a:lnSpc>
                <a:spcPts val="1200"/>
              </a:lnSpc>
            </a:pPr>
            <a:r>
              <a:rPr lang="en-US" altLang="ko-KR" sz="1000" dirty="0" smtClean="0">
                <a:solidFill>
                  <a:srgbClr val="000000"/>
                </a:solidFill>
                <a:latin typeface="ui-sans-serif" pitchFamily="34" charset="0"/>
              </a:rPr>
              <a:t>4. </a:t>
            </a:r>
            <a:r>
              <a:rPr lang="ko-KR" altLang="en-US" sz="1000" dirty="0" smtClean="0">
                <a:solidFill>
                  <a:srgbClr val="000000"/>
                </a:solidFill>
                <a:latin typeface="ui-sans-serif" pitchFamily="34" charset="0"/>
              </a:rPr>
              <a:t>전체 동기화</a:t>
            </a:r>
            <a:r>
              <a:rPr lang="en-US" altLang="ko-KR" sz="1000" dirty="0" smtClean="0">
                <a:solidFill>
                  <a:srgbClr val="000000"/>
                </a:solidFill>
                <a:latin typeface="ui-sans-serif" pitchFamily="34" charset="0"/>
              </a:rPr>
              <a:t>, </a:t>
            </a:r>
            <a:r>
              <a:rPr lang="ko-KR" altLang="en-US" sz="1000" dirty="0" err="1" smtClean="0">
                <a:solidFill>
                  <a:srgbClr val="000000"/>
                </a:solidFill>
                <a:latin typeface="ui-sans-serif" pitchFamily="34" charset="0"/>
              </a:rPr>
              <a:t>증분</a:t>
            </a:r>
            <a:r>
              <a:rPr lang="ko-KR" altLang="en-US" sz="1000" dirty="0" smtClean="0">
                <a:solidFill>
                  <a:srgbClr val="000000"/>
                </a:solidFill>
                <a:latin typeface="ui-sans-serif" pitchFamily="34" charset="0"/>
              </a:rPr>
              <a:t> 동기화 중 선택</a:t>
            </a:r>
            <a:endParaRPr lang="en-US" altLang="ko-KR" sz="1000" dirty="0" smtClean="0">
              <a:solidFill>
                <a:srgbClr val="000000"/>
              </a:solidFill>
              <a:latin typeface="ui-sans-serif" pitchFamily="34" charset="0"/>
            </a:endParaRPr>
          </a:p>
          <a:p>
            <a:pPr>
              <a:lnSpc>
                <a:spcPts val="1200"/>
              </a:lnSpc>
            </a:pPr>
            <a:endParaRPr lang="en-US" altLang="ko-KR" sz="1000" dirty="0">
              <a:solidFill>
                <a:srgbClr val="000000"/>
              </a:solidFill>
              <a:latin typeface="ui-sans-serif" pitchFamily="34" charset="0"/>
            </a:endParaRPr>
          </a:p>
          <a:p>
            <a:pPr>
              <a:lnSpc>
                <a:spcPts val="1200"/>
              </a:lnSpc>
            </a:pPr>
            <a:r>
              <a:rPr lang="en-US" altLang="ko-KR" sz="1000" dirty="0" smtClean="0">
                <a:solidFill>
                  <a:srgbClr val="000000"/>
                </a:solidFill>
                <a:latin typeface="ui-sans-serif" pitchFamily="34" charset="0"/>
              </a:rPr>
              <a:t>5. </a:t>
            </a:r>
            <a:r>
              <a:rPr lang="ko-KR" altLang="en-US" sz="1000" dirty="0" smtClean="0">
                <a:solidFill>
                  <a:srgbClr val="000000"/>
                </a:solidFill>
                <a:latin typeface="ui-sans-serif" pitchFamily="34" charset="0"/>
              </a:rPr>
              <a:t>변경 사항 원복</a:t>
            </a:r>
            <a:endParaRPr lang="en-US" altLang="ko-KR" sz="1000" dirty="0" smtClean="0">
              <a:solidFill>
                <a:srgbClr val="000000"/>
              </a:solidFill>
              <a:latin typeface="ui-sans-serif" pitchFamily="34" charset="0"/>
            </a:endParaRPr>
          </a:p>
          <a:p>
            <a:pPr>
              <a:lnSpc>
                <a:spcPts val="1200"/>
              </a:lnSpc>
            </a:pPr>
            <a:endParaRPr lang="en-US" altLang="ko-KR" sz="1000" dirty="0">
              <a:solidFill>
                <a:srgbClr val="000000"/>
              </a:solidFill>
              <a:latin typeface="ui-sans-serif" pitchFamily="34" charset="0"/>
            </a:endParaRPr>
          </a:p>
          <a:p>
            <a:pPr>
              <a:lnSpc>
                <a:spcPts val="1200"/>
              </a:lnSpc>
            </a:pPr>
            <a:r>
              <a:rPr lang="en-US" altLang="ko-KR" sz="1000" dirty="0" smtClean="0">
                <a:solidFill>
                  <a:srgbClr val="000000"/>
                </a:solidFill>
                <a:latin typeface="ui-sans-serif" pitchFamily="34" charset="0"/>
              </a:rPr>
              <a:t>6. </a:t>
            </a:r>
            <a:r>
              <a:rPr lang="ko-KR" altLang="en-US" sz="1000" dirty="0" smtClean="0">
                <a:solidFill>
                  <a:srgbClr val="000000"/>
                </a:solidFill>
                <a:latin typeface="ui-sans-serif" pitchFamily="34" charset="0"/>
              </a:rPr>
              <a:t>변경한 설정 </a:t>
            </a:r>
            <a:r>
              <a:rPr lang="ko-KR" altLang="en-US" sz="1000" dirty="0" smtClean="0">
                <a:solidFill>
                  <a:srgbClr val="000000"/>
                </a:solidFill>
                <a:latin typeface="ui-sans-serif" pitchFamily="34" charset="0"/>
              </a:rPr>
              <a:t>저장</a:t>
            </a:r>
            <a:endParaRPr lang="en-US" altLang="ko-KR" sz="1000" dirty="0" smtClean="0">
              <a:solidFill>
                <a:srgbClr val="000000"/>
              </a:solidFill>
              <a:latin typeface="ui-sans-serif" pitchFamily="34" charset="0"/>
            </a:endParaRPr>
          </a:p>
          <a:p>
            <a:pPr>
              <a:lnSpc>
                <a:spcPts val="1200"/>
              </a:lnSpc>
            </a:pPr>
            <a:endParaRPr lang="en-US" altLang="ko-KR" sz="1000" dirty="0">
              <a:solidFill>
                <a:srgbClr val="000000"/>
              </a:solidFill>
              <a:latin typeface="ui-sans-serif" pitchFamily="34" charset="0"/>
            </a:endParaRPr>
          </a:p>
          <a:p>
            <a:pPr>
              <a:lnSpc>
                <a:spcPts val="1200"/>
              </a:lnSpc>
            </a:pPr>
            <a:r>
              <a:rPr lang="en-US" altLang="ko-KR" sz="1000" dirty="0" smtClean="0">
                <a:solidFill>
                  <a:srgbClr val="000000"/>
                </a:solidFill>
                <a:latin typeface="ui-sans-serif" pitchFamily="34" charset="0"/>
              </a:rPr>
              <a:t>7. </a:t>
            </a:r>
            <a:r>
              <a:rPr lang="ko-KR" altLang="en-US" sz="1000" dirty="0" smtClean="0">
                <a:solidFill>
                  <a:srgbClr val="000000"/>
                </a:solidFill>
                <a:latin typeface="ui-sans-serif" pitchFamily="34" charset="0"/>
              </a:rPr>
              <a:t>소스 데이터</a:t>
            </a:r>
            <a:r>
              <a:rPr lang="en-US" altLang="ko-KR" sz="1000" dirty="0" smtClean="0">
                <a:solidFill>
                  <a:srgbClr val="000000"/>
                </a:solidFill>
                <a:latin typeface="ui-sans-serif" pitchFamily="34" charset="0"/>
              </a:rPr>
              <a:t>, </a:t>
            </a:r>
            <a:r>
              <a:rPr lang="ko-KR" altLang="en-US" sz="1000" dirty="0" smtClean="0">
                <a:solidFill>
                  <a:srgbClr val="000000"/>
                </a:solidFill>
                <a:latin typeface="ui-sans-serif" pitchFamily="34" charset="0"/>
              </a:rPr>
              <a:t>컬렉션 매핑 수정 팝업 띄우기</a:t>
            </a:r>
            <a:endParaRPr lang="en-US" altLang="ko-KR" sz="1000" dirty="0" smtClean="0">
              <a:solidFill>
                <a:srgbClr val="000000"/>
              </a:solidFill>
              <a:latin typeface="ui-sans-serif" pitchFamily="34" charset="0"/>
            </a:endParaRPr>
          </a:p>
          <a:p>
            <a:pPr>
              <a:lnSpc>
                <a:spcPts val="1200"/>
              </a:lnSpc>
            </a:pPr>
            <a:endParaRPr lang="en-US" altLang="ko-KR" sz="1000" dirty="0">
              <a:solidFill>
                <a:srgbClr val="000000"/>
              </a:solidFill>
              <a:latin typeface="ui-sans-serif" pitchFamily="34" charset="0"/>
            </a:endParaRPr>
          </a:p>
          <a:p>
            <a:pPr>
              <a:lnSpc>
                <a:spcPts val="1200"/>
              </a:lnSpc>
            </a:pPr>
            <a:r>
              <a:rPr lang="en-US" altLang="ko-KR" sz="1000" dirty="0" smtClean="0">
                <a:solidFill>
                  <a:srgbClr val="000000"/>
                </a:solidFill>
                <a:latin typeface="ui-sans-serif" pitchFamily="34" charset="0"/>
              </a:rPr>
              <a:t>8. </a:t>
            </a:r>
            <a:r>
              <a:rPr lang="ko-KR" altLang="en-US" sz="1000" dirty="0" smtClean="0">
                <a:solidFill>
                  <a:srgbClr val="000000"/>
                </a:solidFill>
                <a:latin typeface="ui-sans-serif" pitchFamily="34" charset="0"/>
              </a:rPr>
              <a:t>데이터 변환 </a:t>
            </a:r>
            <a:r>
              <a:rPr lang="en-US" altLang="ko-KR" sz="1000" dirty="0" smtClean="0">
                <a:solidFill>
                  <a:srgbClr val="000000"/>
                </a:solidFill>
                <a:latin typeface="ui-sans-serif" pitchFamily="34" charset="0"/>
              </a:rPr>
              <a:t>(</a:t>
            </a:r>
            <a:r>
              <a:rPr lang="ko-KR" altLang="en-US" sz="1000" dirty="0" smtClean="0">
                <a:solidFill>
                  <a:srgbClr val="000000"/>
                </a:solidFill>
                <a:latin typeface="ui-sans-serif" pitchFamily="34" charset="0"/>
              </a:rPr>
              <a:t>변환</a:t>
            </a:r>
            <a:r>
              <a:rPr lang="en-US" altLang="ko-KR" sz="1000" dirty="0" smtClean="0">
                <a:solidFill>
                  <a:srgbClr val="000000"/>
                </a:solidFill>
                <a:latin typeface="ui-sans-serif" pitchFamily="34" charset="0"/>
              </a:rPr>
              <a:t>, </a:t>
            </a:r>
            <a:r>
              <a:rPr lang="ko-KR" altLang="en-US" sz="1000" dirty="0" smtClean="0">
                <a:solidFill>
                  <a:srgbClr val="000000"/>
                </a:solidFill>
                <a:latin typeface="ui-sans-serif" pitchFamily="34" charset="0"/>
              </a:rPr>
              <a:t>변환 규칙 적용</a:t>
            </a:r>
            <a:r>
              <a:rPr lang="en-US" altLang="ko-KR" sz="1000" dirty="0" smtClean="0">
                <a:solidFill>
                  <a:srgbClr val="000000"/>
                </a:solidFill>
                <a:latin typeface="ui-sans-serif" pitchFamily="34" charset="0"/>
              </a:rPr>
              <a:t>, </a:t>
            </a:r>
            <a:r>
              <a:rPr lang="ko-KR" altLang="en-US" sz="1000" dirty="0" smtClean="0">
                <a:solidFill>
                  <a:srgbClr val="000000"/>
                </a:solidFill>
                <a:latin typeface="ui-sans-serif" pitchFamily="34" charset="0"/>
              </a:rPr>
              <a:t>인덱스 생성</a:t>
            </a:r>
            <a:r>
              <a:rPr lang="en-US" altLang="ko-KR" sz="1000" dirty="0" smtClean="0">
                <a:solidFill>
                  <a:srgbClr val="000000"/>
                </a:solidFill>
                <a:latin typeface="ui-sans-serif" pitchFamily="34" charset="0"/>
              </a:rPr>
              <a:t>, </a:t>
            </a:r>
            <a:r>
              <a:rPr lang="ko-KR" altLang="en-US" sz="1000" dirty="0" smtClean="0">
                <a:solidFill>
                  <a:srgbClr val="000000"/>
                </a:solidFill>
                <a:latin typeface="ui-sans-serif" pitchFamily="34" charset="0"/>
              </a:rPr>
              <a:t>쿼리 설정</a:t>
            </a:r>
            <a:r>
              <a:rPr lang="en-US" altLang="ko-KR" sz="1000" dirty="0" smtClean="0">
                <a:solidFill>
                  <a:srgbClr val="000000"/>
                </a:solidFill>
                <a:latin typeface="ui-sans-serif" pitchFamily="34" charset="0"/>
              </a:rPr>
              <a:t>) </a:t>
            </a:r>
            <a:r>
              <a:rPr lang="ko-KR" altLang="en-US" sz="1000" dirty="0" smtClean="0">
                <a:solidFill>
                  <a:srgbClr val="000000"/>
                </a:solidFill>
                <a:latin typeface="ui-sans-serif" pitchFamily="34" charset="0"/>
              </a:rPr>
              <a:t>팝업 띄우기</a:t>
            </a:r>
            <a:endParaRPr lang="en-US" altLang="ko-KR" sz="1000" dirty="0"/>
          </a:p>
          <a:p>
            <a:pPr>
              <a:lnSpc>
                <a:spcPts val="1200"/>
              </a:lnSpc>
            </a:pPr>
            <a:endParaRPr lang="en-US" altLang="ko-KR" sz="1000" dirty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endParaRPr lang="en-US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</p:txBody>
      </p:sp>
      <p:pic>
        <p:nvPicPr>
          <p:cNvPr id="104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81000" y="2007242"/>
            <a:ext cx="1039118" cy="457200"/>
          </a:xfrm>
          <a:prstGeom prst="rect">
            <a:avLst/>
          </a:prstGeom>
        </p:spPr>
      </p:pic>
      <p:pic>
        <p:nvPicPr>
          <p:cNvPr id="166" name="Image 17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09600" y="2150117"/>
            <a:ext cx="152400" cy="152400"/>
          </a:xfrm>
          <a:prstGeom prst="rect">
            <a:avLst/>
          </a:prstGeom>
        </p:spPr>
      </p:pic>
      <p:pic>
        <p:nvPicPr>
          <p:cNvPr id="167" name="Image 18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420118" y="2007242"/>
            <a:ext cx="1077218" cy="457200"/>
          </a:xfrm>
          <a:prstGeom prst="rect">
            <a:avLst/>
          </a:prstGeom>
        </p:spPr>
      </p:pic>
      <p:pic>
        <p:nvPicPr>
          <p:cNvPr id="168" name="Image 19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648718" y="2150117"/>
            <a:ext cx="190500" cy="152400"/>
          </a:xfrm>
          <a:prstGeom prst="rect">
            <a:avLst/>
          </a:prstGeom>
        </p:spPr>
      </p:pic>
      <p:sp>
        <p:nvSpPr>
          <p:cNvPr id="169" name="Text 10"/>
          <p:cNvSpPr/>
          <p:nvPr/>
        </p:nvSpPr>
        <p:spPr>
          <a:xfrm>
            <a:off x="802868" y="2140592"/>
            <a:ext cx="423982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 개요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0" name="Text 11"/>
          <p:cNvSpPr/>
          <p:nvPr/>
        </p:nvSpPr>
        <p:spPr>
          <a:xfrm>
            <a:off x="1880086" y="2140592"/>
            <a:ext cx="423982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2563E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 설정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71" name="Image 26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81000" y="2561605"/>
            <a:ext cx="9249039" cy="4208591"/>
          </a:xfrm>
          <a:prstGeom prst="rect">
            <a:avLst/>
          </a:prstGeom>
        </p:spPr>
      </p:pic>
      <p:pic>
        <p:nvPicPr>
          <p:cNvPr id="172" name="Image 27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25395" y="2642706"/>
            <a:ext cx="190500" cy="190500"/>
          </a:xfrm>
          <a:prstGeom prst="rect">
            <a:avLst/>
          </a:prstGeom>
        </p:spPr>
      </p:pic>
      <p:pic>
        <p:nvPicPr>
          <p:cNvPr id="173" name="Image 28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09600" y="3201343"/>
            <a:ext cx="4499372" cy="381000"/>
          </a:xfrm>
          <a:prstGeom prst="rect">
            <a:avLst/>
          </a:prstGeom>
        </p:spPr>
      </p:pic>
      <p:pic>
        <p:nvPicPr>
          <p:cNvPr id="176" name="Image 39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09600" y="4890888"/>
            <a:ext cx="4499372" cy="381000"/>
          </a:xfrm>
          <a:prstGeom prst="rect">
            <a:avLst/>
          </a:prstGeom>
        </p:spPr>
      </p:pic>
      <p:pic>
        <p:nvPicPr>
          <p:cNvPr id="177" name="Image 40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09600" y="5598388"/>
            <a:ext cx="4499372" cy="381000"/>
          </a:xfrm>
          <a:prstGeom prst="rect">
            <a:avLst/>
          </a:prstGeom>
        </p:spPr>
      </p:pic>
      <p:pic>
        <p:nvPicPr>
          <p:cNvPr id="183" name="Image 47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195102" y="5935131"/>
            <a:ext cx="686288" cy="381000"/>
          </a:xfrm>
          <a:prstGeom prst="rect">
            <a:avLst/>
          </a:prstGeom>
        </p:spPr>
      </p:pic>
      <p:pic>
        <p:nvPicPr>
          <p:cNvPr id="185" name="Image 49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865863" y="6341007"/>
            <a:ext cx="609600" cy="381000"/>
          </a:xfrm>
          <a:prstGeom prst="rect">
            <a:avLst/>
          </a:prstGeom>
        </p:spPr>
      </p:pic>
      <p:pic>
        <p:nvPicPr>
          <p:cNvPr id="186" name="Image 50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6589763" y="6341007"/>
            <a:ext cx="609600" cy="381000"/>
          </a:xfrm>
          <a:prstGeom prst="rect">
            <a:avLst/>
          </a:prstGeom>
        </p:spPr>
      </p:pic>
      <p:sp>
        <p:nvSpPr>
          <p:cNvPr id="187" name="Text 16"/>
          <p:cNvSpPr/>
          <p:nvPr/>
        </p:nvSpPr>
        <p:spPr>
          <a:xfrm>
            <a:off x="876300" y="2607273"/>
            <a:ext cx="50673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기본 정보</a:t>
            </a:r>
            <a:endParaRPr lang="en-US" sz="13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8" name="Text 17"/>
          <p:cNvSpPr/>
          <p:nvPr/>
        </p:nvSpPr>
        <p:spPr>
          <a:xfrm>
            <a:off x="609600" y="2976843"/>
            <a:ext cx="850999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커넥션 이름</a:t>
            </a:r>
            <a:endParaRPr 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0" name="Text 24"/>
          <p:cNvSpPr/>
          <p:nvPr/>
        </p:nvSpPr>
        <p:spPr>
          <a:xfrm>
            <a:off x="762000" y="3744032"/>
            <a:ext cx="4502140" cy="29527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소스 설정</a:t>
            </a:r>
            <a:endParaRPr lang="en-US" sz="13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1" name="Text 25"/>
          <p:cNvSpPr/>
          <p:nvPr/>
        </p:nvSpPr>
        <p:spPr>
          <a:xfrm>
            <a:off x="609600" y="4086208"/>
            <a:ext cx="48006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호스트</a:t>
            </a:r>
            <a:endParaRPr 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2" name="Text 26"/>
          <p:cNvSpPr/>
          <p:nvPr/>
        </p:nvSpPr>
        <p:spPr>
          <a:xfrm>
            <a:off x="609600" y="4701113"/>
            <a:ext cx="32004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포트</a:t>
            </a:r>
            <a:endParaRPr 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3" name="Text 27"/>
          <p:cNvSpPr/>
          <p:nvPr/>
        </p:nvSpPr>
        <p:spPr>
          <a:xfrm>
            <a:off x="609600" y="5350738"/>
            <a:ext cx="96012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데이터베이스</a:t>
            </a:r>
            <a:endParaRPr 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4" name="Text 28"/>
          <p:cNvSpPr/>
          <p:nvPr/>
        </p:nvSpPr>
        <p:spPr>
          <a:xfrm>
            <a:off x="609600" y="6116111"/>
            <a:ext cx="690979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인증 정보</a:t>
            </a:r>
            <a:endParaRPr 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5" name="Text 29"/>
          <p:cNvSpPr/>
          <p:nvPr/>
        </p:nvSpPr>
        <p:spPr>
          <a:xfrm>
            <a:off x="5425607" y="2607273"/>
            <a:ext cx="4105275" cy="21563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대상 설정</a:t>
            </a:r>
            <a:endParaRPr lang="en-US" sz="13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6" name="Text 30"/>
          <p:cNvSpPr/>
          <p:nvPr/>
        </p:nvSpPr>
        <p:spPr>
          <a:xfrm>
            <a:off x="5195102" y="2872668"/>
            <a:ext cx="48006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 smtClean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URI</a:t>
            </a:r>
            <a:endParaRPr 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7" name="Text 31"/>
          <p:cNvSpPr/>
          <p:nvPr/>
        </p:nvSpPr>
        <p:spPr>
          <a:xfrm>
            <a:off x="5195102" y="3475995"/>
            <a:ext cx="96012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데이터베이스</a:t>
            </a:r>
            <a:endParaRPr 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8" name="Text 32"/>
          <p:cNvSpPr/>
          <p:nvPr/>
        </p:nvSpPr>
        <p:spPr>
          <a:xfrm>
            <a:off x="7086707" y="3478168"/>
            <a:ext cx="48006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컬렉션</a:t>
            </a:r>
            <a:endParaRPr 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9" name="Text 33"/>
          <p:cNvSpPr/>
          <p:nvPr/>
        </p:nvSpPr>
        <p:spPr>
          <a:xfrm>
            <a:off x="5193500" y="4115593"/>
            <a:ext cx="690979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인증 정보</a:t>
            </a:r>
            <a:endParaRPr 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0" name="Text 34"/>
          <p:cNvSpPr/>
          <p:nvPr/>
        </p:nvSpPr>
        <p:spPr>
          <a:xfrm>
            <a:off x="5395127" y="4782124"/>
            <a:ext cx="4105276" cy="2561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동기화 설정</a:t>
            </a:r>
            <a:endParaRPr lang="en-US" sz="13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1" name="Text 35"/>
          <p:cNvSpPr/>
          <p:nvPr/>
        </p:nvSpPr>
        <p:spPr>
          <a:xfrm>
            <a:off x="5204448" y="5100815"/>
            <a:ext cx="850999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동기화 주기</a:t>
            </a:r>
            <a:endParaRPr 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2" name="Text 36"/>
          <p:cNvSpPr/>
          <p:nvPr/>
        </p:nvSpPr>
        <p:spPr>
          <a:xfrm>
            <a:off x="5195102" y="5687481"/>
            <a:ext cx="1221938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정기 동기화 간격</a:t>
            </a:r>
            <a:endParaRPr 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3" name="Text 37"/>
          <p:cNvSpPr/>
          <p:nvPr/>
        </p:nvSpPr>
        <p:spPr>
          <a:xfrm>
            <a:off x="7381139" y="5701411"/>
            <a:ext cx="850999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동기화 방식</a:t>
            </a:r>
            <a:endParaRPr 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6" name="Text 40"/>
          <p:cNvSpPr/>
          <p:nvPr/>
        </p:nvSpPr>
        <p:spPr>
          <a:xfrm>
            <a:off x="5987783" y="6436257"/>
            <a:ext cx="365760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취소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7" name="Text 41"/>
          <p:cNvSpPr/>
          <p:nvPr/>
        </p:nvSpPr>
        <p:spPr>
          <a:xfrm>
            <a:off x="6711683" y="6436257"/>
            <a:ext cx="365760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저장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12" name="Image 27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571500" y="3780189"/>
            <a:ext cx="133350" cy="171450"/>
          </a:xfrm>
          <a:prstGeom prst="rect">
            <a:avLst/>
          </a:prstGeom>
        </p:spPr>
      </p:pic>
      <p:pic>
        <p:nvPicPr>
          <p:cNvPr id="213" name="Image 34" descr="preencoded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5223112" y="2654898"/>
            <a:ext cx="152400" cy="171450"/>
          </a:xfrm>
          <a:prstGeom prst="rect">
            <a:avLst/>
          </a:prstGeom>
        </p:spPr>
      </p:pic>
      <p:pic>
        <p:nvPicPr>
          <p:cNvPr id="214" name="Image 41" descr="preencoded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161380" y="4823596"/>
            <a:ext cx="171450" cy="171450"/>
          </a:xfrm>
          <a:prstGeom prst="rect">
            <a:avLst/>
          </a:prstGeom>
        </p:spPr>
      </p:pic>
      <p:grpSp>
        <p:nvGrpSpPr>
          <p:cNvPr id="216" name="그룹 215"/>
          <p:cNvGrpSpPr/>
          <p:nvPr/>
        </p:nvGrpSpPr>
        <p:grpSpPr>
          <a:xfrm>
            <a:off x="5183267" y="3108130"/>
            <a:ext cx="4012335" cy="306091"/>
            <a:chOff x="562960" y="3283075"/>
            <a:chExt cx="4326266" cy="254596"/>
          </a:xfrm>
        </p:grpSpPr>
        <p:pic>
          <p:nvPicPr>
            <p:cNvPr id="217" name="Image 12" descr="preencoded.png"/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562960" y="3283075"/>
              <a:ext cx="4235505" cy="254596"/>
            </a:xfrm>
            <a:prstGeom prst="rect">
              <a:avLst/>
            </a:prstGeom>
          </p:spPr>
        </p:pic>
        <p:sp>
          <p:nvSpPr>
            <p:cNvPr id="218" name="Text 8"/>
            <p:cNvSpPr/>
            <p:nvPr/>
          </p:nvSpPr>
          <p:spPr>
            <a:xfrm>
              <a:off x="653721" y="3283075"/>
              <a:ext cx="4235505" cy="223067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800"/>
                </a:lnSpc>
                <a:buNone/>
              </a:pPr>
              <a:endParaRPr lang="en-US" sz="11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19" name="Text 8"/>
            <p:cNvSpPr/>
            <p:nvPr/>
          </p:nvSpPr>
          <p:spPr>
            <a:xfrm>
              <a:off x="653721" y="3286794"/>
              <a:ext cx="4235505" cy="223067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>
                <a:lnSpc>
                  <a:spcPts val="1800"/>
                </a:lnSpc>
              </a:pPr>
              <a:r>
                <a:rPr lang="en-US" sz="1100" dirty="0">
                  <a:solidFill>
                    <a:srgbClr val="333333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Noto Sans KR" pitchFamily="34" charset="-120"/>
                </a:rPr>
                <a:t>mongodb://localhost:27017</a:t>
              </a:r>
            </a:p>
          </p:txBody>
        </p:sp>
      </p:grpSp>
      <p:grpSp>
        <p:nvGrpSpPr>
          <p:cNvPr id="220" name="그룹 219"/>
          <p:cNvGrpSpPr/>
          <p:nvPr/>
        </p:nvGrpSpPr>
        <p:grpSpPr>
          <a:xfrm>
            <a:off x="5197255" y="3710941"/>
            <a:ext cx="1788548" cy="327770"/>
            <a:chOff x="562960" y="3283075"/>
            <a:chExt cx="4326266" cy="254596"/>
          </a:xfrm>
        </p:grpSpPr>
        <p:pic>
          <p:nvPicPr>
            <p:cNvPr id="221" name="Image 12" descr="preencoded.png"/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562960" y="3283075"/>
              <a:ext cx="4235505" cy="254596"/>
            </a:xfrm>
            <a:prstGeom prst="rect">
              <a:avLst/>
            </a:prstGeom>
          </p:spPr>
        </p:pic>
        <p:sp>
          <p:nvSpPr>
            <p:cNvPr id="222" name="Text 8"/>
            <p:cNvSpPr/>
            <p:nvPr/>
          </p:nvSpPr>
          <p:spPr>
            <a:xfrm>
              <a:off x="653721" y="3283075"/>
              <a:ext cx="4235505" cy="223067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800"/>
                </a:lnSpc>
                <a:buNone/>
              </a:pPr>
              <a:endParaRPr lang="en-US" sz="11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23" name="Text 8"/>
            <p:cNvSpPr/>
            <p:nvPr/>
          </p:nvSpPr>
          <p:spPr>
            <a:xfrm>
              <a:off x="653721" y="3286794"/>
              <a:ext cx="4235505" cy="223067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>
                <a:lnSpc>
                  <a:spcPts val="1800"/>
                </a:lnSpc>
              </a:pPr>
              <a:r>
                <a:rPr lang="en-US" sz="1100" dirty="0" err="1" smtClean="0">
                  <a:solidFill>
                    <a:srgbClr val="333333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Noto Sans KR" pitchFamily="34" charset="-120"/>
                </a:rPr>
                <a:t>test_db</a:t>
              </a:r>
              <a:endParaRPr lang="en-US" sz="110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KR" pitchFamily="34" charset="-120"/>
              </a:endParaRPr>
            </a:p>
          </p:txBody>
        </p:sp>
      </p:grpSp>
      <p:grpSp>
        <p:nvGrpSpPr>
          <p:cNvPr id="224" name="그룹 223"/>
          <p:cNvGrpSpPr/>
          <p:nvPr/>
        </p:nvGrpSpPr>
        <p:grpSpPr>
          <a:xfrm>
            <a:off x="5233989" y="3710940"/>
            <a:ext cx="3855597" cy="862465"/>
            <a:chOff x="653721" y="2769098"/>
            <a:chExt cx="9526032" cy="737044"/>
          </a:xfrm>
        </p:grpSpPr>
        <p:pic>
          <p:nvPicPr>
            <p:cNvPr id="225" name="Image 12" descr="preencoded.png"/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5157354" y="2769098"/>
              <a:ext cx="5022399" cy="266223"/>
            </a:xfrm>
            <a:prstGeom prst="rect">
              <a:avLst/>
            </a:prstGeom>
          </p:spPr>
        </p:pic>
        <p:sp>
          <p:nvSpPr>
            <p:cNvPr id="226" name="Text 8"/>
            <p:cNvSpPr/>
            <p:nvPr/>
          </p:nvSpPr>
          <p:spPr>
            <a:xfrm>
              <a:off x="653721" y="3283075"/>
              <a:ext cx="4235505" cy="223067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800"/>
                </a:lnSpc>
                <a:buNone/>
              </a:pPr>
              <a:endParaRPr lang="en-US" sz="11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27" name="Text 8"/>
            <p:cNvSpPr/>
            <p:nvPr/>
          </p:nvSpPr>
          <p:spPr>
            <a:xfrm>
              <a:off x="5395498" y="2781812"/>
              <a:ext cx="4235505" cy="223067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>
                <a:lnSpc>
                  <a:spcPts val="1800"/>
                </a:lnSpc>
              </a:pPr>
              <a:r>
                <a:rPr lang="en-US" sz="1100" dirty="0" err="1" smtClean="0">
                  <a:solidFill>
                    <a:srgbClr val="333333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Noto Sans KR" pitchFamily="34" charset="-120"/>
                </a:rPr>
                <a:t>test_coll</a:t>
              </a:r>
              <a:endParaRPr lang="en-US" sz="110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KR" pitchFamily="34" charset="-120"/>
              </a:endParaRPr>
            </a:p>
          </p:txBody>
        </p:sp>
      </p:grpSp>
      <p:grpSp>
        <p:nvGrpSpPr>
          <p:cNvPr id="228" name="그룹 227"/>
          <p:cNvGrpSpPr/>
          <p:nvPr/>
        </p:nvGrpSpPr>
        <p:grpSpPr>
          <a:xfrm>
            <a:off x="609600" y="4312874"/>
            <a:ext cx="4472274" cy="392810"/>
            <a:chOff x="562960" y="3283075"/>
            <a:chExt cx="4350324" cy="248779"/>
          </a:xfrm>
        </p:grpSpPr>
        <p:pic>
          <p:nvPicPr>
            <p:cNvPr id="229" name="Image 12" descr="preencoded.png"/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562960" y="3283075"/>
              <a:ext cx="4350324" cy="195841"/>
            </a:xfrm>
            <a:prstGeom prst="rect">
              <a:avLst/>
            </a:prstGeom>
          </p:spPr>
        </p:pic>
        <p:sp>
          <p:nvSpPr>
            <p:cNvPr id="230" name="Text 8"/>
            <p:cNvSpPr/>
            <p:nvPr/>
          </p:nvSpPr>
          <p:spPr>
            <a:xfrm>
              <a:off x="653721" y="3283075"/>
              <a:ext cx="4235505" cy="223067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800"/>
                </a:lnSpc>
                <a:buNone/>
              </a:pPr>
              <a:endParaRPr lang="en-US" sz="11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31" name="Text 8"/>
            <p:cNvSpPr/>
            <p:nvPr/>
          </p:nvSpPr>
          <p:spPr>
            <a:xfrm>
              <a:off x="653721" y="3308787"/>
              <a:ext cx="4235505" cy="223067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>
                <a:lnSpc>
                  <a:spcPts val="1800"/>
                </a:lnSpc>
              </a:pPr>
              <a:r>
                <a:rPr lang="en-US" sz="1100" dirty="0" smtClean="0">
                  <a:solidFill>
                    <a:srgbClr val="333333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Noto Sans KR" pitchFamily="34" charset="-120"/>
                </a:rPr>
                <a:t>localhost</a:t>
              </a:r>
              <a:endParaRPr lang="en-US" sz="110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KR" pitchFamily="34" charset="-120"/>
              </a:endParaRPr>
            </a:p>
          </p:txBody>
        </p:sp>
      </p:grpSp>
      <p:grpSp>
        <p:nvGrpSpPr>
          <p:cNvPr id="238" name="그룹 237"/>
          <p:cNvGrpSpPr/>
          <p:nvPr/>
        </p:nvGrpSpPr>
        <p:grpSpPr>
          <a:xfrm>
            <a:off x="670739" y="6348496"/>
            <a:ext cx="4411135" cy="392810"/>
            <a:chOff x="562960" y="3283075"/>
            <a:chExt cx="4350324" cy="248779"/>
          </a:xfrm>
        </p:grpSpPr>
        <p:pic>
          <p:nvPicPr>
            <p:cNvPr id="239" name="Image 12" descr="preencoded.png"/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562960" y="3283075"/>
              <a:ext cx="4350324" cy="195841"/>
            </a:xfrm>
            <a:prstGeom prst="rect">
              <a:avLst/>
            </a:prstGeom>
          </p:spPr>
        </p:pic>
        <p:sp>
          <p:nvSpPr>
            <p:cNvPr id="240" name="Text 8"/>
            <p:cNvSpPr/>
            <p:nvPr/>
          </p:nvSpPr>
          <p:spPr>
            <a:xfrm>
              <a:off x="653721" y="3283075"/>
              <a:ext cx="4235505" cy="223067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800"/>
                </a:lnSpc>
                <a:buNone/>
              </a:pPr>
              <a:endParaRPr lang="en-US" sz="11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41" name="Text 8"/>
            <p:cNvSpPr/>
            <p:nvPr/>
          </p:nvSpPr>
          <p:spPr>
            <a:xfrm>
              <a:off x="653721" y="3308787"/>
              <a:ext cx="4235505" cy="223067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>
                <a:lnSpc>
                  <a:spcPts val="1800"/>
                </a:lnSpc>
              </a:pPr>
              <a:r>
                <a:rPr lang="ko-KR" altLang="en-US" sz="1100" dirty="0" smtClean="0">
                  <a:solidFill>
                    <a:srgbClr val="333333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Noto Sans KR" pitchFamily="34" charset="-120"/>
                </a:rPr>
                <a:t>저장된 계정 정보 사용</a:t>
              </a:r>
              <a:endParaRPr lang="en-US" sz="110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KR" pitchFamily="34" charset="-120"/>
              </a:endParaRPr>
            </a:p>
          </p:txBody>
        </p:sp>
      </p:grpSp>
      <p:sp>
        <p:nvSpPr>
          <p:cNvPr id="242" name="순서도: 병합 241"/>
          <p:cNvSpPr/>
          <p:nvPr/>
        </p:nvSpPr>
        <p:spPr>
          <a:xfrm>
            <a:off x="4869865" y="6463260"/>
            <a:ext cx="89825" cy="79694"/>
          </a:xfrm>
          <a:prstGeom prst="flowChartMerg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244" name="그룹 243"/>
          <p:cNvGrpSpPr/>
          <p:nvPr/>
        </p:nvGrpSpPr>
        <p:grpSpPr>
          <a:xfrm>
            <a:off x="5162006" y="4353414"/>
            <a:ext cx="3949421" cy="392810"/>
            <a:chOff x="562960" y="3283075"/>
            <a:chExt cx="4350324" cy="248779"/>
          </a:xfrm>
        </p:grpSpPr>
        <p:pic>
          <p:nvPicPr>
            <p:cNvPr id="245" name="Image 12" descr="preencoded.png"/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562960" y="3283075"/>
              <a:ext cx="4350324" cy="195841"/>
            </a:xfrm>
            <a:prstGeom prst="rect">
              <a:avLst/>
            </a:prstGeom>
          </p:spPr>
        </p:pic>
        <p:sp>
          <p:nvSpPr>
            <p:cNvPr id="246" name="Text 8"/>
            <p:cNvSpPr/>
            <p:nvPr/>
          </p:nvSpPr>
          <p:spPr>
            <a:xfrm>
              <a:off x="653721" y="3283075"/>
              <a:ext cx="4235505" cy="223067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800"/>
                </a:lnSpc>
                <a:buNone/>
              </a:pPr>
              <a:endParaRPr lang="en-US" sz="11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47" name="Text 8"/>
            <p:cNvSpPr/>
            <p:nvPr/>
          </p:nvSpPr>
          <p:spPr>
            <a:xfrm>
              <a:off x="653721" y="3308787"/>
              <a:ext cx="4235505" cy="223067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>
                <a:lnSpc>
                  <a:spcPts val="1800"/>
                </a:lnSpc>
              </a:pPr>
              <a:r>
                <a:rPr lang="ko-KR" altLang="en-US" sz="1100" dirty="0" smtClean="0">
                  <a:solidFill>
                    <a:srgbClr val="333333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Noto Sans KR" pitchFamily="34" charset="-120"/>
                </a:rPr>
                <a:t>저장된 계정 정보 사용</a:t>
              </a:r>
              <a:endParaRPr lang="en-US" sz="110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KR" pitchFamily="34" charset="-120"/>
              </a:endParaRPr>
            </a:p>
          </p:txBody>
        </p:sp>
      </p:grpSp>
      <p:sp>
        <p:nvSpPr>
          <p:cNvPr id="248" name="순서도: 병합 247"/>
          <p:cNvSpPr/>
          <p:nvPr/>
        </p:nvSpPr>
        <p:spPr>
          <a:xfrm>
            <a:off x="8928394" y="4468178"/>
            <a:ext cx="89825" cy="79694"/>
          </a:xfrm>
          <a:prstGeom prst="flowChartMerg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249" name="그룹 248"/>
          <p:cNvGrpSpPr/>
          <p:nvPr/>
        </p:nvGrpSpPr>
        <p:grpSpPr>
          <a:xfrm>
            <a:off x="5149722" y="5313745"/>
            <a:ext cx="3949421" cy="392810"/>
            <a:chOff x="562960" y="3283075"/>
            <a:chExt cx="4350324" cy="248779"/>
          </a:xfrm>
        </p:grpSpPr>
        <p:pic>
          <p:nvPicPr>
            <p:cNvPr id="250" name="Image 12" descr="preencoded.png"/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562960" y="3283075"/>
              <a:ext cx="4350324" cy="195841"/>
            </a:xfrm>
            <a:prstGeom prst="rect">
              <a:avLst/>
            </a:prstGeom>
          </p:spPr>
        </p:pic>
        <p:sp>
          <p:nvSpPr>
            <p:cNvPr id="251" name="Text 8"/>
            <p:cNvSpPr/>
            <p:nvPr/>
          </p:nvSpPr>
          <p:spPr>
            <a:xfrm>
              <a:off x="653721" y="3283075"/>
              <a:ext cx="4235505" cy="223067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800"/>
                </a:lnSpc>
                <a:buNone/>
              </a:pPr>
              <a:endParaRPr lang="en-US" sz="11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52" name="Text 8"/>
            <p:cNvSpPr/>
            <p:nvPr/>
          </p:nvSpPr>
          <p:spPr>
            <a:xfrm>
              <a:off x="653721" y="3308787"/>
              <a:ext cx="4235505" cy="223067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>
                <a:lnSpc>
                  <a:spcPts val="1800"/>
                </a:lnSpc>
              </a:pPr>
              <a:r>
                <a:rPr lang="ko-KR" altLang="en-US" sz="1100" dirty="0" smtClean="0">
                  <a:solidFill>
                    <a:srgbClr val="333333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Noto Sans KR" pitchFamily="34" charset="-120"/>
                </a:rPr>
                <a:t>정기</a:t>
              </a:r>
              <a:endParaRPr lang="en-US" sz="110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KR" pitchFamily="34" charset="-120"/>
              </a:endParaRPr>
            </a:p>
          </p:txBody>
        </p:sp>
      </p:grpSp>
      <p:sp>
        <p:nvSpPr>
          <p:cNvPr id="253" name="순서도: 병합 252"/>
          <p:cNvSpPr/>
          <p:nvPr/>
        </p:nvSpPr>
        <p:spPr>
          <a:xfrm>
            <a:off x="8916110" y="5428509"/>
            <a:ext cx="89825" cy="79694"/>
          </a:xfrm>
          <a:prstGeom prst="flowChartMerg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254" name="그룹 253"/>
          <p:cNvGrpSpPr/>
          <p:nvPr/>
        </p:nvGrpSpPr>
        <p:grpSpPr>
          <a:xfrm>
            <a:off x="5979290" y="5959532"/>
            <a:ext cx="1006513" cy="427423"/>
            <a:chOff x="562960" y="3283075"/>
            <a:chExt cx="4350324" cy="248779"/>
          </a:xfrm>
        </p:grpSpPr>
        <p:pic>
          <p:nvPicPr>
            <p:cNvPr id="255" name="Image 12" descr="preencoded.png"/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562960" y="3283075"/>
              <a:ext cx="4350324" cy="195841"/>
            </a:xfrm>
            <a:prstGeom prst="rect">
              <a:avLst/>
            </a:prstGeom>
          </p:spPr>
        </p:pic>
        <p:sp>
          <p:nvSpPr>
            <p:cNvPr id="256" name="Text 8"/>
            <p:cNvSpPr/>
            <p:nvPr/>
          </p:nvSpPr>
          <p:spPr>
            <a:xfrm>
              <a:off x="653721" y="3283075"/>
              <a:ext cx="4235505" cy="223067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800"/>
                </a:lnSpc>
                <a:buNone/>
              </a:pPr>
              <a:endParaRPr lang="en-US" sz="11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57" name="Text 8"/>
            <p:cNvSpPr/>
            <p:nvPr/>
          </p:nvSpPr>
          <p:spPr>
            <a:xfrm>
              <a:off x="653721" y="3308787"/>
              <a:ext cx="4235505" cy="223067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>
                <a:lnSpc>
                  <a:spcPts val="1800"/>
                </a:lnSpc>
              </a:pPr>
              <a:r>
                <a:rPr lang="ko-KR" altLang="en-US" sz="1100" dirty="0" smtClean="0">
                  <a:solidFill>
                    <a:srgbClr val="333333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Noto Sans KR" pitchFamily="34" charset="-120"/>
                </a:rPr>
                <a:t>분</a:t>
              </a:r>
              <a:endParaRPr lang="en-US" sz="110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KR" pitchFamily="34" charset="-120"/>
              </a:endParaRPr>
            </a:p>
          </p:txBody>
        </p:sp>
      </p:grpSp>
      <p:grpSp>
        <p:nvGrpSpPr>
          <p:cNvPr id="259" name="그룹 258"/>
          <p:cNvGrpSpPr/>
          <p:nvPr/>
        </p:nvGrpSpPr>
        <p:grpSpPr>
          <a:xfrm>
            <a:off x="7381139" y="5914995"/>
            <a:ext cx="1718004" cy="427423"/>
            <a:chOff x="562960" y="3283075"/>
            <a:chExt cx="4326266" cy="248779"/>
          </a:xfrm>
        </p:grpSpPr>
        <p:pic>
          <p:nvPicPr>
            <p:cNvPr id="260" name="Image 12" descr="preencoded.png"/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562960" y="3283075"/>
              <a:ext cx="4326266" cy="194758"/>
            </a:xfrm>
            <a:prstGeom prst="rect">
              <a:avLst/>
            </a:prstGeom>
          </p:spPr>
        </p:pic>
        <p:sp>
          <p:nvSpPr>
            <p:cNvPr id="261" name="Text 8"/>
            <p:cNvSpPr/>
            <p:nvPr/>
          </p:nvSpPr>
          <p:spPr>
            <a:xfrm>
              <a:off x="653721" y="3283075"/>
              <a:ext cx="4235505" cy="223067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800"/>
                </a:lnSpc>
                <a:buNone/>
              </a:pPr>
              <a:endParaRPr lang="en-US" sz="11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62" name="Text 8"/>
            <p:cNvSpPr/>
            <p:nvPr/>
          </p:nvSpPr>
          <p:spPr>
            <a:xfrm>
              <a:off x="653721" y="3308787"/>
              <a:ext cx="4235505" cy="223067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>
                <a:lnSpc>
                  <a:spcPts val="1800"/>
                </a:lnSpc>
              </a:pPr>
              <a:r>
                <a:rPr lang="ko-KR" altLang="en-US" sz="1100" dirty="0" smtClean="0">
                  <a:solidFill>
                    <a:srgbClr val="333333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Noto Sans KR" pitchFamily="34" charset="-120"/>
                </a:rPr>
                <a:t>전체 동기화</a:t>
              </a:r>
              <a:endParaRPr lang="en-US" sz="110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KR" pitchFamily="34" charset="-120"/>
              </a:endParaRPr>
            </a:p>
          </p:txBody>
        </p:sp>
      </p:grpSp>
      <p:sp>
        <p:nvSpPr>
          <p:cNvPr id="258" name="순서도: 병합 257"/>
          <p:cNvSpPr/>
          <p:nvPr/>
        </p:nvSpPr>
        <p:spPr>
          <a:xfrm>
            <a:off x="8906553" y="6040853"/>
            <a:ext cx="89825" cy="79694"/>
          </a:xfrm>
          <a:prstGeom prst="flowChartMerg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63" name="순서도: 병합 262"/>
          <p:cNvSpPr/>
          <p:nvPr/>
        </p:nvSpPr>
        <p:spPr>
          <a:xfrm>
            <a:off x="6790319" y="6089078"/>
            <a:ext cx="89825" cy="79694"/>
          </a:xfrm>
          <a:prstGeom prst="flowChartMerg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2" name="타원 161">
            <a:extLst>
              <a:ext uri="{FF2B5EF4-FFF2-40B4-BE49-F238E27FC236}">
                <a16:creationId xmlns:a16="http://schemas.microsoft.com/office/drawing/2014/main" id="{4D9049EB-70D8-4995-9DBA-68C2EE93E2F4}"/>
              </a:ext>
            </a:extLst>
          </p:cNvPr>
          <p:cNvSpPr/>
          <p:nvPr/>
        </p:nvSpPr>
        <p:spPr>
          <a:xfrm>
            <a:off x="510500" y="6363975"/>
            <a:ext cx="183750" cy="178979"/>
          </a:xfrm>
          <a:prstGeom prst="ellipse">
            <a:avLst/>
          </a:prstGeom>
          <a:solidFill>
            <a:srgbClr val="FF0000"/>
          </a:solidFill>
          <a:ln w="15875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sz="10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65" name="타원 264">
            <a:extLst>
              <a:ext uri="{FF2B5EF4-FFF2-40B4-BE49-F238E27FC236}">
                <a16:creationId xmlns:a16="http://schemas.microsoft.com/office/drawing/2014/main" id="{4D9049EB-70D8-4995-9DBA-68C2EE93E2F4}"/>
              </a:ext>
            </a:extLst>
          </p:cNvPr>
          <p:cNvSpPr/>
          <p:nvPr/>
        </p:nvSpPr>
        <p:spPr>
          <a:xfrm>
            <a:off x="8553821" y="5368553"/>
            <a:ext cx="183750" cy="178979"/>
          </a:xfrm>
          <a:prstGeom prst="ellipse">
            <a:avLst/>
          </a:prstGeom>
          <a:solidFill>
            <a:srgbClr val="FF0000"/>
          </a:solidFill>
          <a:ln w="15875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endParaRPr lang="ko-KR" altLang="en-US" sz="10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66" name="타원 265">
            <a:extLst>
              <a:ext uri="{FF2B5EF4-FFF2-40B4-BE49-F238E27FC236}">
                <a16:creationId xmlns:a16="http://schemas.microsoft.com/office/drawing/2014/main" id="{4D9049EB-70D8-4995-9DBA-68C2EE93E2F4}"/>
              </a:ext>
            </a:extLst>
          </p:cNvPr>
          <p:cNvSpPr/>
          <p:nvPr/>
        </p:nvSpPr>
        <p:spPr>
          <a:xfrm>
            <a:off x="8659921" y="5983946"/>
            <a:ext cx="183750" cy="178979"/>
          </a:xfrm>
          <a:prstGeom prst="ellipse">
            <a:avLst/>
          </a:prstGeom>
          <a:solidFill>
            <a:srgbClr val="FF0000"/>
          </a:solidFill>
          <a:ln w="15875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endParaRPr lang="ko-KR" altLang="en-US" sz="10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67" name="타원 266">
            <a:extLst>
              <a:ext uri="{FF2B5EF4-FFF2-40B4-BE49-F238E27FC236}">
                <a16:creationId xmlns:a16="http://schemas.microsoft.com/office/drawing/2014/main" id="{4D9049EB-70D8-4995-9DBA-68C2EE93E2F4}"/>
              </a:ext>
            </a:extLst>
          </p:cNvPr>
          <p:cNvSpPr/>
          <p:nvPr/>
        </p:nvSpPr>
        <p:spPr>
          <a:xfrm>
            <a:off x="6567323" y="6009835"/>
            <a:ext cx="183750" cy="178979"/>
          </a:xfrm>
          <a:prstGeom prst="ellipse">
            <a:avLst/>
          </a:prstGeom>
          <a:solidFill>
            <a:srgbClr val="FF0000"/>
          </a:solidFill>
          <a:ln w="15875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endParaRPr lang="ko-KR" altLang="en-US" sz="10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68" name="타원 267">
            <a:extLst>
              <a:ext uri="{FF2B5EF4-FFF2-40B4-BE49-F238E27FC236}">
                <a16:creationId xmlns:a16="http://schemas.microsoft.com/office/drawing/2014/main" id="{4D9049EB-70D8-4995-9DBA-68C2EE93E2F4}"/>
              </a:ext>
            </a:extLst>
          </p:cNvPr>
          <p:cNvSpPr/>
          <p:nvPr/>
        </p:nvSpPr>
        <p:spPr>
          <a:xfrm>
            <a:off x="6524301" y="6435403"/>
            <a:ext cx="183750" cy="178979"/>
          </a:xfrm>
          <a:prstGeom prst="ellipse">
            <a:avLst/>
          </a:prstGeom>
          <a:solidFill>
            <a:srgbClr val="FF0000"/>
          </a:solidFill>
          <a:ln w="15875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6</a:t>
            </a:r>
            <a:endParaRPr lang="ko-KR" altLang="en-US" sz="10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69" name="타원 268">
            <a:extLst>
              <a:ext uri="{FF2B5EF4-FFF2-40B4-BE49-F238E27FC236}">
                <a16:creationId xmlns:a16="http://schemas.microsoft.com/office/drawing/2014/main" id="{4D9049EB-70D8-4995-9DBA-68C2EE93E2F4}"/>
              </a:ext>
            </a:extLst>
          </p:cNvPr>
          <p:cNvSpPr/>
          <p:nvPr/>
        </p:nvSpPr>
        <p:spPr>
          <a:xfrm>
            <a:off x="5070131" y="4406193"/>
            <a:ext cx="183750" cy="178979"/>
          </a:xfrm>
          <a:prstGeom prst="ellipse">
            <a:avLst/>
          </a:prstGeom>
          <a:solidFill>
            <a:srgbClr val="FF0000"/>
          </a:solidFill>
          <a:ln w="15875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sz="10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9" name="타원 118">
            <a:extLst>
              <a:ext uri="{FF2B5EF4-FFF2-40B4-BE49-F238E27FC236}">
                <a16:creationId xmlns:a16="http://schemas.microsoft.com/office/drawing/2014/main" id="{4D9049EB-70D8-4995-9DBA-68C2EE93E2F4}"/>
              </a:ext>
            </a:extLst>
          </p:cNvPr>
          <p:cNvSpPr/>
          <p:nvPr/>
        </p:nvSpPr>
        <p:spPr>
          <a:xfrm>
            <a:off x="5743637" y="6447842"/>
            <a:ext cx="183750" cy="178979"/>
          </a:xfrm>
          <a:prstGeom prst="ellipse">
            <a:avLst/>
          </a:prstGeom>
          <a:solidFill>
            <a:srgbClr val="FF0000"/>
          </a:solidFill>
          <a:ln w="15875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5</a:t>
            </a:r>
            <a:endParaRPr lang="ko-KR" altLang="en-US" sz="10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0" name="Text 4"/>
          <p:cNvSpPr/>
          <p:nvPr/>
        </p:nvSpPr>
        <p:spPr>
          <a:xfrm>
            <a:off x="1447800" y="1032555"/>
            <a:ext cx="2782491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MySQL 프로덕션 DB</a:t>
            </a:r>
            <a:endParaRPr lang="en-US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4" name="Text 6"/>
          <p:cNvSpPr/>
          <p:nvPr/>
        </p:nvSpPr>
        <p:spPr>
          <a:xfrm>
            <a:off x="1447800" y="1413555"/>
            <a:ext cx="2317254" cy="2189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1200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ID: </a:t>
            </a:r>
            <a:r>
              <a:rPr lang="en-US" altLang="ko-KR" sz="1200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CONN001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5" name="Text 7"/>
          <p:cNvSpPr/>
          <p:nvPr/>
        </p:nvSpPr>
        <p:spPr>
          <a:xfrm>
            <a:off x="1600200" y="1718355"/>
            <a:ext cx="169771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생성일: </a:t>
            </a:r>
            <a:r>
              <a:rPr lang="en-US" sz="1050" dirty="0" smtClean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2025-12-15</a:t>
            </a:r>
            <a:endParaRPr 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6" name="Text 8"/>
          <p:cNvSpPr/>
          <p:nvPr/>
        </p:nvSpPr>
        <p:spPr>
          <a:xfrm>
            <a:off x="3262610" y="1718355"/>
            <a:ext cx="26035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최근 동기화: </a:t>
            </a:r>
            <a:r>
              <a:rPr lang="en-US" sz="1050" dirty="0" smtClean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2025-12-20 </a:t>
            </a:r>
            <a:r>
              <a:rPr lang="en-US" sz="1050" dirty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14:30</a:t>
            </a:r>
            <a:endParaRPr 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7" name="Text 9"/>
          <p:cNvSpPr/>
          <p:nvPr/>
        </p:nvSpPr>
        <p:spPr>
          <a:xfrm>
            <a:off x="5641777" y="1718355"/>
            <a:ext cx="126926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생성자: admin</a:t>
            </a:r>
            <a:endParaRPr 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18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99330" y="6364971"/>
            <a:ext cx="991497" cy="325611"/>
          </a:xfrm>
          <a:prstGeom prst="rect">
            <a:avLst/>
          </a:prstGeom>
        </p:spPr>
      </p:pic>
      <p:sp>
        <p:nvSpPr>
          <p:cNvPr id="128" name="Text 5"/>
          <p:cNvSpPr/>
          <p:nvPr/>
        </p:nvSpPr>
        <p:spPr>
          <a:xfrm>
            <a:off x="7402833" y="6430289"/>
            <a:ext cx="845191" cy="1978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ko-KR" altLang="en-US" sz="1050" dirty="0" err="1" smtClean="0">
                <a:solidFill>
                  <a:srgbClr val="1E40A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매핑정보</a:t>
            </a:r>
            <a:r>
              <a:rPr lang="ko-KR" altLang="en-US" sz="1050" dirty="0" smtClean="0">
                <a:solidFill>
                  <a:srgbClr val="1E40A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050" dirty="0" smtClean="0">
                <a:solidFill>
                  <a:srgbClr val="1E40A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수정</a:t>
            </a:r>
            <a:endParaRPr 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29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72453" y="6364318"/>
            <a:ext cx="959492" cy="325611"/>
          </a:xfrm>
          <a:prstGeom prst="rect">
            <a:avLst/>
          </a:prstGeom>
        </p:spPr>
      </p:pic>
      <p:sp>
        <p:nvSpPr>
          <p:cNvPr id="130" name="Text 5"/>
          <p:cNvSpPr/>
          <p:nvPr/>
        </p:nvSpPr>
        <p:spPr>
          <a:xfrm>
            <a:off x="8486753" y="6429636"/>
            <a:ext cx="845191" cy="1978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ko-KR" altLang="en-US" sz="1050" dirty="0" err="1" smtClean="0">
                <a:solidFill>
                  <a:srgbClr val="1E40A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뱐환정보</a:t>
            </a:r>
            <a:r>
              <a:rPr lang="ko-KR" altLang="en-US" sz="1050" dirty="0" smtClean="0">
                <a:solidFill>
                  <a:srgbClr val="1E40A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050" dirty="0" smtClean="0">
                <a:solidFill>
                  <a:srgbClr val="1E40A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수정</a:t>
            </a:r>
            <a:endParaRPr 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1" name="타원 130">
            <a:extLst>
              <a:ext uri="{FF2B5EF4-FFF2-40B4-BE49-F238E27FC236}">
                <a16:creationId xmlns:a16="http://schemas.microsoft.com/office/drawing/2014/main" id="{4D9049EB-70D8-4995-9DBA-68C2EE93E2F4}"/>
              </a:ext>
            </a:extLst>
          </p:cNvPr>
          <p:cNvSpPr/>
          <p:nvPr/>
        </p:nvSpPr>
        <p:spPr>
          <a:xfrm>
            <a:off x="7697391" y="6287175"/>
            <a:ext cx="183750" cy="178979"/>
          </a:xfrm>
          <a:prstGeom prst="ellipse">
            <a:avLst/>
          </a:prstGeom>
          <a:solidFill>
            <a:srgbClr val="FF0000"/>
          </a:solidFill>
          <a:ln w="15875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7</a:t>
            </a:r>
            <a:endParaRPr lang="ko-KR" altLang="en-US" sz="10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2" name="타원 131">
            <a:extLst>
              <a:ext uri="{FF2B5EF4-FFF2-40B4-BE49-F238E27FC236}">
                <a16:creationId xmlns:a16="http://schemas.microsoft.com/office/drawing/2014/main" id="{4D9049EB-70D8-4995-9DBA-68C2EE93E2F4}"/>
              </a:ext>
            </a:extLst>
          </p:cNvPr>
          <p:cNvSpPr/>
          <p:nvPr/>
        </p:nvSpPr>
        <p:spPr>
          <a:xfrm>
            <a:off x="8732360" y="6259006"/>
            <a:ext cx="183750" cy="178979"/>
          </a:xfrm>
          <a:prstGeom prst="ellipse">
            <a:avLst/>
          </a:prstGeom>
          <a:solidFill>
            <a:srgbClr val="FF0000"/>
          </a:solidFill>
          <a:ln w="15875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8</a:t>
            </a:r>
            <a:endParaRPr lang="ko-KR" altLang="en-US" sz="10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03314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800100"/>
            <a:ext cx="762000" cy="38100"/>
          </a:xfrm>
          <a:prstGeom prst="rect">
            <a:avLst/>
          </a:prstGeom>
        </p:spPr>
      </p:pic>
      <p:sp>
        <p:nvSpPr>
          <p:cNvPr id="46" name="Text 0"/>
          <p:cNvSpPr/>
          <p:nvPr/>
        </p:nvSpPr>
        <p:spPr>
          <a:xfrm>
            <a:off x="381000" y="381000"/>
            <a:ext cx="114300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700"/>
              </a:lnSpc>
            </a:pPr>
            <a:r>
              <a:rPr lang="ko-KR" altLang="en-US" sz="2250" b="1" dirty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커넥션 상세 정보</a:t>
            </a:r>
          </a:p>
        </p:txBody>
      </p:sp>
      <p:pic>
        <p:nvPicPr>
          <p:cNvPr id="67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999" y="942850"/>
            <a:ext cx="9249040" cy="1104900"/>
          </a:xfrm>
          <a:prstGeom prst="rect">
            <a:avLst/>
          </a:prstGeom>
        </p:spPr>
      </p:pic>
      <p:pic>
        <p:nvPicPr>
          <p:cNvPr id="68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032555"/>
            <a:ext cx="609600" cy="609600"/>
          </a:xfrm>
          <a:prstGeom prst="rect">
            <a:avLst/>
          </a:prstGeom>
        </p:spPr>
      </p:pic>
      <p:pic>
        <p:nvPicPr>
          <p:cNvPr id="69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0575" y="1165905"/>
            <a:ext cx="247650" cy="342900"/>
          </a:xfrm>
          <a:prstGeom prst="rect">
            <a:avLst/>
          </a:prstGeom>
        </p:spPr>
      </p:pic>
      <p:pic>
        <p:nvPicPr>
          <p:cNvPr id="70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80842" y="1051605"/>
            <a:ext cx="686544" cy="266700"/>
          </a:xfrm>
          <a:prstGeom prst="rect">
            <a:avLst/>
          </a:prstGeom>
        </p:spPr>
      </p:pic>
      <p:pic>
        <p:nvPicPr>
          <p:cNvPr id="71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47800" y="1746930"/>
            <a:ext cx="114300" cy="133350"/>
          </a:xfrm>
          <a:prstGeom prst="rect">
            <a:avLst/>
          </a:prstGeom>
        </p:spPr>
      </p:pic>
      <p:pic>
        <p:nvPicPr>
          <p:cNvPr id="72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91160" y="1746930"/>
            <a:ext cx="133350" cy="133350"/>
          </a:xfrm>
          <a:prstGeom prst="rect">
            <a:avLst/>
          </a:prstGeom>
        </p:spPr>
      </p:pic>
      <p:pic>
        <p:nvPicPr>
          <p:cNvPr id="73" name="Image 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89377" y="1746930"/>
            <a:ext cx="114300" cy="133350"/>
          </a:xfrm>
          <a:prstGeom prst="rect">
            <a:avLst/>
          </a:prstGeom>
        </p:spPr>
      </p:pic>
      <p:sp>
        <p:nvSpPr>
          <p:cNvPr id="74" name="Text 4"/>
          <p:cNvSpPr/>
          <p:nvPr/>
        </p:nvSpPr>
        <p:spPr>
          <a:xfrm>
            <a:off x="1447800" y="1032555"/>
            <a:ext cx="2782491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MySQL 프로덕션 DB</a:t>
            </a:r>
            <a:endParaRPr lang="en-US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5" name="Text 5"/>
          <p:cNvSpPr/>
          <p:nvPr/>
        </p:nvSpPr>
        <p:spPr>
          <a:xfrm>
            <a:off x="3995142" y="1051605"/>
            <a:ext cx="82385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1E40A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MySQL</a:t>
            </a:r>
            <a:endParaRPr 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6" name="Text 6"/>
          <p:cNvSpPr/>
          <p:nvPr/>
        </p:nvSpPr>
        <p:spPr>
          <a:xfrm>
            <a:off x="1447800" y="1413555"/>
            <a:ext cx="2317254" cy="2189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1200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ID: </a:t>
            </a:r>
            <a:r>
              <a:rPr lang="en-US" altLang="ko-KR" sz="1200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CONN001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7" name="Text 7"/>
          <p:cNvSpPr/>
          <p:nvPr/>
        </p:nvSpPr>
        <p:spPr>
          <a:xfrm>
            <a:off x="1600200" y="1718355"/>
            <a:ext cx="169771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생성일: </a:t>
            </a:r>
            <a:r>
              <a:rPr lang="en-US" sz="1050" dirty="0" smtClean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2025-12-15</a:t>
            </a:r>
            <a:endParaRPr 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8" name="Text 8"/>
          <p:cNvSpPr/>
          <p:nvPr/>
        </p:nvSpPr>
        <p:spPr>
          <a:xfrm>
            <a:off x="3262610" y="1718355"/>
            <a:ext cx="26035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최근 동기화: </a:t>
            </a:r>
            <a:r>
              <a:rPr lang="en-US" sz="1050" dirty="0" smtClean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2025-12-20 </a:t>
            </a:r>
            <a:r>
              <a:rPr lang="en-US" sz="1050" dirty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14:30</a:t>
            </a:r>
            <a:endParaRPr 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9" name="Text 9"/>
          <p:cNvSpPr/>
          <p:nvPr/>
        </p:nvSpPr>
        <p:spPr>
          <a:xfrm>
            <a:off x="5641777" y="1718355"/>
            <a:ext cx="126926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생성자: admin</a:t>
            </a:r>
            <a:endParaRPr 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80" name="Image 1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1000" y="1995650"/>
            <a:ext cx="8971344" cy="457200"/>
          </a:xfrm>
          <a:prstGeom prst="rect">
            <a:avLst/>
          </a:prstGeom>
        </p:spPr>
      </p:pic>
      <p:pic>
        <p:nvPicPr>
          <p:cNvPr id="83" name="Image 18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20118" y="1995650"/>
            <a:ext cx="1077218" cy="457200"/>
          </a:xfrm>
          <a:prstGeom prst="rect">
            <a:avLst/>
          </a:prstGeom>
        </p:spPr>
      </p:pic>
      <p:pic>
        <p:nvPicPr>
          <p:cNvPr id="85" name="Image 20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497336" y="1995650"/>
            <a:ext cx="1039118" cy="457200"/>
          </a:xfrm>
          <a:prstGeom prst="rect">
            <a:avLst/>
          </a:prstGeom>
        </p:spPr>
      </p:pic>
      <p:pic>
        <p:nvPicPr>
          <p:cNvPr id="87" name="Image 22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536454" y="1995650"/>
            <a:ext cx="1343918" cy="457200"/>
          </a:xfrm>
          <a:prstGeom prst="rect">
            <a:avLst/>
          </a:prstGeom>
        </p:spPr>
      </p:pic>
      <p:pic>
        <p:nvPicPr>
          <p:cNvPr id="89" name="Image 2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880372" y="1995650"/>
            <a:ext cx="1001018" cy="457200"/>
          </a:xfrm>
          <a:prstGeom prst="rect">
            <a:avLst/>
          </a:prstGeom>
        </p:spPr>
      </p:pic>
      <p:pic>
        <p:nvPicPr>
          <p:cNvPr id="90" name="Image 2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108972" y="2138525"/>
            <a:ext cx="114300" cy="152400"/>
          </a:xfrm>
          <a:prstGeom prst="rect">
            <a:avLst/>
          </a:prstGeom>
        </p:spPr>
      </p:pic>
      <p:sp>
        <p:nvSpPr>
          <p:cNvPr id="121" name="Text 12"/>
          <p:cNvSpPr/>
          <p:nvPr/>
        </p:nvSpPr>
        <p:spPr>
          <a:xfrm>
            <a:off x="2919204" y="2129000"/>
            <a:ext cx="423982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1800"/>
              </a:lnSpc>
            </a:pPr>
            <a:r>
              <a:rPr lang="en-US" sz="1200" dirty="0">
                <a:solidFill>
                  <a:srgbClr val="2563E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 이력</a:t>
            </a:r>
          </a:p>
        </p:txBody>
      </p:sp>
      <p:sp>
        <p:nvSpPr>
          <p:cNvPr id="123" name="Text 14"/>
          <p:cNvSpPr/>
          <p:nvPr/>
        </p:nvSpPr>
        <p:spPr>
          <a:xfrm>
            <a:off x="5264140" y="2129000"/>
            <a:ext cx="423982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 로그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59" name="Image 55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784876" y="915426"/>
            <a:ext cx="2332710" cy="4960961"/>
          </a:xfrm>
          <a:prstGeom prst="rect">
            <a:avLst/>
          </a:prstGeom>
        </p:spPr>
      </p:pic>
      <p:sp>
        <p:nvSpPr>
          <p:cNvPr id="160" name="Text 46"/>
          <p:cNvSpPr/>
          <p:nvPr/>
        </p:nvSpPr>
        <p:spPr>
          <a:xfrm>
            <a:off x="9828269" y="674541"/>
            <a:ext cx="1982731" cy="24088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 smtClean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UI </a:t>
            </a:r>
            <a:r>
              <a:rPr lang="ko-KR" altLang="en-US" sz="1350" b="1" dirty="0" smtClean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설명</a:t>
            </a:r>
            <a:r>
              <a:rPr lang="en-US" sz="1350" b="1" dirty="0" smtClean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en-US" sz="1350" b="1" dirty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영역</a:t>
            </a:r>
            <a:endParaRPr lang="en-US" sz="1350" dirty="0"/>
          </a:p>
        </p:txBody>
      </p:sp>
      <p:sp>
        <p:nvSpPr>
          <p:cNvPr id="161" name="Text 20"/>
          <p:cNvSpPr/>
          <p:nvPr/>
        </p:nvSpPr>
        <p:spPr>
          <a:xfrm>
            <a:off x="9812312" y="967252"/>
            <a:ext cx="2249583" cy="490913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200"/>
              </a:lnSpc>
            </a:pP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1.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커넥션 관련된 이력 목록 표출</a:t>
            </a:r>
            <a:endParaRPr lang="en-US" altLang="ko-KR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endParaRPr lang="en-US" altLang="ko-KR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2.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항목 선택 </a:t>
            </a: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–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전체</a:t>
            </a: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,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동기화</a:t>
            </a: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,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설정 변경</a:t>
            </a:r>
            <a:endParaRPr lang="en-US" altLang="ko-KR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endParaRPr lang="en-US" altLang="ko-KR" sz="1000" dirty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3.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엑셀로 다운로드 기능 </a:t>
            </a:r>
            <a:endParaRPr lang="en-US" altLang="ko-KR" sz="1000" dirty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</p:txBody>
      </p:sp>
      <p:pic>
        <p:nvPicPr>
          <p:cNvPr id="104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81000" y="2007242"/>
            <a:ext cx="1039118" cy="457200"/>
          </a:xfrm>
          <a:prstGeom prst="rect">
            <a:avLst/>
          </a:prstGeom>
        </p:spPr>
      </p:pic>
      <p:pic>
        <p:nvPicPr>
          <p:cNvPr id="166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09600" y="2150117"/>
            <a:ext cx="152400" cy="152400"/>
          </a:xfrm>
          <a:prstGeom prst="rect">
            <a:avLst/>
          </a:prstGeom>
        </p:spPr>
      </p:pic>
      <p:sp>
        <p:nvSpPr>
          <p:cNvPr id="169" name="Text 10"/>
          <p:cNvSpPr/>
          <p:nvPr/>
        </p:nvSpPr>
        <p:spPr>
          <a:xfrm>
            <a:off x="802868" y="2140592"/>
            <a:ext cx="423982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 개요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18" name="Image 1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648718" y="2138525"/>
            <a:ext cx="190500" cy="152400"/>
          </a:xfrm>
          <a:prstGeom prst="rect">
            <a:avLst/>
          </a:prstGeom>
        </p:spPr>
      </p:pic>
      <p:sp>
        <p:nvSpPr>
          <p:cNvPr id="119" name="Text 11"/>
          <p:cNvSpPr/>
          <p:nvPr/>
        </p:nvSpPr>
        <p:spPr>
          <a:xfrm>
            <a:off x="1880086" y="2129000"/>
            <a:ext cx="423982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 설정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55" name="Image 23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765054" y="2138525"/>
            <a:ext cx="152400" cy="152400"/>
          </a:xfrm>
          <a:prstGeom prst="rect">
            <a:avLst/>
          </a:prstGeom>
        </p:spPr>
      </p:pic>
      <p:sp>
        <p:nvSpPr>
          <p:cNvPr id="156" name="Text 13"/>
          <p:cNvSpPr/>
          <p:nvPr/>
        </p:nvSpPr>
        <p:spPr>
          <a:xfrm>
            <a:off x="3927842" y="2129000"/>
            <a:ext cx="789742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 모니터링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57" name="Image 21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736600" y="2129159"/>
            <a:ext cx="169317" cy="169317"/>
          </a:xfrm>
          <a:prstGeom prst="rect">
            <a:avLst/>
          </a:prstGeom>
        </p:spPr>
      </p:pic>
      <p:pic>
        <p:nvPicPr>
          <p:cNvPr id="158" name="Image 18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519716" y="2326514"/>
            <a:ext cx="1077218" cy="137927"/>
          </a:xfrm>
          <a:prstGeom prst="rect">
            <a:avLst/>
          </a:prstGeom>
        </p:spPr>
      </p:pic>
      <p:pic>
        <p:nvPicPr>
          <p:cNvPr id="163" name="Image 26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81000" y="2530055"/>
            <a:ext cx="9249039" cy="3328988"/>
          </a:xfrm>
          <a:prstGeom prst="rect">
            <a:avLst/>
          </a:prstGeom>
        </p:spPr>
      </p:pic>
      <p:pic>
        <p:nvPicPr>
          <p:cNvPr id="164" name="Image 27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26650" y="2728375"/>
            <a:ext cx="171450" cy="171450"/>
          </a:xfrm>
          <a:prstGeom prst="rect">
            <a:avLst/>
          </a:prstGeom>
        </p:spPr>
      </p:pic>
      <p:pic>
        <p:nvPicPr>
          <p:cNvPr id="165" name="Image 35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096628" y="3493538"/>
            <a:ext cx="476250" cy="190500"/>
          </a:xfrm>
          <a:prstGeom prst="rect">
            <a:avLst/>
          </a:prstGeom>
        </p:spPr>
      </p:pic>
      <p:pic>
        <p:nvPicPr>
          <p:cNvPr id="174" name="Image 36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153778" y="3512588"/>
            <a:ext cx="114300" cy="152400"/>
          </a:xfrm>
          <a:prstGeom prst="rect">
            <a:avLst/>
          </a:prstGeom>
        </p:spPr>
      </p:pic>
      <p:pic>
        <p:nvPicPr>
          <p:cNvPr id="175" name="Image 38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096628" y="3893575"/>
            <a:ext cx="590550" cy="190500"/>
          </a:xfrm>
          <a:prstGeom prst="rect">
            <a:avLst/>
          </a:prstGeom>
        </p:spPr>
      </p:pic>
      <p:pic>
        <p:nvPicPr>
          <p:cNvPr id="178" name="Image 39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153778" y="3912625"/>
            <a:ext cx="114300" cy="152400"/>
          </a:xfrm>
          <a:prstGeom prst="rect">
            <a:avLst/>
          </a:prstGeom>
        </p:spPr>
      </p:pic>
      <p:pic>
        <p:nvPicPr>
          <p:cNvPr id="179" name="Image 41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096628" y="4243916"/>
            <a:ext cx="476250" cy="190500"/>
          </a:xfrm>
          <a:prstGeom prst="rect">
            <a:avLst/>
          </a:prstGeom>
        </p:spPr>
      </p:pic>
      <p:pic>
        <p:nvPicPr>
          <p:cNvPr id="180" name="Image 42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8153778" y="4262966"/>
            <a:ext cx="114300" cy="152400"/>
          </a:xfrm>
          <a:prstGeom prst="rect">
            <a:avLst/>
          </a:prstGeom>
        </p:spPr>
      </p:pic>
      <p:pic>
        <p:nvPicPr>
          <p:cNvPr id="181" name="Image 44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8096628" y="4594257"/>
            <a:ext cx="476250" cy="190500"/>
          </a:xfrm>
          <a:prstGeom prst="rect">
            <a:avLst/>
          </a:prstGeom>
        </p:spPr>
      </p:pic>
      <p:pic>
        <p:nvPicPr>
          <p:cNvPr id="182" name="Image 45" descr="preencoded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8153778" y="4613307"/>
            <a:ext cx="114300" cy="152400"/>
          </a:xfrm>
          <a:prstGeom prst="rect">
            <a:avLst/>
          </a:prstGeom>
        </p:spPr>
      </p:pic>
      <p:pic>
        <p:nvPicPr>
          <p:cNvPr id="184" name="Image 47" descr="preencoded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096628" y="4944599"/>
            <a:ext cx="476250" cy="190500"/>
          </a:xfrm>
          <a:prstGeom prst="rect">
            <a:avLst/>
          </a:prstGeom>
        </p:spPr>
      </p:pic>
      <p:pic>
        <p:nvPicPr>
          <p:cNvPr id="189" name="Image 48" descr="preencoded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8153778" y="4963649"/>
            <a:ext cx="114300" cy="152400"/>
          </a:xfrm>
          <a:prstGeom prst="rect">
            <a:avLst/>
          </a:prstGeom>
        </p:spPr>
      </p:pic>
      <p:pic>
        <p:nvPicPr>
          <p:cNvPr id="204" name="Image 52" descr="preencoded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8345579" y="5300745"/>
            <a:ext cx="190500" cy="190500"/>
          </a:xfrm>
          <a:prstGeom prst="rect">
            <a:avLst/>
          </a:prstGeom>
        </p:spPr>
      </p:pic>
      <p:pic>
        <p:nvPicPr>
          <p:cNvPr id="205" name="Image 53" descr="preencoded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8574179" y="5300745"/>
            <a:ext cx="190500" cy="190500"/>
          </a:xfrm>
          <a:prstGeom prst="rect">
            <a:avLst/>
          </a:prstGeom>
        </p:spPr>
      </p:pic>
      <p:pic>
        <p:nvPicPr>
          <p:cNvPr id="208" name="Image 56" descr="preencoded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9088529" y="5319795"/>
            <a:ext cx="76200" cy="152400"/>
          </a:xfrm>
          <a:prstGeom prst="rect">
            <a:avLst/>
          </a:prstGeom>
        </p:spPr>
      </p:pic>
      <p:sp>
        <p:nvSpPr>
          <p:cNvPr id="209" name="Text 15"/>
          <p:cNvSpPr/>
          <p:nvPr/>
        </p:nvSpPr>
        <p:spPr>
          <a:xfrm>
            <a:off x="774300" y="2699800"/>
            <a:ext cx="250709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1F293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 변경 이력 및 실행 기록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10" name="Text 17"/>
          <p:cNvSpPr/>
          <p:nvPr/>
        </p:nvSpPr>
        <p:spPr>
          <a:xfrm>
            <a:off x="734261" y="3120556"/>
            <a:ext cx="592316" cy="2437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00" kern="0" spc="36" dirty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타입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11" name="Text 18"/>
          <p:cNvSpPr/>
          <p:nvPr/>
        </p:nvSpPr>
        <p:spPr>
          <a:xfrm>
            <a:off x="2270228" y="3120556"/>
            <a:ext cx="1201989" cy="23604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ko-KR" altLang="en-US" sz="1100" kern="0" spc="36" dirty="0" smtClean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실행 </a:t>
            </a:r>
            <a:r>
              <a:rPr lang="en-US" sz="1100" kern="0" spc="36" dirty="0" err="1" smtClean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시간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15" name="Text 19"/>
          <p:cNvSpPr/>
          <p:nvPr/>
        </p:nvSpPr>
        <p:spPr>
          <a:xfrm>
            <a:off x="5206742" y="3120556"/>
            <a:ext cx="1417255" cy="23604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00" kern="0" spc="36" dirty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이벤트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32" name="Text 20"/>
          <p:cNvSpPr/>
          <p:nvPr/>
        </p:nvSpPr>
        <p:spPr>
          <a:xfrm>
            <a:off x="8189938" y="3120556"/>
            <a:ext cx="666750" cy="21256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00" kern="0" spc="36" dirty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상태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34" name="Text 23"/>
          <p:cNvSpPr/>
          <p:nvPr/>
        </p:nvSpPr>
        <p:spPr>
          <a:xfrm>
            <a:off x="2060621" y="3453787"/>
            <a:ext cx="1475833" cy="35034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100" dirty="0" smtClean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2025-12-20 14:30:00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35" name="Text 24"/>
          <p:cNvSpPr/>
          <p:nvPr/>
        </p:nvSpPr>
        <p:spPr>
          <a:xfrm>
            <a:off x="4666304" y="3453787"/>
            <a:ext cx="2320905" cy="35034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정기 동기화 실행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36" name="Text 25"/>
          <p:cNvSpPr/>
          <p:nvPr/>
        </p:nvSpPr>
        <p:spPr>
          <a:xfrm>
            <a:off x="8287128" y="3493538"/>
            <a:ext cx="4762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100" dirty="0">
                <a:solidFill>
                  <a:srgbClr val="16653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성공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43" name="Text 28"/>
          <p:cNvSpPr/>
          <p:nvPr/>
        </p:nvSpPr>
        <p:spPr>
          <a:xfrm>
            <a:off x="2060621" y="3804129"/>
            <a:ext cx="1564475" cy="35034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100" dirty="0" smtClean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2025-12-19 16:45:05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64" name="Text 29"/>
          <p:cNvSpPr/>
          <p:nvPr/>
        </p:nvSpPr>
        <p:spPr>
          <a:xfrm>
            <a:off x="4666304" y="3804129"/>
            <a:ext cx="2320905" cy="35034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동기화 주기 변경 (2시간 → 1시간)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70" name="Text 30"/>
          <p:cNvSpPr/>
          <p:nvPr/>
        </p:nvSpPr>
        <p:spPr>
          <a:xfrm>
            <a:off x="8287128" y="3893575"/>
            <a:ext cx="5905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적용됨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72" name="Text 33"/>
          <p:cNvSpPr/>
          <p:nvPr/>
        </p:nvSpPr>
        <p:spPr>
          <a:xfrm>
            <a:off x="2060621" y="4154470"/>
            <a:ext cx="1564475" cy="35034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100" dirty="0" smtClean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2025-12-19 14:00:20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73" name="Text 34"/>
          <p:cNvSpPr/>
          <p:nvPr/>
        </p:nvSpPr>
        <p:spPr>
          <a:xfrm>
            <a:off x="4666304" y="4154470"/>
            <a:ext cx="2320905" cy="35034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정기 동기화 실행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74" name="Text 35"/>
          <p:cNvSpPr/>
          <p:nvPr/>
        </p:nvSpPr>
        <p:spPr>
          <a:xfrm>
            <a:off x="8287128" y="4243916"/>
            <a:ext cx="4762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100" dirty="0">
                <a:solidFill>
                  <a:srgbClr val="16653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성공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76" name="Text 38"/>
          <p:cNvSpPr/>
          <p:nvPr/>
        </p:nvSpPr>
        <p:spPr>
          <a:xfrm>
            <a:off x="2060621" y="4504812"/>
            <a:ext cx="1564475" cy="35034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100" dirty="0" smtClean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2025-12-19 12:00:20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77" name="Text 39"/>
          <p:cNvSpPr/>
          <p:nvPr/>
        </p:nvSpPr>
        <p:spPr>
          <a:xfrm>
            <a:off x="4666304" y="4504812"/>
            <a:ext cx="2320905" cy="35034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정기 동기화 실행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78" name="Text 40"/>
          <p:cNvSpPr/>
          <p:nvPr/>
        </p:nvSpPr>
        <p:spPr>
          <a:xfrm>
            <a:off x="8287128" y="4594257"/>
            <a:ext cx="4762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100" dirty="0">
                <a:solidFill>
                  <a:srgbClr val="991B1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실패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80" name="Text 43"/>
          <p:cNvSpPr/>
          <p:nvPr/>
        </p:nvSpPr>
        <p:spPr>
          <a:xfrm>
            <a:off x="2060621" y="4855153"/>
            <a:ext cx="1564475" cy="35034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100" dirty="0" smtClean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2025-12-15 10:20:48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81" name="Text 44"/>
          <p:cNvSpPr/>
          <p:nvPr/>
        </p:nvSpPr>
        <p:spPr>
          <a:xfrm>
            <a:off x="4666304" y="4855153"/>
            <a:ext cx="2320905" cy="35034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커넥션 생성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82" name="Text 45"/>
          <p:cNvSpPr/>
          <p:nvPr/>
        </p:nvSpPr>
        <p:spPr>
          <a:xfrm>
            <a:off x="8287128" y="4944599"/>
            <a:ext cx="4762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완료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85" name="Image 54" descr="preencoded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8802779" y="5312913"/>
            <a:ext cx="190500" cy="190500"/>
          </a:xfrm>
          <a:prstGeom prst="rect">
            <a:avLst/>
          </a:prstGeom>
        </p:spPr>
      </p:pic>
      <p:sp>
        <p:nvSpPr>
          <p:cNvPr id="284" name="Text 53"/>
          <p:cNvSpPr/>
          <p:nvPr/>
        </p:nvSpPr>
        <p:spPr>
          <a:xfrm>
            <a:off x="8625683" y="5308220"/>
            <a:ext cx="87332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1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83" name="Text 54"/>
          <p:cNvSpPr/>
          <p:nvPr/>
        </p:nvSpPr>
        <p:spPr>
          <a:xfrm>
            <a:off x="8854288" y="5319795"/>
            <a:ext cx="87332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2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86" name="타원 285">
            <a:extLst>
              <a:ext uri="{FF2B5EF4-FFF2-40B4-BE49-F238E27FC236}">
                <a16:creationId xmlns:a16="http://schemas.microsoft.com/office/drawing/2014/main" id="{4D9049EB-70D8-4995-9DBA-68C2EE93E2F4}"/>
              </a:ext>
            </a:extLst>
          </p:cNvPr>
          <p:cNvSpPr/>
          <p:nvPr/>
        </p:nvSpPr>
        <p:spPr>
          <a:xfrm>
            <a:off x="289125" y="2728375"/>
            <a:ext cx="183750" cy="178979"/>
          </a:xfrm>
          <a:prstGeom prst="ellipse">
            <a:avLst/>
          </a:prstGeom>
          <a:solidFill>
            <a:srgbClr val="FF0000"/>
          </a:solidFill>
          <a:ln w="15875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sz="10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86" name="Image 43" descr="preencoded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 flipV="1">
            <a:off x="609601" y="3031778"/>
            <a:ext cx="8347788" cy="320247"/>
          </a:xfrm>
          <a:prstGeom prst="rect">
            <a:avLst/>
          </a:prstGeom>
        </p:spPr>
      </p:pic>
      <p:sp>
        <p:nvSpPr>
          <p:cNvPr id="91" name="Text 23"/>
          <p:cNvSpPr/>
          <p:nvPr/>
        </p:nvSpPr>
        <p:spPr>
          <a:xfrm>
            <a:off x="676682" y="3463726"/>
            <a:ext cx="617123" cy="23025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ko-KR" altLang="en-US" sz="1100" dirty="0" smtClean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동기화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2" name="Text 23"/>
          <p:cNvSpPr/>
          <p:nvPr/>
        </p:nvSpPr>
        <p:spPr>
          <a:xfrm>
            <a:off x="716438" y="3788527"/>
            <a:ext cx="617123" cy="23025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ko-KR" altLang="en-US" sz="1100" smtClean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변경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3" name="Text 23"/>
          <p:cNvSpPr/>
          <p:nvPr/>
        </p:nvSpPr>
        <p:spPr>
          <a:xfrm>
            <a:off x="685800" y="4114334"/>
            <a:ext cx="617123" cy="23025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ko-KR" altLang="en-US" sz="1100" dirty="0" smtClean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동기화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4" name="Text 23"/>
          <p:cNvSpPr/>
          <p:nvPr/>
        </p:nvSpPr>
        <p:spPr>
          <a:xfrm>
            <a:off x="685800" y="4481260"/>
            <a:ext cx="617123" cy="23025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ko-KR" altLang="en-US" sz="1100" dirty="0" smtClean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동기화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5" name="Text 23"/>
          <p:cNvSpPr/>
          <p:nvPr/>
        </p:nvSpPr>
        <p:spPr>
          <a:xfrm>
            <a:off x="725556" y="4793647"/>
            <a:ext cx="617123" cy="23025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ko-KR" altLang="en-US" sz="1100" dirty="0" smtClean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생성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01" name="Image 30" descr="preencoded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8223238" y="2757538"/>
            <a:ext cx="798463" cy="228600"/>
          </a:xfrm>
          <a:prstGeom prst="rect">
            <a:avLst/>
          </a:prstGeom>
        </p:spPr>
      </p:pic>
      <p:pic>
        <p:nvPicPr>
          <p:cNvPr id="102" name="Image 31" descr="preencoded.pn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8299438" y="2795638"/>
            <a:ext cx="114300" cy="152400"/>
          </a:xfrm>
          <a:prstGeom prst="rect">
            <a:avLst/>
          </a:prstGeom>
        </p:spPr>
      </p:pic>
      <p:sp>
        <p:nvSpPr>
          <p:cNvPr id="103" name="Text 16"/>
          <p:cNvSpPr/>
          <p:nvPr/>
        </p:nvSpPr>
        <p:spPr>
          <a:xfrm>
            <a:off x="8402472" y="2805163"/>
            <a:ext cx="592395" cy="1333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 </a:t>
            </a:r>
            <a:r>
              <a:rPr lang="ko-KR" altLang="en-US" sz="900" dirty="0" smtClean="0">
                <a:solidFill>
                  <a:srgbClr val="37415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다운로드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6" name="타원 105">
            <a:extLst>
              <a:ext uri="{FF2B5EF4-FFF2-40B4-BE49-F238E27FC236}">
                <a16:creationId xmlns:a16="http://schemas.microsoft.com/office/drawing/2014/main" id="{4D9049EB-70D8-4995-9DBA-68C2EE93E2F4}"/>
              </a:ext>
            </a:extLst>
          </p:cNvPr>
          <p:cNvSpPr/>
          <p:nvPr/>
        </p:nvSpPr>
        <p:spPr>
          <a:xfrm>
            <a:off x="8413738" y="2616659"/>
            <a:ext cx="183750" cy="178979"/>
          </a:xfrm>
          <a:prstGeom prst="ellipse">
            <a:avLst/>
          </a:prstGeom>
          <a:solidFill>
            <a:srgbClr val="FF0000"/>
          </a:solidFill>
          <a:ln w="15875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endParaRPr lang="ko-KR" altLang="en-US" sz="10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07" name="Image 18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547878" y="2055470"/>
            <a:ext cx="1077218" cy="408972"/>
          </a:xfrm>
          <a:prstGeom prst="rect">
            <a:avLst/>
          </a:prstGeom>
        </p:spPr>
      </p:pic>
      <p:pic>
        <p:nvPicPr>
          <p:cNvPr id="109" name="Image 28" descr="preencoded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7039701" y="2778505"/>
            <a:ext cx="1104900" cy="190500"/>
          </a:xfrm>
          <a:prstGeom prst="rect">
            <a:avLst/>
          </a:prstGeom>
        </p:spPr>
      </p:pic>
      <p:pic>
        <p:nvPicPr>
          <p:cNvPr id="110" name="Image 29" descr="preencoded.pn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8001726" y="2788030"/>
            <a:ext cx="104775" cy="152400"/>
          </a:xfrm>
          <a:prstGeom prst="rect">
            <a:avLst/>
          </a:prstGeom>
        </p:spPr>
      </p:pic>
      <p:sp>
        <p:nvSpPr>
          <p:cNvPr id="98" name="Text 8"/>
          <p:cNvSpPr/>
          <p:nvPr/>
        </p:nvSpPr>
        <p:spPr>
          <a:xfrm>
            <a:off x="7204424" y="2348633"/>
            <a:ext cx="979948" cy="2673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9" name="Text 8"/>
          <p:cNvSpPr/>
          <p:nvPr/>
        </p:nvSpPr>
        <p:spPr>
          <a:xfrm>
            <a:off x="7281287" y="2756721"/>
            <a:ext cx="979948" cy="2673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ko-KR" altLang="en-US" sz="1100" dirty="0" smtClean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KR" pitchFamily="34" charset="-120"/>
              </a:rPr>
              <a:t>전체</a:t>
            </a:r>
            <a:endParaRPr lang="en-US" sz="1100" dirty="0">
              <a:solidFill>
                <a:srgbClr val="333333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KR" pitchFamily="34" charset="-120"/>
            </a:endParaRPr>
          </a:p>
        </p:txBody>
      </p:sp>
      <p:sp>
        <p:nvSpPr>
          <p:cNvPr id="105" name="타원 104">
            <a:extLst>
              <a:ext uri="{FF2B5EF4-FFF2-40B4-BE49-F238E27FC236}">
                <a16:creationId xmlns:a16="http://schemas.microsoft.com/office/drawing/2014/main" id="{4D9049EB-70D8-4995-9DBA-68C2EE93E2F4}"/>
              </a:ext>
            </a:extLst>
          </p:cNvPr>
          <p:cNvSpPr/>
          <p:nvPr/>
        </p:nvSpPr>
        <p:spPr>
          <a:xfrm>
            <a:off x="7288816" y="2626555"/>
            <a:ext cx="183750" cy="178979"/>
          </a:xfrm>
          <a:prstGeom prst="ellipse">
            <a:avLst/>
          </a:prstGeom>
          <a:solidFill>
            <a:srgbClr val="FF0000"/>
          </a:solidFill>
          <a:ln w="15875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endParaRPr lang="ko-KR" altLang="en-US" sz="10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84341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800100"/>
            <a:ext cx="762000" cy="38100"/>
          </a:xfrm>
          <a:prstGeom prst="rect">
            <a:avLst/>
          </a:prstGeom>
        </p:spPr>
      </p:pic>
      <p:sp>
        <p:nvSpPr>
          <p:cNvPr id="46" name="Text 0"/>
          <p:cNvSpPr/>
          <p:nvPr/>
        </p:nvSpPr>
        <p:spPr>
          <a:xfrm>
            <a:off x="381000" y="381000"/>
            <a:ext cx="114300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700"/>
              </a:lnSpc>
            </a:pPr>
            <a:r>
              <a:rPr lang="ko-KR" altLang="en-US" sz="2250" b="1" dirty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커넥션 상세 정보</a:t>
            </a:r>
          </a:p>
        </p:txBody>
      </p:sp>
      <p:pic>
        <p:nvPicPr>
          <p:cNvPr id="67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999" y="942850"/>
            <a:ext cx="9249040" cy="1104900"/>
          </a:xfrm>
          <a:prstGeom prst="rect">
            <a:avLst/>
          </a:prstGeom>
        </p:spPr>
      </p:pic>
      <p:pic>
        <p:nvPicPr>
          <p:cNvPr id="68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032555"/>
            <a:ext cx="609600" cy="609600"/>
          </a:xfrm>
          <a:prstGeom prst="rect">
            <a:avLst/>
          </a:prstGeom>
        </p:spPr>
      </p:pic>
      <p:pic>
        <p:nvPicPr>
          <p:cNvPr id="69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0575" y="1165905"/>
            <a:ext cx="247650" cy="342900"/>
          </a:xfrm>
          <a:prstGeom prst="rect">
            <a:avLst/>
          </a:prstGeom>
        </p:spPr>
      </p:pic>
      <p:pic>
        <p:nvPicPr>
          <p:cNvPr id="70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80842" y="1051605"/>
            <a:ext cx="686544" cy="266700"/>
          </a:xfrm>
          <a:prstGeom prst="rect">
            <a:avLst/>
          </a:prstGeom>
        </p:spPr>
      </p:pic>
      <p:pic>
        <p:nvPicPr>
          <p:cNvPr id="71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47800" y="1746930"/>
            <a:ext cx="114300" cy="133350"/>
          </a:xfrm>
          <a:prstGeom prst="rect">
            <a:avLst/>
          </a:prstGeom>
        </p:spPr>
      </p:pic>
      <p:pic>
        <p:nvPicPr>
          <p:cNvPr id="72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91160" y="1746930"/>
            <a:ext cx="133350" cy="133350"/>
          </a:xfrm>
          <a:prstGeom prst="rect">
            <a:avLst/>
          </a:prstGeom>
        </p:spPr>
      </p:pic>
      <p:pic>
        <p:nvPicPr>
          <p:cNvPr id="73" name="Image 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89377" y="1746930"/>
            <a:ext cx="114300" cy="133350"/>
          </a:xfrm>
          <a:prstGeom prst="rect">
            <a:avLst/>
          </a:prstGeom>
        </p:spPr>
      </p:pic>
      <p:sp>
        <p:nvSpPr>
          <p:cNvPr id="74" name="Text 4"/>
          <p:cNvSpPr/>
          <p:nvPr/>
        </p:nvSpPr>
        <p:spPr>
          <a:xfrm>
            <a:off x="1447800" y="1032555"/>
            <a:ext cx="2782491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MySQL 프로덕션 DB</a:t>
            </a:r>
            <a:endParaRPr lang="en-US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5" name="Text 5"/>
          <p:cNvSpPr/>
          <p:nvPr/>
        </p:nvSpPr>
        <p:spPr>
          <a:xfrm>
            <a:off x="3995142" y="1051605"/>
            <a:ext cx="82385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1E40A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MySQL</a:t>
            </a:r>
            <a:endParaRPr 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6" name="Text 6"/>
          <p:cNvSpPr/>
          <p:nvPr/>
        </p:nvSpPr>
        <p:spPr>
          <a:xfrm>
            <a:off x="1447800" y="1413555"/>
            <a:ext cx="2317254" cy="2189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1200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ID: </a:t>
            </a:r>
            <a:r>
              <a:rPr lang="en-US" altLang="ko-KR" sz="1200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CONN001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7" name="Text 7"/>
          <p:cNvSpPr/>
          <p:nvPr/>
        </p:nvSpPr>
        <p:spPr>
          <a:xfrm>
            <a:off x="1600200" y="1718355"/>
            <a:ext cx="169771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생성일: </a:t>
            </a:r>
            <a:r>
              <a:rPr lang="en-US" sz="1050" dirty="0" smtClean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2025-12-15</a:t>
            </a:r>
            <a:endParaRPr 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8" name="Text 8"/>
          <p:cNvSpPr/>
          <p:nvPr/>
        </p:nvSpPr>
        <p:spPr>
          <a:xfrm>
            <a:off x="3262610" y="1718355"/>
            <a:ext cx="26035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최근 동기화: </a:t>
            </a:r>
            <a:r>
              <a:rPr lang="en-US" sz="1050" dirty="0" smtClean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2025-12-20 </a:t>
            </a:r>
            <a:r>
              <a:rPr lang="en-US" sz="1050" dirty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14:30</a:t>
            </a:r>
            <a:endParaRPr 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9" name="Text 9"/>
          <p:cNvSpPr/>
          <p:nvPr/>
        </p:nvSpPr>
        <p:spPr>
          <a:xfrm>
            <a:off x="5641777" y="1718355"/>
            <a:ext cx="126926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생성자: admin</a:t>
            </a:r>
            <a:endParaRPr 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80" name="Image 1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1000" y="1995650"/>
            <a:ext cx="8971344" cy="457200"/>
          </a:xfrm>
          <a:prstGeom prst="rect">
            <a:avLst/>
          </a:prstGeom>
        </p:spPr>
      </p:pic>
      <p:pic>
        <p:nvPicPr>
          <p:cNvPr id="83" name="Image 18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20118" y="1995650"/>
            <a:ext cx="1077218" cy="457200"/>
          </a:xfrm>
          <a:prstGeom prst="rect">
            <a:avLst/>
          </a:prstGeom>
        </p:spPr>
      </p:pic>
      <p:pic>
        <p:nvPicPr>
          <p:cNvPr id="85" name="Image 20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497336" y="1995650"/>
            <a:ext cx="1039118" cy="457200"/>
          </a:xfrm>
          <a:prstGeom prst="rect">
            <a:avLst/>
          </a:prstGeom>
        </p:spPr>
      </p:pic>
      <p:pic>
        <p:nvPicPr>
          <p:cNvPr id="86" name="Image 21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725936" y="2138525"/>
            <a:ext cx="152400" cy="152400"/>
          </a:xfrm>
          <a:prstGeom prst="rect">
            <a:avLst/>
          </a:prstGeom>
        </p:spPr>
      </p:pic>
      <p:pic>
        <p:nvPicPr>
          <p:cNvPr id="87" name="Image 22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536454" y="1995650"/>
            <a:ext cx="1343918" cy="457200"/>
          </a:xfrm>
          <a:prstGeom prst="rect">
            <a:avLst/>
          </a:prstGeom>
        </p:spPr>
      </p:pic>
      <p:pic>
        <p:nvPicPr>
          <p:cNvPr id="89" name="Image 24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880372" y="1995650"/>
            <a:ext cx="1001018" cy="457200"/>
          </a:xfrm>
          <a:prstGeom prst="rect">
            <a:avLst/>
          </a:prstGeom>
        </p:spPr>
      </p:pic>
      <p:pic>
        <p:nvPicPr>
          <p:cNvPr id="90" name="Image 25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108972" y="2138525"/>
            <a:ext cx="114300" cy="152400"/>
          </a:xfrm>
          <a:prstGeom prst="rect">
            <a:avLst/>
          </a:prstGeom>
        </p:spPr>
      </p:pic>
      <p:sp>
        <p:nvSpPr>
          <p:cNvPr id="121" name="Text 12"/>
          <p:cNvSpPr/>
          <p:nvPr/>
        </p:nvSpPr>
        <p:spPr>
          <a:xfrm>
            <a:off x="2919204" y="2129000"/>
            <a:ext cx="423982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 이력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3" name="Text 14"/>
          <p:cNvSpPr/>
          <p:nvPr/>
        </p:nvSpPr>
        <p:spPr>
          <a:xfrm>
            <a:off x="5264140" y="2129000"/>
            <a:ext cx="423982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 로그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59" name="Image 55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784876" y="915426"/>
            <a:ext cx="2332710" cy="5766668"/>
          </a:xfrm>
          <a:prstGeom prst="rect">
            <a:avLst/>
          </a:prstGeom>
        </p:spPr>
      </p:pic>
      <p:sp>
        <p:nvSpPr>
          <p:cNvPr id="160" name="Text 46"/>
          <p:cNvSpPr/>
          <p:nvPr/>
        </p:nvSpPr>
        <p:spPr>
          <a:xfrm>
            <a:off x="9828269" y="674541"/>
            <a:ext cx="1982731" cy="24088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 smtClean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UI </a:t>
            </a:r>
            <a:r>
              <a:rPr lang="ko-KR" altLang="en-US" sz="1350" b="1" dirty="0" smtClean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설명</a:t>
            </a:r>
            <a:r>
              <a:rPr lang="en-US" sz="1350" b="1" dirty="0" smtClean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en-US" sz="1350" b="1" dirty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영역</a:t>
            </a:r>
            <a:endParaRPr lang="en-US" sz="1350" dirty="0"/>
          </a:p>
        </p:txBody>
      </p:sp>
      <p:sp>
        <p:nvSpPr>
          <p:cNvPr id="161" name="Text 20"/>
          <p:cNvSpPr/>
          <p:nvPr/>
        </p:nvSpPr>
        <p:spPr>
          <a:xfrm>
            <a:off x="9812312" y="995245"/>
            <a:ext cx="2249583" cy="559747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200"/>
              </a:lnSpc>
            </a:pPr>
            <a:r>
              <a:rPr lang="en-US" altLang="ko-KR" sz="10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1.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최근 마지막 동기화 상태 정보  </a:t>
            </a:r>
            <a:endParaRPr lang="en-US" altLang="ko-KR" sz="1000" dirty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endParaRPr lang="en-US" altLang="ko-KR" sz="1000" dirty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r>
              <a:rPr lang="en-US" altLang="ko-KR" sz="10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2.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처리된 레코드 </a:t>
            </a: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-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최근 처리된 레코드 수와 이전 처리된 레코드 수와의 증감 표시 </a:t>
            </a:r>
            <a:endParaRPr lang="en-US" altLang="ko-KR" sz="1000" dirty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endParaRPr lang="en-US" altLang="ko-KR" sz="1000" dirty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r>
              <a:rPr lang="en-US" altLang="ko-KR" sz="10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3.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응답 시간 </a:t>
            </a:r>
            <a:r>
              <a:rPr lang="en-US" altLang="ko-KR" sz="10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- </a:t>
            </a:r>
            <a:r>
              <a:rPr lang="ko-KR" altLang="en-US" sz="10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최근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수행된 동기화의 응답 시간과 </a:t>
            </a:r>
            <a:r>
              <a:rPr lang="ko-KR" altLang="en-US" sz="10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이전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수행된 평균 응답 시간과의 </a:t>
            </a:r>
            <a:r>
              <a:rPr lang="ko-KR" altLang="en-US" sz="10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증감 표시</a:t>
            </a:r>
            <a:endParaRPr lang="en-US" altLang="ko-KR" sz="1000" dirty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endParaRPr lang="en-US" altLang="ko-KR" sz="1000" dirty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r>
              <a:rPr lang="en-US" altLang="ko-KR" sz="10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4.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전체 동기화에 대한 상태 별 통계</a:t>
            </a:r>
            <a:endParaRPr lang="en-US" altLang="ko-KR" sz="1000" dirty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endParaRPr lang="en-US" altLang="ko-KR" sz="1000" dirty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r>
              <a:rPr lang="en-US" altLang="ko-KR" sz="10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5.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동기화 수행에 대한 데이터 </a:t>
            </a:r>
            <a:r>
              <a:rPr lang="ko-KR" altLang="en-US" sz="1000" dirty="0" err="1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전송량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추이 제공</a:t>
            </a:r>
            <a:endParaRPr lang="en-US" altLang="ko-KR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endParaRPr lang="en-US" altLang="ko-KR" sz="1000" dirty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6.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최근 동기화 이슈에 관련된 몇 건의 메시지만 제공</a:t>
            </a:r>
            <a:endParaRPr lang="en-US" altLang="ko-KR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endParaRPr lang="en-US" altLang="ko-KR" sz="1000" dirty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7. </a:t>
            </a:r>
            <a:r>
              <a:rPr lang="ko-KR" altLang="en-US" sz="10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최근 동기화 이슈에 관련된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전체 메시지 </a:t>
            </a:r>
            <a:r>
              <a:rPr lang="ko-KR" altLang="en-US" sz="10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제공 </a:t>
            </a:r>
            <a:endParaRPr lang="en-US" altLang="ko-KR" sz="1000" dirty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</p:txBody>
      </p:sp>
      <p:pic>
        <p:nvPicPr>
          <p:cNvPr id="104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81000" y="2007242"/>
            <a:ext cx="1039118" cy="457200"/>
          </a:xfrm>
          <a:prstGeom prst="rect">
            <a:avLst/>
          </a:prstGeom>
        </p:spPr>
      </p:pic>
      <p:pic>
        <p:nvPicPr>
          <p:cNvPr id="166" name="Image 17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09600" y="2150117"/>
            <a:ext cx="152400" cy="152400"/>
          </a:xfrm>
          <a:prstGeom prst="rect">
            <a:avLst/>
          </a:prstGeom>
        </p:spPr>
      </p:pic>
      <p:sp>
        <p:nvSpPr>
          <p:cNvPr id="169" name="Text 10"/>
          <p:cNvSpPr/>
          <p:nvPr/>
        </p:nvSpPr>
        <p:spPr>
          <a:xfrm>
            <a:off x="802868" y="2140592"/>
            <a:ext cx="423982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 개요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18" name="Image 19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648718" y="2138525"/>
            <a:ext cx="190500" cy="152400"/>
          </a:xfrm>
          <a:prstGeom prst="rect">
            <a:avLst/>
          </a:prstGeom>
        </p:spPr>
      </p:pic>
      <p:sp>
        <p:nvSpPr>
          <p:cNvPr id="119" name="Text 11"/>
          <p:cNvSpPr/>
          <p:nvPr/>
        </p:nvSpPr>
        <p:spPr>
          <a:xfrm>
            <a:off x="1880086" y="2129000"/>
            <a:ext cx="423982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 설정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33" name="Image 12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81000" y="3850110"/>
            <a:ext cx="4532029" cy="1736210"/>
          </a:xfrm>
          <a:prstGeom prst="rect">
            <a:avLst/>
          </a:prstGeom>
        </p:spPr>
      </p:pic>
      <p:pic>
        <p:nvPicPr>
          <p:cNvPr id="135" name="Image 15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04321" y="4312887"/>
            <a:ext cx="4285389" cy="1239581"/>
          </a:xfrm>
          <a:prstGeom prst="rect">
            <a:avLst/>
          </a:prstGeom>
        </p:spPr>
      </p:pic>
      <p:pic>
        <p:nvPicPr>
          <p:cNvPr id="137" name="Image 17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098010" y="3850110"/>
            <a:ext cx="4532029" cy="1736210"/>
          </a:xfrm>
          <a:prstGeom prst="rect">
            <a:avLst/>
          </a:prstGeom>
        </p:spPr>
      </p:pic>
      <p:pic>
        <p:nvPicPr>
          <p:cNvPr id="139" name="Image 20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221330" y="4312887"/>
            <a:ext cx="4285389" cy="1305692"/>
          </a:xfrm>
          <a:prstGeom prst="rect">
            <a:avLst/>
          </a:prstGeom>
        </p:spPr>
      </p:pic>
      <p:sp>
        <p:nvSpPr>
          <p:cNvPr id="143" name="Text 11"/>
          <p:cNvSpPr/>
          <p:nvPr/>
        </p:nvSpPr>
        <p:spPr>
          <a:xfrm>
            <a:off x="689300" y="3982332"/>
            <a:ext cx="1962219" cy="26444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 err="1">
                <a:solidFill>
                  <a:srgbClr val="1F293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KR" pitchFamily="34" charset="-120"/>
              </a:rPr>
              <a:t>동기화</a:t>
            </a:r>
            <a:r>
              <a:rPr lang="en-US" sz="1500" b="1" dirty="0">
                <a:solidFill>
                  <a:srgbClr val="1F293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KR" pitchFamily="34" charset="-120"/>
              </a:rPr>
              <a:t> </a:t>
            </a:r>
            <a:r>
              <a:rPr lang="ko-KR" altLang="en-US" sz="1500" b="1" dirty="0" smtClean="0">
                <a:solidFill>
                  <a:srgbClr val="1F293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KR" pitchFamily="34" charset="-120"/>
              </a:rPr>
              <a:t>상태 통계</a:t>
            </a:r>
            <a:endParaRPr lang="en-US" sz="15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4" name="Text 12"/>
          <p:cNvSpPr/>
          <p:nvPr/>
        </p:nvSpPr>
        <p:spPr>
          <a:xfrm>
            <a:off x="5390895" y="3982332"/>
            <a:ext cx="2846296" cy="26444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 err="1" smtClean="0">
                <a:solidFill>
                  <a:srgbClr val="1F293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KR" pitchFamily="34" charset="-120"/>
              </a:rPr>
              <a:t>데이터</a:t>
            </a:r>
            <a:r>
              <a:rPr lang="en-US" sz="1500" b="1" dirty="0" smtClean="0">
                <a:solidFill>
                  <a:srgbClr val="1F293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KR" pitchFamily="34" charset="-120"/>
              </a:rPr>
              <a:t> </a:t>
            </a:r>
            <a:r>
              <a:rPr lang="ko-KR" altLang="en-US" sz="1500" b="1" dirty="0" err="1" smtClean="0">
                <a:solidFill>
                  <a:srgbClr val="1F293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KR" pitchFamily="34" charset="-120"/>
              </a:rPr>
              <a:t>전송량</a:t>
            </a:r>
            <a:r>
              <a:rPr lang="ko-KR" altLang="en-US" sz="1500" b="1" dirty="0" smtClean="0">
                <a:solidFill>
                  <a:srgbClr val="1F293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KR" pitchFamily="34" charset="-120"/>
              </a:rPr>
              <a:t> 추이</a:t>
            </a:r>
            <a:endParaRPr lang="en-US" sz="15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1" name="타원 150">
            <a:extLst>
              <a:ext uri="{FF2B5EF4-FFF2-40B4-BE49-F238E27FC236}">
                <a16:creationId xmlns:a16="http://schemas.microsoft.com/office/drawing/2014/main" id="{4D9049EB-70D8-4995-9DBA-68C2EE93E2F4}"/>
              </a:ext>
            </a:extLst>
          </p:cNvPr>
          <p:cNvSpPr/>
          <p:nvPr/>
        </p:nvSpPr>
        <p:spPr>
          <a:xfrm>
            <a:off x="423860" y="4015865"/>
            <a:ext cx="183750" cy="178979"/>
          </a:xfrm>
          <a:prstGeom prst="ellipse">
            <a:avLst/>
          </a:prstGeom>
          <a:solidFill>
            <a:srgbClr val="FF0000"/>
          </a:solidFill>
          <a:ln w="15875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endParaRPr lang="ko-KR" altLang="en-US" sz="10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4" name="타원 153">
            <a:extLst>
              <a:ext uri="{FF2B5EF4-FFF2-40B4-BE49-F238E27FC236}">
                <a16:creationId xmlns:a16="http://schemas.microsoft.com/office/drawing/2014/main" id="{4D9049EB-70D8-4995-9DBA-68C2EE93E2F4}"/>
              </a:ext>
            </a:extLst>
          </p:cNvPr>
          <p:cNvSpPr/>
          <p:nvPr/>
        </p:nvSpPr>
        <p:spPr>
          <a:xfrm>
            <a:off x="5144142" y="4012739"/>
            <a:ext cx="183750" cy="178979"/>
          </a:xfrm>
          <a:prstGeom prst="ellipse">
            <a:avLst/>
          </a:prstGeom>
          <a:solidFill>
            <a:srgbClr val="FF0000"/>
          </a:solidFill>
          <a:ln w="15875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5</a:t>
            </a:r>
            <a:endParaRPr lang="ko-KR" altLang="en-US" sz="10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81" name="Image 22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782549" y="2047750"/>
            <a:ext cx="969913" cy="398922"/>
          </a:xfrm>
          <a:prstGeom prst="rect">
            <a:avLst/>
          </a:prstGeom>
        </p:spPr>
      </p:pic>
      <p:pic>
        <p:nvPicPr>
          <p:cNvPr id="82" name="Image 23" descr="preencoded.png"/>
          <p:cNvPicPr preferRelativeResize="0">
            <a:picLocks/>
          </p:cNvPicPr>
          <p:nvPr/>
        </p:nvPicPr>
        <p:blipFill>
          <a:blip r:embed="rId27"/>
          <a:stretch>
            <a:fillRect/>
          </a:stretch>
        </p:blipFill>
        <p:spPr>
          <a:xfrm>
            <a:off x="3808533" y="2132099"/>
            <a:ext cx="140134" cy="141849"/>
          </a:xfrm>
          <a:prstGeom prst="rect">
            <a:avLst/>
          </a:prstGeom>
        </p:spPr>
      </p:pic>
      <p:sp>
        <p:nvSpPr>
          <p:cNvPr id="84" name="Text 13"/>
          <p:cNvSpPr/>
          <p:nvPr/>
        </p:nvSpPr>
        <p:spPr>
          <a:xfrm>
            <a:off x="3935112" y="2173794"/>
            <a:ext cx="771413" cy="18726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00" dirty="0">
                <a:solidFill>
                  <a:srgbClr val="2563E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 </a:t>
            </a:r>
            <a:r>
              <a:rPr lang="ko-KR" altLang="en-US" sz="1200" dirty="0" smtClean="0">
                <a:solidFill>
                  <a:srgbClr val="2563E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모니</a:t>
            </a:r>
            <a:r>
              <a:rPr lang="en-US" sz="1200" dirty="0" err="1" smtClean="0">
                <a:solidFill>
                  <a:srgbClr val="2563E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터링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88" name="Image 47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438394" y="4143143"/>
            <a:ext cx="1184076" cy="1184076"/>
          </a:xfrm>
          <a:prstGeom prst="rect">
            <a:avLst/>
          </a:prstGeom>
        </p:spPr>
      </p:pic>
      <p:pic>
        <p:nvPicPr>
          <p:cNvPr id="91" name="Image 48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197143" y="5375566"/>
            <a:ext cx="76200" cy="76200"/>
          </a:xfrm>
          <a:prstGeom prst="rect">
            <a:avLst/>
          </a:prstGeom>
        </p:spPr>
      </p:pic>
      <p:pic>
        <p:nvPicPr>
          <p:cNvPr id="92" name="Image 49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889045" y="5375566"/>
            <a:ext cx="76200" cy="76200"/>
          </a:xfrm>
          <a:prstGeom prst="rect">
            <a:avLst/>
          </a:prstGeom>
        </p:spPr>
      </p:pic>
      <p:pic>
        <p:nvPicPr>
          <p:cNvPr id="93" name="Image 50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2508170" y="5375566"/>
            <a:ext cx="76200" cy="76200"/>
          </a:xfrm>
          <a:prstGeom prst="rect">
            <a:avLst/>
          </a:prstGeom>
        </p:spPr>
      </p:pic>
      <p:sp>
        <p:nvSpPr>
          <p:cNvPr id="94" name="Text 34"/>
          <p:cNvSpPr/>
          <p:nvPr/>
        </p:nvSpPr>
        <p:spPr>
          <a:xfrm>
            <a:off x="1311443" y="5337466"/>
            <a:ext cx="555962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성공(27)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5" name="Text 35"/>
          <p:cNvSpPr/>
          <p:nvPr/>
        </p:nvSpPr>
        <p:spPr>
          <a:xfrm>
            <a:off x="2003345" y="5337466"/>
            <a:ext cx="46863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실패(2)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6" name="Text 36"/>
          <p:cNvSpPr/>
          <p:nvPr/>
        </p:nvSpPr>
        <p:spPr>
          <a:xfrm>
            <a:off x="2622470" y="5337466"/>
            <a:ext cx="46863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경고(5)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98" name="Image 52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401466" y="4346392"/>
            <a:ext cx="3507331" cy="1096041"/>
          </a:xfrm>
          <a:prstGeom prst="rect">
            <a:avLst/>
          </a:prstGeom>
        </p:spPr>
      </p:pic>
      <p:pic>
        <p:nvPicPr>
          <p:cNvPr id="181" name="Image 12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85748" y="2492756"/>
            <a:ext cx="9244291" cy="1300053"/>
          </a:xfrm>
          <a:prstGeom prst="rect">
            <a:avLst/>
          </a:prstGeom>
        </p:spPr>
      </p:pic>
      <p:pic>
        <p:nvPicPr>
          <p:cNvPr id="99" name="Image 27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454872" y="2580504"/>
            <a:ext cx="152400" cy="152400"/>
          </a:xfrm>
          <a:prstGeom prst="rect">
            <a:avLst/>
          </a:prstGeom>
        </p:spPr>
      </p:pic>
      <p:sp>
        <p:nvSpPr>
          <p:cNvPr id="100" name="Text 15"/>
          <p:cNvSpPr/>
          <p:nvPr/>
        </p:nvSpPr>
        <p:spPr>
          <a:xfrm>
            <a:off x="664422" y="2551929"/>
            <a:ext cx="233493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F293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 동기화 성능 및 모니터링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17" name="Image 32" descr="preencoded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660147" y="2894829"/>
            <a:ext cx="2819400" cy="742950"/>
          </a:xfrm>
          <a:prstGeom prst="rect">
            <a:avLst/>
          </a:prstGeom>
        </p:spPr>
      </p:pic>
      <p:pic>
        <p:nvPicPr>
          <p:cNvPr id="122" name="Image 33" descr="preencoded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2946147" y="2971029"/>
            <a:ext cx="457200" cy="152400"/>
          </a:xfrm>
          <a:prstGeom prst="rect">
            <a:avLst/>
          </a:prstGeom>
        </p:spPr>
      </p:pic>
      <p:pic>
        <p:nvPicPr>
          <p:cNvPr id="156" name="Image 35" descr="preencoded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3555747" y="2894829"/>
            <a:ext cx="2819400" cy="742950"/>
          </a:xfrm>
          <a:prstGeom prst="rect">
            <a:avLst/>
          </a:prstGeom>
        </p:spPr>
      </p:pic>
      <p:pic>
        <p:nvPicPr>
          <p:cNvPr id="157" name="Image 36" descr="preencoded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5956047" y="2971029"/>
            <a:ext cx="342900" cy="152400"/>
          </a:xfrm>
          <a:prstGeom prst="rect">
            <a:avLst/>
          </a:prstGeom>
        </p:spPr>
      </p:pic>
      <p:pic>
        <p:nvPicPr>
          <p:cNvPr id="158" name="Image 37" descr="preencoded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4054470" y="3428229"/>
            <a:ext cx="85725" cy="114300"/>
          </a:xfrm>
          <a:prstGeom prst="rect">
            <a:avLst/>
          </a:prstGeom>
        </p:spPr>
      </p:pic>
      <p:pic>
        <p:nvPicPr>
          <p:cNvPr id="163" name="Image 39" descr="preencoded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6451347" y="2894829"/>
            <a:ext cx="2819400" cy="742950"/>
          </a:xfrm>
          <a:prstGeom prst="rect">
            <a:avLst/>
          </a:prstGeom>
        </p:spPr>
      </p:pic>
      <p:pic>
        <p:nvPicPr>
          <p:cNvPr id="164" name="Image 40" descr="preencoded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8851647" y="2971029"/>
            <a:ext cx="342900" cy="152400"/>
          </a:xfrm>
          <a:prstGeom prst="rect">
            <a:avLst/>
          </a:prstGeom>
        </p:spPr>
      </p:pic>
      <p:pic>
        <p:nvPicPr>
          <p:cNvPr id="165" name="Image 41" descr="preencoded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6968227" y="3428229"/>
            <a:ext cx="85725" cy="114300"/>
          </a:xfrm>
          <a:prstGeom prst="rect">
            <a:avLst/>
          </a:prstGeom>
        </p:spPr>
      </p:pic>
      <p:sp>
        <p:nvSpPr>
          <p:cNvPr id="168" name="Text 17"/>
          <p:cNvSpPr/>
          <p:nvPr/>
        </p:nvSpPr>
        <p:spPr>
          <a:xfrm>
            <a:off x="736347" y="2971029"/>
            <a:ext cx="729555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1D4ED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동기화 상태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0" name="Text 18"/>
          <p:cNvSpPr/>
          <p:nvPr/>
        </p:nvSpPr>
        <p:spPr>
          <a:xfrm>
            <a:off x="3003297" y="2971029"/>
            <a:ext cx="4572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ko-KR" altLang="en-US" sz="900" dirty="0" smtClean="0">
                <a:solidFill>
                  <a:srgbClr val="1E40A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최근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1" name="Text 19"/>
          <p:cNvSpPr/>
          <p:nvPr/>
        </p:nvSpPr>
        <p:spPr>
          <a:xfrm>
            <a:off x="736347" y="3142479"/>
            <a:ext cx="97884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정상</a:t>
            </a:r>
            <a:endParaRPr lang="en-US" sz="15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2" name="Text 20"/>
          <p:cNvSpPr/>
          <p:nvPr/>
        </p:nvSpPr>
        <p:spPr>
          <a:xfrm>
            <a:off x="736347" y="3409179"/>
            <a:ext cx="1174611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최근 실행: 24분 전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3" name="Text 21"/>
          <p:cNvSpPr/>
          <p:nvPr/>
        </p:nvSpPr>
        <p:spPr>
          <a:xfrm>
            <a:off x="3631947" y="2971029"/>
            <a:ext cx="866715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15803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처리된 레코드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4" name="Text 22"/>
          <p:cNvSpPr/>
          <p:nvPr/>
        </p:nvSpPr>
        <p:spPr>
          <a:xfrm>
            <a:off x="6013197" y="2971029"/>
            <a:ext cx="3429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ko-KR" altLang="en-US" sz="900" dirty="0" smtClean="0">
                <a:solidFill>
                  <a:srgbClr val="16653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최근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5" name="Text 23"/>
          <p:cNvSpPr/>
          <p:nvPr/>
        </p:nvSpPr>
        <p:spPr>
          <a:xfrm>
            <a:off x="3631947" y="3142479"/>
            <a:ext cx="88225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12,845</a:t>
            </a:r>
            <a:endParaRPr lang="en-US" sz="15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6" name="Text 24"/>
          <p:cNvSpPr/>
          <p:nvPr/>
        </p:nvSpPr>
        <p:spPr>
          <a:xfrm>
            <a:off x="3631947" y="3409179"/>
            <a:ext cx="882253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16A34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+8.2% 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7" name="Text 25"/>
          <p:cNvSpPr/>
          <p:nvPr/>
        </p:nvSpPr>
        <p:spPr>
          <a:xfrm>
            <a:off x="6527547" y="2971029"/>
            <a:ext cx="910292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 err="1" smtClean="0">
                <a:solidFill>
                  <a:srgbClr val="7E22CE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응답</a:t>
            </a:r>
            <a:r>
              <a:rPr lang="en-US" sz="900" dirty="0" smtClean="0">
                <a:solidFill>
                  <a:srgbClr val="7E22CE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 </a:t>
            </a:r>
            <a:r>
              <a:rPr lang="en-US" sz="900" dirty="0">
                <a:solidFill>
                  <a:srgbClr val="7E22CE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시간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8" name="Text 26"/>
          <p:cNvSpPr/>
          <p:nvPr/>
        </p:nvSpPr>
        <p:spPr>
          <a:xfrm>
            <a:off x="8908797" y="2971029"/>
            <a:ext cx="3429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ko-KR" altLang="en-US" sz="900" dirty="0" smtClean="0">
                <a:solidFill>
                  <a:srgbClr val="6B21A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최근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9" name="Text 27"/>
          <p:cNvSpPr/>
          <p:nvPr/>
        </p:nvSpPr>
        <p:spPr>
          <a:xfrm>
            <a:off x="6527547" y="3142479"/>
            <a:ext cx="85153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156ms</a:t>
            </a:r>
            <a:endParaRPr lang="en-US" sz="15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0" name="Text 28"/>
          <p:cNvSpPr/>
          <p:nvPr/>
        </p:nvSpPr>
        <p:spPr>
          <a:xfrm>
            <a:off x="6527547" y="3409179"/>
            <a:ext cx="851535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16A34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-12.5% 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82" name="Image 55" descr="preencoded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342900" y="5639194"/>
            <a:ext cx="9287139" cy="1028700"/>
          </a:xfrm>
          <a:prstGeom prst="rect">
            <a:avLst/>
          </a:prstGeom>
        </p:spPr>
      </p:pic>
      <p:pic>
        <p:nvPicPr>
          <p:cNvPr id="183" name="Image 56" descr="preencoded.pn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342900" y="5639193"/>
            <a:ext cx="9287139" cy="266701"/>
          </a:xfrm>
          <a:prstGeom prst="rect">
            <a:avLst/>
          </a:prstGeom>
        </p:spPr>
      </p:pic>
      <p:pic>
        <p:nvPicPr>
          <p:cNvPr id="185" name="Image 58" descr="preencoded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342900" y="6134494"/>
            <a:ext cx="9287139" cy="533400"/>
          </a:xfrm>
          <a:prstGeom prst="rect">
            <a:avLst/>
          </a:prstGeom>
        </p:spPr>
      </p:pic>
      <p:pic>
        <p:nvPicPr>
          <p:cNvPr id="188" name="Image 61" descr="preencoded.pn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342900" y="6401194"/>
            <a:ext cx="11506200" cy="266700"/>
          </a:xfrm>
          <a:prstGeom prst="rect">
            <a:avLst/>
          </a:prstGeom>
        </p:spPr>
      </p:pic>
      <p:sp>
        <p:nvSpPr>
          <p:cNvPr id="191" name="Text 41"/>
          <p:cNvSpPr/>
          <p:nvPr/>
        </p:nvSpPr>
        <p:spPr>
          <a:xfrm>
            <a:off x="400050" y="5696344"/>
            <a:ext cx="1439168" cy="1953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최근 동기화 이슈</a:t>
            </a:r>
            <a:endParaRPr lang="en-US" sz="12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2" name="Text 42"/>
          <p:cNvSpPr/>
          <p:nvPr/>
        </p:nvSpPr>
        <p:spPr>
          <a:xfrm>
            <a:off x="8981133" y="5724919"/>
            <a:ext cx="592395" cy="1333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2563E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모두 보기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3" name="Text 43"/>
          <p:cNvSpPr/>
          <p:nvPr/>
        </p:nvSpPr>
        <p:spPr>
          <a:xfrm>
            <a:off x="342901" y="5905894"/>
            <a:ext cx="2607022" cy="196326"/>
          </a:xfrm>
          <a:prstGeom prst="rect">
            <a:avLst/>
          </a:prstGeom>
          <a:solidFill>
            <a:schemeClr val="bg1"/>
          </a:solidFill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시간</a:t>
            </a:r>
            <a:endParaRPr lang="en-US" sz="11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4" name="Text 44"/>
          <p:cNvSpPr/>
          <p:nvPr/>
        </p:nvSpPr>
        <p:spPr>
          <a:xfrm>
            <a:off x="2949922" y="5905894"/>
            <a:ext cx="1627436" cy="196326"/>
          </a:xfrm>
          <a:prstGeom prst="rect">
            <a:avLst/>
          </a:prstGeom>
          <a:solidFill>
            <a:schemeClr val="bg1"/>
          </a:solidFill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이슈 유형</a:t>
            </a:r>
            <a:endParaRPr lang="en-US" sz="11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5" name="Text 45"/>
          <p:cNvSpPr/>
          <p:nvPr/>
        </p:nvSpPr>
        <p:spPr>
          <a:xfrm>
            <a:off x="4577358" y="5905894"/>
            <a:ext cx="5052681" cy="196326"/>
          </a:xfrm>
          <a:prstGeom prst="rect">
            <a:avLst/>
          </a:prstGeom>
          <a:solidFill>
            <a:schemeClr val="bg1"/>
          </a:solidFill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메시지</a:t>
            </a:r>
            <a:endParaRPr lang="en-US" sz="11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7" name="Text 47"/>
          <p:cNvSpPr/>
          <p:nvPr/>
        </p:nvSpPr>
        <p:spPr>
          <a:xfrm>
            <a:off x="419101" y="6134494"/>
            <a:ext cx="2380083" cy="280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 smtClean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2025-12-19 </a:t>
            </a:r>
            <a:r>
              <a:rPr lang="en-US" sz="1000" dirty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12:00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8" name="Text 48"/>
          <p:cNvSpPr/>
          <p:nvPr/>
        </p:nvSpPr>
        <p:spPr>
          <a:xfrm>
            <a:off x="3426945" y="6182119"/>
            <a:ext cx="729555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연결 오류</a:t>
            </a:r>
          </a:p>
        </p:txBody>
      </p:sp>
      <p:sp>
        <p:nvSpPr>
          <p:cNvPr id="199" name="Text 49"/>
          <p:cNvSpPr/>
          <p:nvPr/>
        </p:nvSpPr>
        <p:spPr>
          <a:xfrm>
            <a:off x="4913029" y="6148694"/>
            <a:ext cx="443931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소스 서버 연결 제한 시간 초과(timeout: 30s)</a:t>
            </a:r>
          </a:p>
        </p:txBody>
      </p:sp>
      <p:sp>
        <p:nvSpPr>
          <p:cNvPr id="201" name="Text 51"/>
          <p:cNvSpPr/>
          <p:nvPr/>
        </p:nvSpPr>
        <p:spPr>
          <a:xfrm>
            <a:off x="419100" y="6401194"/>
            <a:ext cx="2380084" cy="29897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 smtClean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2025-12-18 </a:t>
            </a:r>
            <a:r>
              <a:rPr lang="en-US" sz="1000" dirty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09:15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2" name="Text 52"/>
          <p:cNvSpPr/>
          <p:nvPr/>
        </p:nvSpPr>
        <p:spPr>
          <a:xfrm>
            <a:off x="3426945" y="6448819"/>
            <a:ext cx="729555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200"/>
              </a:lnSpc>
            </a:pPr>
            <a:r>
              <a:rPr lang="ko-KR" altLang="en-US" sz="1000" dirty="0" smtClean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변환</a:t>
            </a:r>
            <a:r>
              <a:rPr lang="en-US" sz="1000" dirty="0" smtClean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 </a:t>
            </a:r>
            <a:r>
              <a:rPr lang="ko-KR" altLang="en-US" sz="1000" dirty="0" smtClean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오류</a:t>
            </a:r>
            <a:endParaRPr lang="en-US" sz="1000" dirty="0">
              <a:solidFill>
                <a:srgbClr val="6B72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ui-sans-serif" pitchFamily="34" charset="-120"/>
            </a:endParaRPr>
          </a:p>
        </p:txBody>
      </p:sp>
      <p:sp>
        <p:nvSpPr>
          <p:cNvPr id="203" name="Text 53"/>
          <p:cNvSpPr/>
          <p:nvPr/>
        </p:nvSpPr>
        <p:spPr>
          <a:xfrm>
            <a:off x="4913029" y="6415394"/>
            <a:ext cx="443931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200"/>
              </a:lnSpc>
            </a:pPr>
            <a:r>
              <a:rPr lang="ko-KR" altLang="en-US" sz="1000" dirty="0" smtClean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데이터 변환 시 오류 발생</a:t>
            </a:r>
            <a:endParaRPr lang="en-US" sz="1000" dirty="0">
              <a:solidFill>
                <a:srgbClr val="6B72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ui-sans-serif" pitchFamily="34" charset="-120"/>
            </a:endParaRPr>
          </a:p>
        </p:txBody>
      </p:sp>
      <p:sp>
        <p:nvSpPr>
          <p:cNvPr id="207" name="타원 206">
            <a:extLst>
              <a:ext uri="{FF2B5EF4-FFF2-40B4-BE49-F238E27FC236}">
                <a16:creationId xmlns:a16="http://schemas.microsoft.com/office/drawing/2014/main" id="{4D9049EB-70D8-4995-9DBA-68C2EE93E2F4}"/>
              </a:ext>
            </a:extLst>
          </p:cNvPr>
          <p:cNvSpPr/>
          <p:nvPr/>
        </p:nvSpPr>
        <p:spPr>
          <a:xfrm>
            <a:off x="330057" y="2821460"/>
            <a:ext cx="183750" cy="178979"/>
          </a:xfrm>
          <a:prstGeom prst="ellipse">
            <a:avLst/>
          </a:prstGeom>
          <a:solidFill>
            <a:srgbClr val="FF0000"/>
          </a:solidFill>
          <a:ln w="15875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sz="10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8" name="타원 207">
            <a:extLst>
              <a:ext uri="{FF2B5EF4-FFF2-40B4-BE49-F238E27FC236}">
                <a16:creationId xmlns:a16="http://schemas.microsoft.com/office/drawing/2014/main" id="{4D9049EB-70D8-4995-9DBA-68C2EE93E2F4}"/>
              </a:ext>
            </a:extLst>
          </p:cNvPr>
          <p:cNvSpPr/>
          <p:nvPr/>
        </p:nvSpPr>
        <p:spPr>
          <a:xfrm>
            <a:off x="3763640" y="2739177"/>
            <a:ext cx="183750" cy="178979"/>
          </a:xfrm>
          <a:prstGeom prst="ellipse">
            <a:avLst/>
          </a:prstGeom>
          <a:solidFill>
            <a:srgbClr val="FF0000"/>
          </a:solidFill>
          <a:ln w="15875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endParaRPr lang="ko-KR" altLang="en-US" sz="10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3" name="타원 152">
            <a:extLst>
              <a:ext uri="{FF2B5EF4-FFF2-40B4-BE49-F238E27FC236}">
                <a16:creationId xmlns:a16="http://schemas.microsoft.com/office/drawing/2014/main" id="{4D9049EB-70D8-4995-9DBA-68C2EE93E2F4}"/>
              </a:ext>
            </a:extLst>
          </p:cNvPr>
          <p:cNvSpPr/>
          <p:nvPr/>
        </p:nvSpPr>
        <p:spPr>
          <a:xfrm>
            <a:off x="7447489" y="2788587"/>
            <a:ext cx="183750" cy="178979"/>
          </a:xfrm>
          <a:prstGeom prst="ellipse">
            <a:avLst/>
          </a:prstGeom>
          <a:solidFill>
            <a:srgbClr val="FF0000"/>
          </a:solidFill>
          <a:ln w="15875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endParaRPr lang="ko-KR" altLang="en-US" sz="10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9" name="타원 208">
            <a:extLst>
              <a:ext uri="{FF2B5EF4-FFF2-40B4-BE49-F238E27FC236}">
                <a16:creationId xmlns:a16="http://schemas.microsoft.com/office/drawing/2014/main" id="{4D9049EB-70D8-4995-9DBA-68C2EE93E2F4}"/>
              </a:ext>
            </a:extLst>
          </p:cNvPr>
          <p:cNvSpPr/>
          <p:nvPr/>
        </p:nvSpPr>
        <p:spPr>
          <a:xfrm>
            <a:off x="8793188" y="5680326"/>
            <a:ext cx="183750" cy="178979"/>
          </a:xfrm>
          <a:prstGeom prst="ellipse">
            <a:avLst/>
          </a:prstGeom>
          <a:solidFill>
            <a:srgbClr val="FF0000"/>
          </a:solidFill>
          <a:ln w="15875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7</a:t>
            </a:r>
            <a:endParaRPr lang="ko-KR" altLang="en-US" sz="10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10" name="타원 209">
            <a:extLst>
              <a:ext uri="{FF2B5EF4-FFF2-40B4-BE49-F238E27FC236}">
                <a16:creationId xmlns:a16="http://schemas.microsoft.com/office/drawing/2014/main" id="{4D9049EB-70D8-4995-9DBA-68C2EE93E2F4}"/>
              </a:ext>
            </a:extLst>
          </p:cNvPr>
          <p:cNvSpPr/>
          <p:nvPr/>
        </p:nvSpPr>
        <p:spPr>
          <a:xfrm>
            <a:off x="211537" y="5664005"/>
            <a:ext cx="183750" cy="178979"/>
          </a:xfrm>
          <a:prstGeom prst="ellipse">
            <a:avLst/>
          </a:prstGeom>
          <a:solidFill>
            <a:srgbClr val="FF0000"/>
          </a:solidFill>
          <a:ln w="15875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6</a:t>
            </a:r>
            <a:endParaRPr lang="ko-KR" altLang="en-US" sz="10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00056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Image 1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267" y="2518416"/>
            <a:ext cx="9264772" cy="4188087"/>
          </a:xfrm>
          <a:prstGeom prst="rect">
            <a:avLst/>
          </a:prstGeom>
        </p:spPr>
      </p:pic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5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800100"/>
            <a:ext cx="762000" cy="38100"/>
          </a:xfrm>
          <a:prstGeom prst="rect">
            <a:avLst/>
          </a:prstGeom>
        </p:spPr>
      </p:pic>
      <p:sp>
        <p:nvSpPr>
          <p:cNvPr id="46" name="Text 0"/>
          <p:cNvSpPr/>
          <p:nvPr/>
        </p:nvSpPr>
        <p:spPr>
          <a:xfrm>
            <a:off x="381000" y="381000"/>
            <a:ext cx="114300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700"/>
              </a:lnSpc>
            </a:pPr>
            <a:r>
              <a:rPr lang="ko-KR" altLang="en-US" sz="2250" b="1" dirty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커넥션 상세 정보</a:t>
            </a:r>
          </a:p>
        </p:txBody>
      </p:sp>
      <p:pic>
        <p:nvPicPr>
          <p:cNvPr id="67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0999" y="942850"/>
            <a:ext cx="9249040" cy="1104900"/>
          </a:xfrm>
          <a:prstGeom prst="rect">
            <a:avLst/>
          </a:prstGeom>
        </p:spPr>
      </p:pic>
      <p:pic>
        <p:nvPicPr>
          <p:cNvPr id="68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1032555"/>
            <a:ext cx="609600" cy="609600"/>
          </a:xfrm>
          <a:prstGeom prst="rect">
            <a:avLst/>
          </a:prstGeom>
        </p:spPr>
      </p:pic>
      <p:pic>
        <p:nvPicPr>
          <p:cNvPr id="69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0575" y="1165905"/>
            <a:ext cx="247650" cy="342900"/>
          </a:xfrm>
          <a:prstGeom prst="rect">
            <a:avLst/>
          </a:prstGeom>
        </p:spPr>
      </p:pic>
      <p:pic>
        <p:nvPicPr>
          <p:cNvPr id="70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80842" y="1051605"/>
            <a:ext cx="686544" cy="266700"/>
          </a:xfrm>
          <a:prstGeom prst="rect">
            <a:avLst/>
          </a:prstGeom>
        </p:spPr>
      </p:pic>
      <p:pic>
        <p:nvPicPr>
          <p:cNvPr id="71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7800" y="1746930"/>
            <a:ext cx="114300" cy="133350"/>
          </a:xfrm>
          <a:prstGeom prst="rect">
            <a:avLst/>
          </a:prstGeom>
        </p:spPr>
      </p:pic>
      <p:pic>
        <p:nvPicPr>
          <p:cNvPr id="72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091160" y="1746930"/>
            <a:ext cx="133350" cy="133350"/>
          </a:xfrm>
          <a:prstGeom prst="rect">
            <a:avLst/>
          </a:prstGeom>
        </p:spPr>
      </p:pic>
      <p:pic>
        <p:nvPicPr>
          <p:cNvPr id="73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489377" y="1746930"/>
            <a:ext cx="114300" cy="133350"/>
          </a:xfrm>
          <a:prstGeom prst="rect">
            <a:avLst/>
          </a:prstGeom>
        </p:spPr>
      </p:pic>
      <p:sp>
        <p:nvSpPr>
          <p:cNvPr id="74" name="Text 4"/>
          <p:cNvSpPr/>
          <p:nvPr/>
        </p:nvSpPr>
        <p:spPr>
          <a:xfrm>
            <a:off x="1447800" y="1032555"/>
            <a:ext cx="2782491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MySQL 프로덕션 DB</a:t>
            </a:r>
            <a:endParaRPr lang="en-US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5" name="Text 5"/>
          <p:cNvSpPr/>
          <p:nvPr/>
        </p:nvSpPr>
        <p:spPr>
          <a:xfrm>
            <a:off x="3995142" y="1051605"/>
            <a:ext cx="82385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1E40A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MySQL</a:t>
            </a:r>
            <a:endParaRPr 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6" name="Text 6"/>
          <p:cNvSpPr/>
          <p:nvPr/>
        </p:nvSpPr>
        <p:spPr>
          <a:xfrm>
            <a:off x="1447800" y="1413555"/>
            <a:ext cx="2317254" cy="2189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1200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ID: </a:t>
            </a:r>
            <a:r>
              <a:rPr lang="en-US" altLang="ko-KR" sz="1200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CONN001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7" name="Text 7"/>
          <p:cNvSpPr/>
          <p:nvPr/>
        </p:nvSpPr>
        <p:spPr>
          <a:xfrm>
            <a:off x="1600200" y="1718355"/>
            <a:ext cx="169771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생성일: </a:t>
            </a:r>
            <a:r>
              <a:rPr lang="en-US" sz="1050" dirty="0" smtClean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2025-12-15</a:t>
            </a:r>
            <a:endParaRPr 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8" name="Text 8"/>
          <p:cNvSpPr/>
          <p:nvPr/>
        </p:nvSpPr>
        <p:spPr>
          <a:xfrm>
            <a:off x="3262610" y="1718355"/>
            <a:ext cx="26035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최근 동기화: </a:t>
            </a:r>
            <a:r>
              <a:rPr lang="en-US" sz="1050" dirty="0" smtClean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2025-12-20 </a:t>
            </a:r>
            <a:r>
              <a:rPr lang="en-US" sz="1050" dirty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14:30</a:t>
            </a:r>
            <a:endParaRPr 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9" name="Text 9"/>
          <p:cNvSpPr/>
          <p:nvPr/>
        </p:nvSpPr>
        <p:spPr>
          <a:xfrm>
            <a:off x="5641777" y="1718355"/>
            <a:ext cx="126926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생성자: admin</a:t>
            </a:r>
            <a:endParaRPr 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80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81000" y="1995650"/>
            <a:ext cx="8971344" cy="457200"/>
          </a:xfrm>
          <a:prstGeom prst="rect">
            <a:avLst/>
          </a:prstGeom>
        </p:spPr>
      </p:pic>
      <p:pic>
        <p:nvPicPr>
          <p:cNvPr id="83" name="Image 1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420118" y="1995650"/>
            <a:ext cx="1077218" cy="457200"/>
          </a:xfrm>
          <a:prstGeom prst="rect">
            <a:avLst/>
          </a:prstGeom>
        </p:spPr>
      </p:pic>
      <p:pic>
        <p:nvPicPr>
          <p:cNvPr id="85" name="Image 20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497336" y="1995650"/>
            <a:ext cx="1039118" cy="457200"/>
          </a:xfrm>
          <a:prstGeom prst="rect">
            <a:avLst/>
          </a:prstGeom>
        </p:spPr>
      </p:pic>
      <p:pic>
        <p:nvPicPr>
          <p:cNvPr id="87" name="Image 22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536454" y="1995650"/>
            <a:ext cx="1343918" cy="457200"/>
          </a:xfrm>
          <a:prstGeom prst="rect">
            <a:avLst/>
          </a:prstGeom>
        </p:spPr>
      </p:pic>
      <p:pic>
        <p:nvPicPr>
          <p:cNvPr id="89" name="Image 24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880372" y="1995650"/>
            <a:ext cx="1001018" cy="457200"/>
          </a:xfrm>
          <a:prstGeom prst="rect">
            <a:avLst/>
          </a:prstGeom>
        </p:spPr>
      </p:pic>
      <p:sp>
        <p:nvSpPr>
          <p:cNvPr id="123" name="Text 14"/>
          <p:cNvSpPr/>
          <p:nvPr/>
        </p:nvSpPr>
        <p:spPr>
          <a:xfrm>
            <a:off x="5264140" y="2129000"/>
            <a:ext cx="423982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1800"/>
              </a:lnSpc>
            </a:pPr>
            <a:r>
              <a:rPr lang="en-US" sz="1200" dirty="0">
                <a:solidFill>
                  <a:srgbClr val="2563E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 로그</a:t>
            </a:r>
          </a:p>
        </p:txBody>
      </p:sp>
      <p:pic>
        <p:nvPicPr>
          <p:cNvPr id="159" name="Image 55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784876" y="915426"/>
            <a:ext cx="2332710" cy="4960961"/>
          </a:xfrm>
          <a:prstGeom prst="rect">
            <a:avLst/>
          </a:prstGeom>
        </p:spPr>
      </p:pic>
      <p:sp>
        <p:nvSpPr>
          <p:cNvPr id="160" name="Text 46"/>
          <p:cNvSpPr/>
          <p:nvPr/>
        </p:nvSpPr>
        <p:spPr>
          <a:xfrm>
            <a:off x="9828269" y="674541"/>
            <a:ext cx="1982731" cy="24088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 smtClean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UI </a:t>
            </a:r>
            <a:r>
              <a:rPr lang="ko-KR" altLang="en-US" sz="1350" b="1" dirty="0" smtClean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설명</a:t>
            </a:r>
            <a:r>
              <a:rPr lang="en-US" sz="1350" b="1" dirty="0" smtClean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r>
              <a:rPr lang="en-US" sz="1350" b="1" dirty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영역</a:t>
            </a:r>
            <a:endParaRPr lang="en-US" sz="1350" dirty="0"/>
          </a:p>
        </p:txBody>
      </p:sp>
      <p:sp>
        <p:nvSpPr>
          <p:cNvPr id="161" name="Text 20"/>
          <p:cNvSpPr/>
          <p:nvPr/>
        </p:nvSpPr>
        <p:spPr>
          <a:xfrm>
            <a:off x="9812312" y="967252"/>
            <a:ext cx="2249583" cy="490913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200"/>
              </a:lnSpc>
            </a:pP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1.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로그 레벨 별 로그 개수 표시</a:t>
            </a:r>
            <a:endParaRPr lang="en-US" altLang="ko-KR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endParaRPr lang="en-US" altLang="ko-KR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2.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조회할 로그 발생 시간 범위 항목 선택 </a:t>
            </a: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-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최근 </a:t>
            </a: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30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분</a:t>
            </a: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,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최근 </a:t>
            </a: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1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시간</a:t>
            </a: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,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최근 </a:t>
            </a: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3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시간</a:t>
            </a: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,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최근 </a:t>
            </a: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6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시간</a:t>
            </a: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,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최근 </a:t>
            </a: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12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시간</a:t>
            </a: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,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최근 </a:t>
            </a: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1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일</a:t>
            </a:r>
            <a:endParaRPr lang="en-US" altLang="ko-KR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endParaRPr lang="en-US" altLang="ko-KR" sz="1000" dirty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3.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조회할 로그 레벨 선택 </a:t>
            </a: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–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모든 로그 레벨</a:t>
            </a: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, ERROR, WARN, INFO, DEBUG</a:t>
            </a:r>
          </a:p>
          <a:p>
            <a:pPr>
              <a:lnSpc>
                <a:spcPts val="1200"/>
              </a:lnSpc>
            </a:pPr>
            <a:endParaRPr lang="en-US" altLang="ko-KR" sz="1000" dirty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4.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메시지 검색</a:t>
            </a:r>
            <a:endParaRPr lang="en-US" altLang="ko-KR" sz="1000" dirty="0" smtClean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endParaRPr lang="en-US" altLang="ko-KR" sz="1000" dirty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1200"/>
              </a:lnSpc>
            </a:pPr>
            <a:r>
              <a:rPr lang="en-US" altLang="ko-KR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5. 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로그를 새로 </a:t>
            </a:r>
            <a:r>
              <a:rPr lang="ko-KR" altLang="en-US" sz="1000" dirty="0" err="1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가져옴기</a:t>
            </a:r>
            <a:r>
              <a:rPr lang="ko-KR" altLang="en-US" sz="1000" dirty="0" smtClean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</a:t>
            </a:r>
            <a:endParaRPr lang="en-US" altLang="ko-KR" sz="1000" dirty="0">
              <a:solidFill>
                <a:srgbClr val="4B556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</p:txBody>
      </p:sp>
      <p:pic>
        <p:nvPicPr>
          <p:cNvPr id="104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81000" y="2007242"/>
            <a:ext cx="1039118" cy="457200"/>
          </a:xfrm>
          <a:prstGeom prst="rect">
            <a:avLst/>
          </a:prstGeom>
        </p:spPr>
      </p:pic>
      <p:pic>
        <p:nvPicPr>
          <p:cNvPr id="166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09600" y="2150117"/>
            <a:ext cx="152400" cy="152400"/>
          </a:xfrm>
          <a:prstGeom prst="rect">
            <a:avLst/>
          </a:prstGeom>
        </p:spPr>
      </p:pic>
      <p:sp>
        <p:nvSpPr>
          <p:cNvPr id="169" name="Text 10"/>
          <p:cNvSpPr/>
          <p:nvPr/>
        </p:nvSpPr>
        <p:spPr>
          <a:xfrm>
            <a:off x="802868" y="2140592"/>
            <a:ext cx="423982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 개요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18" name="Image 1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648718" y="2138525"/>
            <a:ext cx="190500" cy="152400"/>
          </a:xfrm>
          <a:prstGeom prst="rect">
            <a:avLst/>
          </a:prstGeom>
        </p:spPr>
      </p:pic>
      <p:sp>
        <p:nvSpPr>
          <p:cNvPr id="119" name="Text 11"/>
          <p:cNvSpPr/>
          <p:nvPr/>
        </p:nvSpPr>
        <p:spPr>
          <a:xfrm>
            <a:off x="1880086" y="2129000"/>
            <a:ext cx="423982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 설정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55" name="Image 23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765054" y="2138525"/>
            <a:ext cx="152400" cy="152400"/>
          </a:xfrm>
          <a:prstGeom prst="rect">
            <a:avLst/>
          </a:prstGeom>
        </p:spPr>
      </p:pic>
      <p:sp>
        <p:nvSpPr>
          <p:cNvPr id="156" name="Text 13"/>
          <p:cNvSpPr/>
          <p:nvPr/>
        </p:nvSpPr>
        <p:spPr>
          <a:xfrm>
            <a:off x="3927842" y="2129000"/>
            <a:ext cx="789742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 모니터링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07" name="Image 18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935478" y="2007242"/>
            <a:ext cx="1077218" cy="457200"/>
          </a:xfrm>
          <a:prstGeom prst="rect">
            <a:avLst/>
          </a:prstGeom>
        </p:spPr>
      </p:pic>
      <p:pic>
        <p:nvPicPr>
          <p:cNvPr id="109" name="Image 25" descr="preencoded.png"/>
          <p:cNvPicPr preferRelativeResize="0">
            <a:picLocks/>
          </p:cNvPicPr>
          <p:nvPr/>
        </p:nvPicPr>
        <p:blipFill>
          <a:blip r:embed="rId24"/>
          <a:stretch>
            <a:fillRect/>
          </a:stretch>
        </p:blipFill>
        <p:spPr>
          <a:xfrm>
            <a:off x="5096947" y="2153920"/>
            <a:ext cx="111502" cy="152650"/>
          </a:xfrm>
          <a:prstGeom prst="rect">
            <a:avLst/>
          </a:prstGeom>
        </p:spPr>
      </p:pic>
      <p:pic>
        <p:nvPicPr>
          <p:cNvPr id="110" name="Image 21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725936" y="2138525"/>
            <a:ext cx="152400" cy="152400"/>
          </a:xfrm>
          <a:prstGeom prst="rect">
            <a:avLst/>
          </a:prstGeom>
        </p:spPr>
      </p:pic>
      <p:sp>
        <p:nvSpPr>
          <p:cNvPr id="111" name="Text 12"/>
          <p:cNvSpPr/>
          <p:nvPr/>
        </p:nvSpPr>
        <p:spPr>
          <a:xfrm>
            <a:off x="2919204" y="2129000"/>
            <a:ext cx="423982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 이력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12" name="Image 27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34340" y="2553335"/>
            <a:ext cx="114300" cy="152400"/>
          </a:xfrm>
          <a:prstGeom prst="rect">
            <a:avLst/>
          </a:prstGeom>
        </p:spPr>
      </p:pic>
      <p:pic>
        <p:nvPicPr>
          <p:cNvPr id="113" name="Image 28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019040" y="2553335"/>
            <a:ext cx="1104900" cy="190500"/>
          </a:xfrm>
          <a:prstGeom prst="rect">
            <a:avLst/>
          </a:prstGeom>
        </p:spPr>
      </p:pic>
      <p:pic>
        <p:nvPicPr>
          <p:cNvPr id="114" name="Image 29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981065" y="2562860"/>
            <a:ext cx="104775" cy="152400"/>
          </a:xfrm>
          <a:prstGeom prst="rect">
            <a:avLst/>
          </a:prstGeom>
        </p:spPr>
      </p:pic>
      <p:pic>
        <p:nvPicPr>
          <p:cNvPr id="115" name="Image 30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271260" y="2553335"/>
            <a:ext cx="1219200" cy="190500"/>
          </a:xfrm>
          <a:prstGeom prst="rect">
            <a:avLst/>
          </a:prstGeom>
        </p:spPr>
      </p:pic>
      <p:pic>
        <p:nvPicPr>
          <p:cNvPr id="116" name="Image 31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347585" y="2562860"/>
            <a:ext cx="104775" cy="152400"/>
          </a:xfrm>
          <a:prstGeom prst="rect">
            <a:avLst/>
          </a:prstGeom>
        </p:spPr>
      </p:pic>
      <p:pic>
        <p:nvPicPr>
          <p:cNvPr id="117" name="Image 32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566660" y="2553335"/>
            <a:ext cx="1219200" cy="190500"/>
          </a:xfrm>
          <a:prstGeom prst="rect">
            <a:avLst/>
          </a:prstGeom>
        </p:spPr>
      </p:pic>
      <p:pic>
        <p:nvPicPr>
          <p:cNvPr id="120" name="Image 33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614410" y="2562860"/>
            <a:ext cx="114300" cy="152400"/>
          </a:xfrm>
          <a:prstGeom prst="rect">
            <a:avLst/>
          </a:prstGeom>
        </p:spPr>
      </p:pic>
      <p:pic>
        <p:nvPicPr>
          <p:cNvPr id="122" name="Image 34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8862060" y="2543810"/>
            <a:ext cx="762000" cy="190500"/>
          </a:xfrm>
          <a:prstGeom prst="rect">
            <a:avLst/>
          </a:prstGeom>
        </p:spPr>
      </p:pic>
      <p:pic>
        <p:nvPicPr>
          <p:cNvPr id="124" name="Image 35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8938260" y="2581910"/>
            <a:ext cx="114300" cy="114300"/>
          </a:xfrm>
          <a:prstGeom prst="rect">
            <a:avLst/>
          </a:prstGeom>
        </p:spPr>
      </p:pic>
      <p:pic>
        <p:nvPicPr>
          <p:cNvPr id="125" name="Image 36" descr="preencoded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34340" y="2867660"/>
            <a:ext cx="870793" cy="228600"/>
          </a:xfrm>
          <a:prstGeom prst="rect">
            <a:avLst/>
          </a:prstGeom>
        </p:spPr>
      </p:pic>
      <p:pic>
        <p:nvPicPr>
          <p:cNvPr id="126" name="Image 37" descr="preencoded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10540" y="2924810"/>
            <a:ext cx="114300" cy="114300"/>
          </a:xfrm>
          <a:prstGeom prst="rect">
            <a:avLst/>
          </a:prstGeom>
        </p:spPr>
      </p:pic>
      <p:pic>
        <p:nvPicPr>
          <p:cNvPr id="127" name="Image 38" descr="preencoded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419433" y="2867660"/>
            <a:ext cx="874961" cy="228600"/>
          </a:xfrm>
          <a:prstGeom prst="rect">
            <a:avLst/>
          </a:prstGeom>
        </p:spPr>
      </p:pic>
      <p:pic>
        <p:nvPicPr>
          <p:cNvPr id="128" name="Image 39" descr="preencoded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495633" y="2924810"/>
            <a:ext cx="114300" cy="114300"/>
          </a:xfrm>
          <a:prstGeom prst="rect">
            <a:avLst/>
          </a:prstGeom>
        </p:spPr>
      </p:pic>
      <p:pic>
        <p:nvPicPr>
          <p:cNvPr id="129" name="Image 40" descr="preencoded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2408694" y="2867660"/>
            <a:ext cx="849362" cy="228600"/>
          </a:xfrm>
          <a:prstGeom prst="rect">
            <a:avLst/>
          </a:prstGeom>
        </p:spPr>
      </p:pic>
      <p:pic>
        <p:nvPicPr>
          <p:cNvPr id="130" name="Image 41" descr="preencoded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2484894" y="2924810"/>
            <a:ext cx="114300" cy="114300"/>
          </a:xfrm>
          <a:prstGeom prst="rect">
            <a:avLst/>
          </a:prstGeom>
        </p:spPr>
      </p:pic>
      <p:pic>
        <p:nvPicPr>
          <p:cNvPr id="131" name="Image 42" descr="preencoded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3372356" y="2867660"/>
            <a:ext cx="1008757" cy="228600"/>
          </a:xfrm>
          <a:prstGeom prst="rect">
            <a:avLst/>
          </a:prstGeom>
        </p:spPr>
      </p:pic>
      <p:pic>
        <p:nvPicPr>
          <p:cNvPr id="132" name="Image 43" descr="preencoded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3448556" y="2924810"/>
            <a:ext cx="114300" cy="114300"/>
          </a:xfrm>
          <a:prstGeom prst="rect">
            <a:avLst/>
          </a:prstGeom>
        </p:spPr>
      </p:pic>
      <p:pic>
        <p:nvPicPr>
          <p:cNvPr id="137" name="Image 49" descr="preencoded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434340" y="3246119"/>
            <a:ext cx="9189720" cy="297815"/>
          </a:xfrm>
          <a:prstGeom prst="rect">
            <a:avLst/>
          </a:prstGeom>
          <a:noFill/>
        </p:spPr>
      </p:pic>
      <p:pic>
        <p:nvPicPr>
          <p:cNvPr id="138" name="Image 50" descr="preencoded.pn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434340" y="3474720"/>
            <a:ext cx="9189720" cy="2438400"/>
          </a:xfrm>
          <a:prstGeom prst="rect">
            <a:avLst/>
          </a:prstGeom>
          <a:noFill/>
        </p:spPr>
      </p:pic>
      <p:pic>
        <p:nvPicPr>
          <p:cNvPr id="139" name="Image 51" descr="preencoded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434340" y="3474720"/>
            <a:ext cx="9189720" cy="342900"/>
          </a:xfrm>
          <a:prstGeom prst="rect">
            <a:avLst/>
          </a:prstGeom>
          <a:noFill/>
        </p:spPr>
      </p:pic>
      <p:pic>
        <p:nvPicPr>
          <p:cNvPr id="140" name="Image 52" descr="preencoded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434340" y="3817620"/>
            <a:ext cx="9189720" cy="342900"/>
          </a:xfrm>
          <a:prstGeom prst="rect">
            <a:avLst/>
          </a:prstGeom>
          <a:noFill/>
        </p:spPr>
      </p:pic>
      <p:pic>
        <p:nvPicPr>
          <p:cNvPr id="141" name="Image 53" descr="preencoded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434340" y="4160520"/>
            <a:ext cx="9189720" cy="342900"/>
          </a:xfrm>
          <a:prstGeom prst="rect">
            <a:avLst/>
          </a:prstGeom>
          <a:noFill/>
        </p:spPr>
      </p:pic>
      <p:pic>
        <p:nvPicPr>
          <p:cNvPr id="142" name="Image 54" descr="preencoded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434340" y="4503420"/>
            <a:ext cx="9189720" cy="342900"/>
          </a:xfrm>
          <a:prstGeom prst="rect">
            <a:avLst/>
          </a:prstGeom>
          <a:noFill/>
        </p:spPr>
      </p:pic>
      <p:pic>
        <p:nvPicPr>
          <p:cNvPr id="143" name="Image 55" descr="preencoded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434340" y="4846320"/>
            <a:ext cx="9189720" cy="342900"/>
          </a:xfrm>
          <a:prstGeom prst="rect">
            <a:avLst/>
          </a:prstGeom>
          <a:noFill/>
        </p:spPr>
      </p:pic>
      <p:pic>
        <p:nvPicPr>
          <p:cNvPr id="144" name="Image 56" descr="preencoded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434340" y="5189220"/>
            <a:ext cx="9189720" cy="342900"/>
          </a:xfrm>
          <a:prstGeom prst="rect">
            <a:avLst/>
          </a:prstGeom>
          <a:noFill/>
        </p:spPr>
      </p:pic>
      <p:pic>
        <p:nvPicPr>
          <p:cNvPr id="145" name="Image 57" descr="preencoded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434340" y="5532120"/>
            <a:ext cx="9189720" cy="342900"/>
          </a:xfrm>
          <a:prstGeom prst="rect">
            <a:avLst/>
          </a:prstGeom>
          <a:noFill/>
        </p:spPr>
      </p:pic>
      <p:sp>
        <p:nvSpPr>
          <p:cNvPr id="146" name="Text 15"/>
          <p:cNvSpPr/>
          <p:nvPr/>
        </p:nvSpPr>
        <p:spPr>
          <a:xfrm>
            <a:off x="605790" y="2524760"/>
            <a:ext cx="167699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 로그 및 트레이스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7" name="Text 16"/>
          <p:cNvSpPr/>
          <p:nvPr/>
        </p:nvSpPr>
        <p:spPr>
          <a:xfrm>
            <a:off x="9044940" y="2562860"/>
            <a:ext cx="54864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새로고침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8" name="Text 17"/>
          <p:cNvSpPr/>
          <p:nvPr/>
        </p:nvSpPr>
        <p:spPr>
          <a:xfrm>
            <a:off x="662940" y="2905760"/>
            <a:ext cx="679192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1E40A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INFO: 145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9" name="Text 18"/>
          <p:cNvSpPr/>
          <p:nvPr/>
        </p:nvSpPr>
        <p:spPr>
          <a:xfrm>
            <a:off x="1648033" y="2905760"/>
            <a:ext cx="684193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854D0E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WARN: 23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0" name="Text 19"/>
          <p:cNvSpPr/>
          <p:nvPr/>
        </p:nvSpPr>
        <p:spPr>
          <a:xfrm>
            <a:off x="2637294" y="2905760"/>
            <a:ext cx="653475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991B1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ERROR: 7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1" name="Text 20"/>
          <p:cNvSpPr/>
          <p:nvPr/>
        </p:nvSpPr>
        <p:spPr>
          <a:xfrm>
            <a:off x="3600956" y="2905760"/>
            <a:ext cx="844748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DEBUG: 294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3" name="Text 22"/>
          <p:cNvSpPr/>
          <p:nvPr/>
        </p:nvSpPr>
        <p:spPr>
          <a:xfrm>
            <a:off x="748620" y="3295544"/>
            <a:ext cx="702948" cy="16139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타임스탬프</a:t>
            </a:r>
            <a:endParaRPr 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4" name="Text 23"/>
          <p:cNvSpPr/>
          <p:nvPr/>
        </p:nvSpPr>
        <p:spPr>
          <a:xfrm>
            <a:off x="1864360" y="3304540"/>
            <a:ext cx="544182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레벨</a:t>
            </a:r>
            <a:endParaRPr 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2" name="Text 24"/>
          <p:cNvSpPr/>
          <p:nvPr/>
        </p:nvSpPr>
        <p:spPr>
          <a:xfrm>
            <a:off x="2286000" y="3304540"/>
            <a:ext cx="7410354" cy="18058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메시지</a:t>
            </a:r>
            <a:endParaRPr 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7" name="Text 25"/>
          <p:cNvSpPr/>
          <p:nvPr/>
        </p:nvSpPr>
        <p:spPr>
          <a:xfrm>
            <a:off x="601940" y="3597135"/>
            <a:ext cx="1345212" cy="33287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 smtClean="0">
                <a:solidFill>
                  <a:srgbClr val="9CA3A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urier New" pitchFamily="34" charset="-120"/>
              </a:rPr>
              <a:t>2025-12-20 14:30:05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8" name="Text 26"/>
          <p:cNvSpPr/>
          <p:nvPr/>
        </p:nvSpPr>
        <p:spPr>
          <a:xfrm>
            <a:off x="2018030" y="3596005"/>
            <a:ext cx="475917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200"/>
              </a:lnSpc>
            </a:pPr>
            <a:r>
              <a:rPr lang="en-US" sz="900" dirty="0">
                <a:solidFill>
                  <a:srgbClr val="1E40A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INFO</a:t>
            </a:r>
          </a:p>
        </p:txBody>
      </p:sp>
      <p:sp>
        <p:nvSpPr>
          <p:cNvPr id="170" name="Text 27"/>
          <p:cNvSpPr/>
          <p:nvPr/>
        </p:nvSpPr>
        <p:spPr>
          <a:xfrm>
            <a:off x="2702559" y="3615690"/>
            <a:ext cx="4345983" cy="33298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urier New" pitchFamily="34" charset="-120"/>
              </a:rPr>
              <a:t>동기화 작업이 시작되었습니다. JobID: </a:t>
            </a:r>
            <a:r>
              <a:rPr lang="en-US" sz="900" dirty="0" smtClean="0">
                <a:solidFill>
                  <a:srgbClr val="9CA3A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urier New" pitchFamily="34" charset="-120"/>
              </a:rPr>
              <a:t>sync-2025-12-20-143005</a:t>
            </a:r>
            <a:endParaRPr lang="en-US" sz="900" dirty="0">
              <a:solidFill>
                <a:srgbClr val="9CA3A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Courier New" pitchFamily="34" charset="-120"/>
            </a:endParaRPr>
          </a:p>
        </p:txBody>
      </p:sp>
      <p:sp>
        <p:nvSpPr>
          <p:cNvPr id="171" name="Text 28"/>
          <p:cNvSpPr/>
          <p:nvPr/>
        </p:nvSpPr>
        <p:spPr>
          <a:xfrm>
            <a:off x="591820" y="3910337"/>
            <a:ext cx="1247732" cy="35305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 smtClean="0">
                <a:solidFill>
                  <a:srgbClr val="9CA3A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urier New" pitchFamily="34" charset="-120"/>
              </a:rPr>
              <a:t>2025-12-20 </a:t>
            </a:r>
            <a:r>
              <a:rPr lang="en-US" sz="900" dirty="0">
                <a:solidFill>
                  <a:srgbClr val="9CA3A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urier New" pitchFamily="34" charset="-120"/>
              </a:rPr>
              <a:t>14:30:07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2" name="Text 29"/>
          <p:cNvSpPr/>
          <p:nvPr/>
        </p:nvSpPr>
        <p:spPr>
          <a:xfrm>
            <a:off x="1997710" y="3949065"/>
            <a:ext cx="559913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urier New" pitchFamily="34" charset="-120"/>
              </a:rPr>
              <a:t>DEBUG</a:t>
            </a:r>
          </a:p>
        </p:txBody>
      </p:sp>
      <p:sp>
        <p:nvSpPr>
          <p:cNvPr id="173" name="Text 30"/>
          <p:cNvSpPr/>
          <p:nvPr/>
        </p:nvSpPr>
        <p:spPr>
          <a:xfrm>
            <a:off x="2702560" y="3958590"/>
            <a:ext cx="5777279" cy="33298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200"/>
              </a:lnSpc>
            </a:pPr>
            <a:r>
              <a:rPr lang="en-US" sz="900" dirty="0">
                <a:solidFill>
                  <a:srgbClr val="9CA3A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urier New" pitchFamily="34" charset="-120"/>
              </a:rPr>
              <a:t>DB 연결 설정: host=db-mysql.example.com, port=3306, database=customer_data</a:t>
            </a:r>
          </a:p>
        </p:txBody>
      </p:sp>
      <p:sp>
        <p:nvSpPr>
          <p:cNvPr id="176" name="Text 31"/>
          <p:cNvSpPr/>
          <p:nvPr/>
        </p:nvSpPr>
        <p:spPr>
          <a:xfrm>
            <a:off x="591820" y="4253237"/>
            <a:ext cx="1247732" cy="35305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 smtClean="0">
                <a:solidFill>
                  <a:srgbClr val="9CA3A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urier New" pitchFamily="34" charset="-120"/>
              </a:rPr>
              <a:t>2025-12-20 </a:t>
            </a:r>
            <a:r>
              <a:rPr lang="en-US" sz="900" dirty="0">
                <a:solidFill>
                  <a:srgbClr val="9CA3A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urier New" pitchFamily="34" charset="-120"/>
              </a:rPr>
              <a:t>14:30:09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7" name="Text 32"/>
          <p:cNvSpPr/>
          <p:nvPr/>
        </p:nvSpPr>
        <p:spPr>
          <a:xfrm>
            <a:off x="2018030" y="4291965"/>
            <a:ext cx="475917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1E40A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INFO</a:t>
            </a:r>
          </a:p>
        </p:txBody>
      </p:sp>
      <p:sp>
        <p:nvSpPr>
          <p:cNvPr id="183" name="Text 33"/>
          <p:cNvSpPr/>
          <p:nvPr/>
        </p:nvSpPr>
        <p:spPr>
          <a:xfrm>
            <a:off x="2702560" y="4301490"/>
            <a:ext cx="2464443" cy="33298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200"/>
              </a:lnSpc>
            </a:pPr>
            <a:r>
              <a:rPr lang="en-US" sz="900" dirty="0">
                <a:solidFill>
                  <a:srgbClr val="9CA3A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urier New" pitchFamily="34" charset="-120"/>
              </a:rPr>
              <a:t>성공적으로 소스 DB에 연결되었습니다.</a:t>
            </a:r>
          </a:p>
        </p:txBody>
      </p:sp>
      <p:sp>
        <p:nvSpPr>
          <p:cNvPr id="185" name="Text 34"/>
          <p:cNvSpPr/>
          <p:nvPr/>
        </p:nvSpPr>
        <p:spPr>
          <a:xfrm>
            <a:off x="591820" y="4596137"/>
            <a:ext cx="1247732" cy="35305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 smtClean="0">
                <a:solidFill>
                  <a:srgbClr val="9CA3A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urier New" pitchFamily="34" charset="-120"/>
              </a:rPr>
              <a:t>2025-12-20 </a:t>
            </a:r>
            <a:r>
              <a:rPr lang="en-US" sz="900" dirty="0">
                <a:solidFill>
                  <a:srgbClr val="9CA3A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urier New" pitchFamily="34" charset="-120"/>
              </a:rPr>
              <a:t>14:30:12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6" name="Text 35"/>
          <p:cNvSpPr/>
          <p:nvPr/>
        </p:nvSpPr>
        <p:spPr>
          <a:xfrm>
            <a:off x="2018030" y="4634865"/>
            <a:ext cx="475917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200"/>
              </a:lnSpc>
            </a:pPr>
            <a:r>
              <a:rPr lang="en-US" sz="900" dirty="0">
                <a:solidFill>
                  <a:srgbClr val="1E40A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INFO</a:t>
            </a:r>
          </a:p>
        </p:txBody>
      </p:sp>
      <p:sp>
        <p:nvSpPr>
          <p:cNvPr id="187" name="Text 36"/>
          <p:cNvSpPr/>
          <p:nvPr/>
        </p:nvSpPr>
        <p:spPr>
          <a:xfrm>
            <a:off x="2702560" y="4644390"/>
            <a:ext cx="4611127" cy="33298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urier New" pitchFamily="34" charset="-120"/>
              </a:rPr>
              <a:t>테이블 스키마 로드 중: customers, products, orders, inventory</a:t>
            </a:r>
          </a:p>
        </p:txBody>
      </p:sp>
      <p:sp>
        <p:nvSpPr>
          <p:cNvPr id="188" name="Text 37"/>
          <p:cNvSpPr/>
          <p:nvPr/>
        </p:nvSpPr>
        <p:spPr>
          <a:xfrm>
            <a:off x="591820" y="4939037"/>
            <a:ext cx="1247732" cy="35305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 smtClean="0">
                <a:solidFill>
                  <a:srgbClr val="9CA3A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urier New" pitchFamily="34" charset="-120"/>
              </a:rPr>
              <a:t>2025-12-20 </a:t>
            </a:r>
            <a:r>
              <a:rPr lang="en-US" sz="900" dirty="0">
                <a:solidFill>
                  <a:srgbClr val="9CA3A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urier New" pitchFamily="34" charset="-120"/>
              </a:rPr>
              <a:t>14:30:15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0" name="Text 38"/>
          <p:cNvSpPr/>
          <p:nvPr/>
        </p:nvSpPr>
        <p:spPr>
          <a:xfrm>
            <a:off x="1997710" y="4977765"/>
            <a:ext cx="475917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FDE04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urier New" pitchFamily="34" charset="-120"/>
              </a:rPr>
              <a:t>WARN</a:t>
            </a:r>
          </a:p>
        </p:txBody>
      </p:sp>
      <p:sp>
        <p:nvSpPr>
          <p:cNvPr id="191" name="Text 39"/>
          <p:cNvSpPr/>
          <p:nvPr/>
        </p:nvSpPr>
        <p:spPr>
          <a:xfrm>
            <a:off x="2702560" y="4987290"/>
            <a:ext cx="5458831" cy="33298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urier New" pitchFamily="34" charset="-120"/>
              </a:rPr>
              <a:t>테이블 'inventory'에 인덱스가 누락되어 있습니다. 성능에 영향을 줄 수 있습니다.</a:t>
            </a:r>
          </a:p>
        </p:txBody>
      </p:sp>
      <p:sp>
        <p:nvSpPr>
          <p:cNvPr id="192" name="Text 40"/>
          <p:cNvSpPr/>
          <p:nvPr/>
        </p:nvSpPr>
        <p:spPr>
          <a:xfrm>
            <a:off x="591820" y="5281937"/>
            <a:ext cx="1247732" cy="35305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 smtClean="0">
                <a:solidFill>
                  <a:srgbClr val="9CA3A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urier New" pitchFamily="34" charset="-120"/>
              </a:rPr>
              <a:t>2025-12-20 </a:t>
            </a:r>
            <a:r>
              <a:rPr lang="en-US" sz="900" dirty="0">
                <a:solidFill>
                  <a:srgbClr val="9CA3A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urier New" pitchFamily="34" charset="-120"/>
              </a:rPr>
              <a:t>14:30:20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3" name="Text 41"/>
          <p:cNvSpPr/>
          <p:nvPr/>
        </p:nvSpPr>
        <p:spPr>
          <a:xfrm>
            <a:off x="1997710" y="5320665"/>
            <a:ext cx="475917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 smtClean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ERROR</a:t>
            </a:r>
            <a:endParaRPr lang="en-US" sz="900" dirty="0">
              <a:solidFill>
                <a:srgbClr val="FF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4" name="Text 42"/>
          <p:cNvSpPr/>
          <p:nvPr/>
        </p:nvSpPr>
        <p:spPr>
          <a:xfrm>
            <a:off x="2702559" y="5330190"/>
            <a:ext cx="6784205" cy="33298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indent="0">
              <a:lnSpc>
                <a:spcPts val="1200"/>
              </a:lnSpc>
              <a:buNone/>
            </a:pPr>
            <a:r>
              <a:rPr lang="en-US" sz="900" dirty="0" err="1">
                <a:solidFill>
                  <a:srgbClr val="9CA3A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urier New" pitchFamily="34" charset="-120"/>
              </a:rPr>
              <a:t>전체</a:t>
            </a:r>
            <a:r>
              <a:rPr lang="en-US" sz="900" dirty="0">
                <a:solidFill>
                  <a:srgbClr val="9CA3A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urier New" pitchFamily="34" charset="-120"/>
              </a:rPr>
              <a:t> </a:t>
            </a:r>
            <a:r>
              <a:rPr lang="ko-KR" altLang="en-US" sz="900" dirty="0">
                <a:solidFill>
                  <a:srgbClr val="9CA3A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urier New" pitchFamily="34" charset="-120"/>
              </a:rPr>
              <a:t>레코드 계산 중 오류가 발생하였습니다</a:t>
            </a:r>
            <a:r>
              <a:rPr lang="en-US" altLang="ko-KR" sz="900" dirty="0">
                <a:solidFill>
                  <a:srgbClr val="9CA3A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urier New" pitchFamily="34" charset="-120"/>
              </a:rPr>
              <a:t>.</a:t>
            </a:r>
            <a:endParaRPr lang="en-US" sz="900" dirty="0">
              <a:solidFill>
                <a:srgbClr val="9CA3A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Courier New" pitchFamily="34" charset="-120"/>
            </a:endParaRPr>
          </a:p>
        </p:txBody>
      </p:sp>
      <p:sp>
        <p:nvSpPr>
          <p:cNvPr id="195" name="Text 43"/>
          <p:cNvSpPr/>
          <p:nvPr/>
        </p:nvSpPr>
        <p:spPr>
          <a:xfrm>
            <a:off x="591820" y="5624837"/>
            <a:ext cx="1247732" cy="35305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 smtClean="0">
                <a:solidFill>
                  <a:srgbClr val="9CA3A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urier New" pitchFamily="34" charset="-120"/>
              </a:rPr>
              <a:t>2025-12-20 </a:t>
            </a:r>
            <a:r>
              <a:rPr lang="en-US" sz="900" dirty="0">
                <a:solidFill>
                  <a:srgbClr val="9CA3A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urier New" pitchFamily="34" charset="-120"/>
              </a:rPr>
              <a:t>14:30:25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6" name="Text 44"/>
          <p:cNvSpPr/>
          <p:nvPr/>
        </p:nvSpPr>
        <p:spPr>
          <a:xfrm>
            <a:off x="1997710" y="5663565"/>
            <a:ext cx="559913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urier New" pitchFamily="34" charset="-120"/>
              </a:rPr>
              <a:t>DEBUG</a:t>
            </a:r>
          </a:p>
        </p:txBody>
      </p:sp>
      <p:sp>
        <p:nvSpPr>
          <p:cNvPr id="197" name="Text 45"/>
          <p:cNvSpPr/>
          <p:nvPr/>
        </p:nvSpPr>
        <p:spPr>
          <a:xfrm>
            <a:off x="2702560" y="5673090"/>
            <a:ext cx="3656988" cy="33298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urier New" pitchFamily="34" charset="-120"/>
              </a:rPr>
              <a:t>배치 크기 설정: 1000, 쓰레드 수: 4, 타임아웃: 180초</a:t>
            </a:r>
          </a:p>
        </p:txBody>
      </p:sp>
      <p:sp>
        <p:nvSpPr>
          <p:cNvPr id="199" name="Text 8"/>
          <p:cNvSpPr/>
          <p:nvPr/>
        </p:nvSpPr>
        <p:spPr>
          <a:xfrm>
            <a:off x="5182092" y="2533650"/>
            <a:ext cx="979948" cy="18272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ko-KR" altLang="en-US" sz="1050" dirty="0" smtClean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KR" pitchFamily="34" charset="-120"/>
              </a:rPr>
              <a:t>최근 </a:t>
            </a:r>
            <a:r>
              <a:rPr lang="en-US" altLang="ko-KR" sz="1050" dirty="0" smtClean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KR" pitchFamily="34" charset="-120"/>
              </a:rPr>
              <a:t>30</a:t>
            </a:r>
            <a:r>
              <a:rPr lang="ko-KR" altLang="en-US" sz="1050" dirty="0" smtClean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KR" pitchFamily="34" charset="-120"/>
              </a:rPr>
              <a:t>분</a:t>
            </a:r>
            <a:endParaRPr lang="en-US" sz="1050" dirty="0">
              <a:solidFill>
                <a:srgbClr val="333333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KR" pitchFamily="34" charset="-120"/>
            </a:endParaRPr>
          </a:p>
        </p:txBody>
      </p:sp>
      <p:sp>
        <p:nvSpPr>
          <p:cNvPr id="201" name="Text 8"/>
          <p:cNvSpPr/>
          <p:nvPr/>
        </p:nvSpPr>
        <p:spPr>
          <a:xfrm>
            <a:off x="6340332" y="2533015"/>
            <a:ext cx="979948" cy="18272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ko-KR" altLang="en-US" sz="1050" dirty="0" smtClean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KR" pitchFamily="34" charset="-120"/>
              </a:rPr>
              <a:t>모든 로그 레벨</a:t>
            </a:r>
            <a:endParaRPr lang="en-US" sz="1050" dirty="0">
              <a:solidFill>
                <a:srgbClr val="333333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KR" pitchFamily="34" charset="-120"/>
            </a:endParaRPr>
          </a:p>
        </p:txBody>
      </p:sp>
      <p:sp>
        <p:nvSpPr>
          <p:cNvPr id="203" name="타원 202">
            <a:extLst>
              <a:ext uri="{FF2B5EF4-FFF2-40B4-BE49-F238E27FC236}">
                <a16:creationId xmlns:a16="http://schemas.microsoft.com/office/drawing/2014/main" id="{4D9049EB-70D8-4995-9DBA-68C2EE93E2F4}"/>
              </a:ext>
            </a:extLst>
          </p:cNvPr>
          <p:cNvSpPr/>
          <p:nvPr/>
        </p:nvSpPr>
        <p:spPr>
          <a:xfrm>
            <a:off x="273392" y="2872105"/>
            <a:ext cx="183750" cy="178979"/>
          </a:xfrm>
          <a:prstGeom prst="ellipse">
            <a:avLst/>
          </a:prstGeom>
          <a:solidFill>
            <a:srgbClr val="FF0000"/>
          </a:solidFill>
          <a:ln w="15875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sz="10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6" name="타원 205">
            <a:extLst>
              <a:ext uri="{FF2B5EF4-FFF2-40B4-BE49-F238E27FC236}">
                <a16:creationId xmlns:a16="http://schemas.microsoft.com/office/drawing/2014/main" id="{4D9049EB-70D8-4995-9DBA-68C2EE93E2F4}"/>
              </a:ext>
            </a:extLst>
          </p:cNvPr>
          <p:cNvSpPr/>
          <p:nvPr/>
        </p:nvSpPr>
        <p:spPr>
          <a:xfrm>
            <a:off x="5678852" y="2425745"/>
            <a:ext cx="183750" cy="178979"/>
          </a:xfrm>
          <a:prstGeom prst="ellipse">
            <a:avLst/>
          </a:prstGeom>
          <a:solidFill>
            <a:srgbClr val="FF0000"/>
          </a:solidFill>
          <a:ln w="15875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endParaRPr lang="ko-KR" altLang="en-US" sz="10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7" name="타원 206">
            <a:extLst>
              <a:ext uri="{FF2B5EF4-FFF2-40B4-BE49-F238E27FC236}">
                <a16:creationId xmlns:a16="http://schemas.microsoft.com/office/drawing/2014/main" id="{4D9049EB-70D8-4995-9DBA-68C2EE93E2F4}"/>
              </a:ext>
            </a:extLst>
          </p:cNvPr>
          <p:cNvSpPr/>
          <p:nvPr/>
        </p:nvSpPr>
        <p:spPr>
          <a:xfrm>
            <a:off x="6672980" y="2405035"/>
            <a:ext cx="183750" cy="178979"/>
          </a:xfrm>
          <a:prstGeom prst="ellipse">
            <a:avLst/>
          </a:prstGeom>
          <a:solidFill>
            <a:srgbClr val="FF0000"/>
          </a:solidFill>
          <a:ln w="15875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endParaRPr lang="ko-KR" altLang="en-US" sz="10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12" name="타원 211">
            <a:extLst>
              <a:ext uri="{FF2B5EF4-FFF2-40B4-BE49-F238E27FC236}">
                <a16:creationId xmlns:a16="http://schemas.microsoft.com/office/drawing/2014/main" id="{4D9049EB-70D8-4995-9DBA-68C2EE93E2F4}"/>
              </a:ext>
            </a:extLst>
          </p:cNvPr>
          <p:cNvSpPr/>
          <p:nvPr/>
        </p:nvSpPr>
        <p:spPr>
          <a:xfrm>
            <a:off x="8000448" y="2405035"/>
            <a:ext cx="183750" cy="178979"/>
          </a:xfrm>
          <a:prstGeom prst="ellipse">
            <a:avLst/>
          </a:prstGeom>
          <a:solidFill>
            <a:srgbClr val="FF0000"/>
          </a:solidFill>
          <a:ln w="15875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endParaRPr lang="ko-KR" altLang="en-US" sz="10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13" name="타원 212">
            <a:extLst>
              <a:ext uri="{FF2B5EF4-FFF2-40B4-BE49-F238E27FC236}">
                <a16:creationId xmlns:a16="http://schemas.microsoft.com/office/drawing/2014/main" id="{4D9049EB-70D8-4995-9DBA-68C2EE93E2F4}"/>
              </a:ext>
            </a:extLst>
          </p:cNvPr>
          <p:cNvSpPr/>
          <p:nvPr/>
        </p:nvSpPr>
        <p:spPr>
          <a:xfrm>
            <a:off x="9196147" y="2414841"/>
            <a:ext cx="183750" cy="178979"/>
          </a:xfrm>
          <a:prstGeom prst="ellipse">
            <a:avLst/>
          </a:prstGeom>
          <a:solidFill>
            <a:srgbClr val="FF0000"/>
          </a:solidFill>
          <a:ln w="15875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5</a:t>
            </a:r>
            <a:endParaRPr lang="ko-KR" altLang="en-US" sz="10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31806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447800"/>
            <a:ext cx="5486400" cy="4419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1714500"/>
            <a:ext cx="228600" cy="228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2133600"/>
            <a:ext cx="476250" cy="4762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200" y="2238375"/>
            <a:ext cx="171450" cy="266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3810000"/>
            <a:ext cx="476250" cy="4762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863" y="3914775"/>
            <a:ext cx="238125" cy="2667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0" y="1447800"/>
            <a:ext cx="5486400" cy="44196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7000" y="1714500"/>
            <a:ext cx="228600" cy="228600"/>
          </a:xfrm>
          <a:prstGeom prst="rect">
            <a:avLst/>
          </a:prstGeom>
        </p:spPr>
      </p:pic>
      <p:sp>
        <p:nvSpPr>
          <p:cNvPr id="14" name="Text 1"/>
          <p:cNvSpPr/>
          <p:nvPr/>
        </p:nvSpPr>
        <p:spPr>
          <a:xfrm>
            <a:off x="457200" y="952500"/>
            <a:ext cx="11277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 err="1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솔루션의</a:t>
            </a:r>
            <a:r>
              <a:rPr lang="en-US" sz="1350" dirty="0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350" dirty="0" err="1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향후</a:t>
            </a:r>
            <a:r>
              <a:rPr lang="en-US" sz="1350" dirty="0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350" dirty="0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기능 확장 계획에 </a:t>
            </a:r>
            <a:r>
              <a:rPr lang="en-US" sz="1350" dirty="0" err="1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대해</a:t>
            </a:r>
            <a:r>
              <a:rPr lang="en-US" sz="1350" dirty="0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3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설명합니다.</a:t>
            </a:r>
            <a:endParaRPr lang="en-US" sz="1350" dirty="0"/>
          </a:p>
        </p:txBody>
      </p:sp>
      <p:sp>
        <p:nvSpPr>
          <p:cNvPr id="15" name="Text 2"/>
          <p:cNvSpPr/>
          <p:nvPr/>
        </p:nvSpPr>
        <p:spPr>
          <a:xfrm>
            <a:off x="1028700" y="1676400"/>
            <a:ext cx="50292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ko-KR" altLang="en-US" b="1" dirty="0" smtClean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중요</a:t>
            </a:r>
            <a:r>
              <a:rPr lang="ko-KR" altLang="en-US" sz="1800" b="1" dirty="0" smtClean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기능 확장</a:t>
            </a:r>
            <a:endParaRPr lang="en-US" sz="1800" dirty="0"/>
          </a:p>
        </p:txBody>
      </p:sp>
      <p:sp>
        <p:nvSpPr>
          <p:cNvPr id="16" name="Text 3"/>
          <p:cNvSpPr/>
          <p:nvPr/>
        </p:nvSpPr>
        <p:spPr>
          <a:xfrm>
            <a:off x="1314450" y="2133600"/>
            <a:ext cx="44005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알림 시스템</a:t>
            </a:r>
            <a:endParaRPr lang="en-US" sz="1500" dirty="0"/>
          </a:p>
        </p:txBody>
      </p:sp>
      <p:sp>
        <p:nvSpPr>
          <p:cNvPr id="17" name="Text 4"/>
          <p:cNvSpPr/>
          <p:nvPr/>
        </p:nvSpPr>
        <p:spPr>
          <a:xfrm>
            <a:off x="1314450" y="2476500"/>
            <a:ext cx="4400550" cy="1143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파이프라인의 안정적인 운영을 위해 필수적인 알림 시스템은 동기화 실패, 연결 오류, 데이터 처리 지연 등 주요 이벤트 발생 시 사용자에게 즉각적으로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알림을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제공</a:t>
            </a:r>
            <a:endParaRPr lang="en-US" sz="1200" dirty="0" smtClean="0">
              <a:solidFill>
                <a:srgbClr val="4B5563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>
              <a:lnSpc>
                <a:spcPts val="1800"/>
              </a:lnSpc>
              <a:buNone/>
            </a:pPr>
            <a:endParaRPr lang="en-US" sz="1200" dirty="0" smtClean="0">
              <a:solidFill>
                <a:srgbClr val="4B5563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</a:t>
            </a:r>
            <a:r>
              <a:rPr lang="en-US" sz="1200" dirty="0" err="1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이메일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en-US" sz="1200" dirty="0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Slack, </a:t>
            </a:r>
            <a:r>
              <a:rPr lang="ko-KR" altLang="en-US" sz="1200" dirty="0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문자</a:t>
            </a:r>
            <a:r>
              <a:rPr lang="en-US" sz="1200" dirty="0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등과 연동하여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푸시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알림</a:t>
            </a:r>
            <a:r>
              <a:rPr lang="en-US" sz="1200" dirty="0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200" dirty="0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전송</a:t>
            </a:r>
            <a:endParaRPr lang="en-US" sz="1200" dirty="0"/>
          </a:p>
        </p:txBody>
      </p:sp>
      <p:sp>
        <p:nvSpPr>
          <p:cNvPr id="18" name="Text 5"/>
          <p:cNvSpPr/>
          <p:nvPr/>
        </p:nvSpPr>
        <p:spPr>
          <a:xfrm>
            <a:off x="1314450" y="3810000"/>
            <a:ext cx="44005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및 </a:t>
            </a:r>
            <a:r>
              <a:rPr lang="en-US" sz="15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권한</a:t>
            </a: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500" dirty="0" smtClean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</a:t>
            </a:r>
            <a:r>
              <a:rPr lang="ko-KR" altLang="en-US" sz="1500" dirty="0" smtClean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</a:t>
            </a:r>
            <a:endParaRPr lang="en-US" sz="1500" dirty="0"/>
          </a:p>
        </p:txBody>
      </p:sp>
      <p:sp>
        <p:nvSpPr>
          <p:cNvPr id="19" name="Text 6"/>
          <p:cNvSpPr/>
          <p:nvPr/>
        </p:nvSpPr>
        <p:spPr>
          <a:xfrm>
            <a:off x="1314450" y="4152900"/>
            <a:ext cx="4476750" cy="1371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솔루션이 확장됨에 따라 여러 사용자가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협업할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필요성</a:t>
            </a:r>
            <a:r>
              <a:rPr lang="en-US" sz="1200" dirty="0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증가</a:t>
            </a:r>
            <a:r>
              <a:rPr lang="en-US" sz="1200" dirty="0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200" dirty="0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대비</a:t>
            </a:r>
            <a:r>
              <a:rPr lang="en-US" altLang="ko-KR" sz="1200" dirty="0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</a:t>
            </a:r>
          </a:p>
          <a:p>
            <a:pPr>
              <a:lnSpc>
                <a:spcPts val="1800"/>
              </a:lnSpc>
            </a:pPr>
            <a:r>
              <a:rPr lang="en-US" altLang="ko-KR" sz="1200" dirty="0" err="1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</a:t>
            </a:r>
            <a:r>
              <a:rPr lang="en-US" altLang="ko-KR" sz="1200" dirty="0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200" dirty="0" err="1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페이지</a:t>
            </a:r>
            <a:r>
              <a:rPr lang="en-US" altLang="ko-KR" sz="1200" dirty="0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200" dirty="0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통해</a:t>
            </a:r>
            <a:r>
              <a:rPr lang="en-US" altLang="ko-KR" sz="1200" dirty="0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사용자별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접근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가능한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메뉴와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기능을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200" dirty="0" err="1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제어</a:t>
            </a:r>
            <a:endParaRPr lang="en-US" sz="1200" dirty="0" smtClean="0">
              <a:solidFill>
                <a:srgbClr val="4B5563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>
              <a:lnSpc>
                <a:spcPts val="1800"/>
              </a:lnSpc>
              <a:buNone/>
            </a:pPr>
            <a:endParaRPr lang="en-US" sz="1200" dirty="0">
              <a:solidFill>
                <a:srgbClr val="4B5563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관리자(Admin</a:t>
            </a:r>
            <a:r>
              <a:rPr lang="en-US" sz="1200" dirty="0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): </a:t>
            </a:r>
            <a:r>
              <a:rPr lang="en-US" sz="1200" dirty="0" err="1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</a:t>
            </a:r>
            <a:r>
              <a:rPr lang="en-US" sz="1200" dirty="0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기능에 접근하고 사용자 계정을 생성 및 </a:t>
            </a:r>
            <a:r>
              <a:rPr lang="en-US" sz="1200" dirty="0" err="1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</a:t>
            </a:r>
            <a:endParaRPr lang="en-US" sz="1200" dirty="0" smtClean="0">
              <a:solidFill>
                <a:srgbClr val="4B5563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</a:t>
            </a:r>
            <a:r>
              <a:rPr lang="en-US" sz="1200" dirty="0" err="1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일반</a:t>
            </a:r>
            <a:r>
              <a:rPr lang="en-US" sz="1200" dirty="0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사용자(User</a:t>
            </a:r>
            <a:r>
              <a:rPr lang="en-US" sz="1200" dirty="0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): </a:t>
            </a:r>
            <a:r>
              <a:rPr lang="en-US" sz="1200" dirty="0" err="1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할당된</a:t>
            </a:r>
            <a:r>
              <a:rPr lang="en-US" sz="1200" dirty="0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</a:t>
            </a:r>
            <a:r>
              <a:rPr lang="en-US" sz="1200" dirty="0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파이프라인의 생성, 수정, </a:t>
            </a:r>
            <a:r>
              <a:rPr lang="en-US" sz="1200" dirty="0" err="1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모니터링</a:t>
            </a:r>
            <a:endParaRPr lang="en-US" sz="1200" dirty="0"/>
          </a:p>
        </p:txBody>
      </p:sp>
      <p:sp>
        <p:nvSpPr>
          <p:cNvPr id="20" name="Text 7"/>
          <p:cNvSpPr/>
          <p:nvPr/>
        </p:nvSpPr>
        <p:spPr>
          <a:xfrm>
            <a:off x="6819900" y="1676400"/>
            <a:ext cx="50292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ko-KR" altLang="en-US" b="1" dirty="0" smtClean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추가 기능</a:t>
            </a:r>
            <a:r>
              <a:rPr lang="en-US" sz="1800" b="1" dirty="0" smtClean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800" b="1" dirty="0" err="1" smtClean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확장</a:t>
            </a:r>
            <a:endParaRPr lang="en-US" sz="1800" dirty="0"/>
          </a:p>
        </p:txBody>
      </p:sp>
      <p:sp>
        <p:nvSpPr>
          <p:cNvPr id="21" name="Text 8"/>
          <p:cNvSpPr/>
          <p:nvPr/>
        </p:nvSpPr>
        <p:spPr>
          <a:xfrm>
            <a:off x="6667500" y="2133600"/>
            <a:ext cx="48387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커넥터 카탈로그 확장</a:t>
            </a:r>
            <a:endParaRPr lang="en-US" sz="1500" dirty="0"/>
          </a:p>
        </p:txBody>
      </p:sp>
      <p:sp>
        <p:nvSpPr>
          <p:cNvPr id="22" name="Text 9"/>
          <p:cNvSpPr/>
          <p:nvPr/>
        </p:nvSpPr>
        <p:spPr>
          <a:xfrm>
            <a:off x="6667500" y="2438400"/>
            <a:ext cx="48387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더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많은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소스</a:t>
            </a:r>
            <a:r>
              <a:rPr lang="ko-KR" altLang="en-US" sz="1200" dirty="0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</a:t>
            </a:r>
            <a:r>
              <a:rPr lang="en-US" sz="1200" dirty="0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지원하기 위해 다양한 커넥터를 추가 개발하고, 사용자 친화적인 카탈로그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형태로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제공</a:t>
            </a:r>
            <a:endParaRPr lang="en-US" sz="1200" dirty="0"/>
          </a:p>
        </p:txBody>
      </p:sp>
      <p:sp>
        <p:nvSpPr>
          <p:cNvPr id="23" name="Text 10"/>
          <p:cNvSpPr/>
          <p:nvPr/>
        </p:nvSpPr>
        <p:spPr>
          <a:xfrm>
            <a:off x="6667500" y="3127512"/>
            <a:ext cx="48387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ko-KR" altLang="en-US" sz="1500" dirty="0" smtClean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배포 방법 최적화</a:t>
            </a:r>
            <a:endParaRPr lang="en-US" sz="1500" dirty="0"/>
          </a:p>
        </p:txBody>
      </p:sp>
      <p:sp>
        <p:nvSpPr>
          <p:cNvPr id="24" name="Text 11"/>
          <p:cNvSpPr/>
          <p:nvPr/>
        </p:nvSpPr>
        <p:spPr>
          <a:xfrm>
            <a:off x="6667500" y="3432312"/>
            <a:ext cx="48387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ko-KR" altLang="en-US" sz="1200" dirty="0" err="1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도커</a:t>
            </a:r>
            <a:r>
              <a:rPr lang="en-US" altLang="ko-KR" sz="1200" dirty="0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ko-KR" altLang="en-US" sz="1200" dirty="0" err="1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쿠버네티스</a:t>
            </a:r>
            <a:r>
              <a:rPr lang="ko-KR" altLang="en-US" sz="1200" dirty="0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등 컨테이너 배포 지원</a:t>
            </a:r>
            <a:r>
              <a:rPr lang="en-US" altLang="ko-KR" sz="1200" dirty="0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ko-KR" altLang="en-US" sz="1200" dirty="0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배포 기능 제공</a:t>
            </a:r>
            <a:endParaRPr lang="en-US" sz="1200" dirty="0"/>
          </a:p>
        </p:txBody>
      </p:sp>
      <p:sp>
        <p:nvSpPr>
          <p:cNvPr id="25" name="Text 12"/>
          <p:cNvSpPr/>
          <p:nvPr/>
        </p:nvSpPr>
        <p:spPr>
          <a:xfrm>
            <a:off x="6667500" y="3962400"/>
            <a:ext cx="48387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ko-KR" altLang="en-US" sz="1500" dirty="0" smtClean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인공지능 적용</a:t>
            </a:r>
            <a:endParaRPr lang="en-US" sz="1500" dirty="0"/>
          </a:p>
        </p:txBody>
      </p:sp>
      <p:sp>
        <p:nvSpPr>
          <p:cNvPr id="26" name="Text 13"/>
          <p:cNvSpPr/>
          <p:nvPr/>
        </p:nvSpPr>
        <p:spPr>
          <a:xfrm>
            <a:off x="6667500" y="4267200"/>
            <a:ext cx="48387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ko-KR" altLang="en-US" sz="1200" dirty="0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흐름의 성능 분석 및 최적화 제안</a:t>
            </a:r>
            <a:r>
              <a:rPr lang="en-US" altLang="ko-KR" sz="1200" dirty="0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en-US" altLang="ko-KR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및 </a:t>
            </a:r>
            <a:r>
              <a:rPr lang="en-US" altLang="ko-KR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이상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탐지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200" dirty="0" err="1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기능</a:t>
            </a:r>
            <a:r>
              <a:rPr lang="en-US" altLang="ko-KR" sz="1200" dirty="0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200" dirty="0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통한 데이터 품질 관리 등 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intelligence 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기능을 추가</a:t>
            </a:r>
            <a:endParaRPr lang="en-US" sz="1200" dirty="0"/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1000" y="800100"/>
            <a:ext cx="762000" cy="38100"/>
          </a:xfrm>
          <a:prstGeom prst="rect">
            <a:avLst/>
          </a:prstGeom>
        </p:spPr>
      </p:pic>
      <p:sp>
        <p:nvSpPr>
          <p:cNvPr id="32" name="Text 0"/>
          <p:cNvSpPr/>
          <p:nvPr/>
        </p:nvSpPr>
        <p:spPr>
          <a:xfrm>
            <a:off x="381000" y="381000"/>
            <a:ext cx="114300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700"/>
              </a:lnSpc>
            </a:pPr>
            <a:r>
              <a:rPr lang="ko-KR" altLang="en-US" sz="2250" b="1" dirty="0" smtClean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향후 기능 </a:t>
            </a:r>
            <a:r>
              <a:rPr lang="ko-KR" altLang="en-US" sz="2250" b="1" dirty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확장 계획</a:t>
            </a:r>
          </a:p>
        </p:txBody>
      </p:sp>
    </p:spTree>
    <p:extLst>
      <p:ext uri="{BB962C8B-B14F-4D97-AF65-F5344CB8AC3E}">
        <p14:creationId xmlns:p14="http://schemas.microsoft.com/office/powerpoint/2010/main" val="750557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26128</TotalTime>
  <Words>4399</Words>
  <Application>Microsoft Office PowerPoint</Application>
  <PresentationFormat>와이드스크린</PresentationFormat>
  <Paragraphs>1193</Paragraphs>
  <Slides>27</Slides>
  <Notes>27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8" baseType="lpstr">
      <vt:lpstr>Nanum Gothic</vt:lpstr>
      <vt:lpstr>Nanum Square</vt:lpstr>
      <vt:lpstr>Noto Sans KR</vt:lpstr>
      <vt:lpstr>Noto Sans KR Light</vt:lpstr>
      <vt:lpstr>ui-sans-serif</vt:lpstr>
      <vt:lpstr>맑은 고딕</vt:lpstr>
      <vt:lpstr>카카오 OTF Regular</vt:lpstr>
      <vt:lpstr>Arial</vt:lpstr>
      <vt:lpstr>Calibri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이창식</cp:lastModifiedBy>
  <cp:revision>201</cp:revision>
  <dcterms:created xsi:type="dcterms:W3CDTF">2025-12-05T04:38:26Z</dcterms:created>
  <dcterms:modified xsi:type="dcterms:W3CDTF">2025-12-31T06:45:17Z</dcterms:modified>
</cp:coreProperties>
</file>